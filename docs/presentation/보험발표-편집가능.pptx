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2A900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세 주체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91640" y="1691640"/>
            <a:ext cx="1920240" cy="19202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7947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고객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보험에 가입하고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청구·납부한다</a:t>
            </a:r>
          </a:p>
        </p:txBody>
      </p:sp>
      <p:sp>
        <p:nvSpPr>
          <p:cNvPr id="7" name="Oval 6"/>
          <p:cNvSpPr/>
          <p:nvPr/>
        </p:nvSpPr>
        <p:spPr>
          <a:xfrm>
            <a:off x="5138928" y="1691640"/>
            <a:ext cx="1920240" cy="19202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37947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보험사 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가입과 지급을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심사한다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586216" y="1691640"/>
            <a:ext cx="1920240" cy="19202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7576" y="379476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43891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계약·고지서·지급을</a:t>
            </a:r>
          </a:p>
          <a:p>
            <a:pPr algn="ctr"/>
            <a:r>
              <a:rPr sz="1800" b="0">
                <a:solidFill>
                  <a:srgbClr val="5B7185"/>
                </a:solidFill>
                <a:latin typeface="Apple SD Gothic Neo"/>
              </a:rPr>
              <a:t>자동 처리한다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54480" y="2286000"/>
            <a:ext cx="4114800" cy="237744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2286000"/>
            <a:ext cx="4114800" cy="128016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880360"/>
            <a:ext cx="4114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79476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7185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9672" y="2286000"/>
            <a:ext cx="4114800" cy="237744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19672" y="2286000"/>
            <a:ext cx="4114800" cy="128016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2880360"/>
            <a:ext cx="4114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379476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B7185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3D5C"/>
                </a:solidFill>
                <a:latin typeface="Apple SD Gothic Neo"/>
              </a:rPr>
              <a:t>병원비를 보험금으로 돌려주는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383280"/>
            <a:ext cx="2743200" cy="100584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697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41605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377440"/>
            <a:ext cx="6400800" cy="1097280"/>
          </a:xfrm>
          <a:prstGeom prst="roundRect">
            <a:avLst/>
          </a:prstGeom>
          <a:solidFill>
            <a:srgbClr val="F5F9FC"/>
          </a:solidFill>
          <a:ln w="19050">
            <a:solidFill>
              <a:srgbClr val="1F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9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1900" b="1">
                <a:solidFill>
                  <a:srgbClr val="1F9E8F"/>
                </a:solidFill>
                <a:latin typeface="Apple SD Gothic Neo"/>
              </a:rPr>
              <a:t>미만</a:t>
            </a:r>
            <a:r>
              <a:rPr sz="1900" b="1">
                <a:solidFill>
                  <a:srgbClr val="1C2B36"/>
                </a:solidFill>
                <a:latin typeface="Apple SD Gothic Neo"/>
              </a:rPr>
              <a:t>  →  바로 입금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840480"/>
            <a:ext cx="6400800" cy="1097280"/>
          </a:xfrm>
          <a:prstGeom prst="roundRect">
            <a:avLst/>
          </a:prstGeom>
          <a:solidFill>
            <a:srgbClr val="F5F9FC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9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1900" b="1">
                <a:solidFill>
                  <a:srgbClr val="C8860A"/>
                </a:solidFill>
                <a:latin typeface="Apple SD Gothic Neo"/>
              </a:rPr>
              <a:t>이상</a:t>
            </a:r>
            <a:r>
              <a:rPr sz="1900" b="1">
                <a:solidFill>
                  <a:srgbClr val="1C2B36"/>
                </a:solidFill>
                <a:latin typeface="Apple SD Gothic Neo"/>
              </a:rPr>
              <a:t>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3D5C"/>
                </a:solidFill>
                <a:latin typeface="Apple SD Gothic Neo"/>
              </a:rPr>
              <a:t>사고 피해를 보상해 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467" y="3291840"/>
            <a:ext cx="2286000" cy="109728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755" y="3429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8387" y="3291840"/>
            <a:ext cx="2286000" cy="109728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2675" y="3429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7307" y="3291840"/>
            <a:ext cx="2286000" cy="109728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51595" y="3429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36227" y="3291840"/>
            <a:ext cx="2286000" cy="1097280"/>
          </a:xfrm>
          <a:prstGeom prst="roundRect">
            <a:avLst/>
          </a:prstGeom>
          <a:solidFill>
            <a:srgbClr val="0B3D5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① — 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5244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495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692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431276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984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24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73087" y="2286000"/>
            <a:ext cx="1005840" cy="10058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756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43340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04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계약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② — 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03260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96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매달 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708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740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5324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503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고지서 자동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낼 회차보다 납부가 밀리면 미납으로 잡히고, 매일 아침 고지서를 보냅니다 (30일 넘으면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여정 ③ — 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032607" y="2286000"/>
            <a:ext cx="1005840" cy="1005840"/>
          </a:xfrm>
          <a:prstGeom prst="ellipse">
            <a:avLst/>
          </a:prstGeom>
          <a:solidFill>
            <a:srgbClr val="2C6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968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청구·사고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708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592927" y="2286000"/>
            <a:ext cx="1005840" cy="1005840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7407" y="365760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53247" y="2286000"/>
            <a:ext cx="1005840" cy="1005840"/>
          </a:xfrm>
          <a:prstGeom prst="ellipse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50327" y="3520440"/>
            <a:ext cx="2011680" cy="914400"/>
          </a:xfrm>
          <a:prstGeom prst="roundRect">
            <a:avLst/>
          </a:prstGeom>
          <a:solidFill>
            <a:srgbClr val="F5F9FC"/>
          </a:solidFill>
          <a:ln w="1651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900" b="1">
                <a:solidFill>
                  <a:srgbClr val="0B3D5C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병원비는 100만 원 미만이면 즉시, 이상이거나 자동차 사고면 직원 심사를 거쳐 지급됩니다.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110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62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466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59187" y="2926080"/>
            <a:ext cx="1645920" cy="91440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0B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2000" b="1">
                <a:solidFill>
                  <a:srgbClr val="0B3D5C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032" y="1874519"/>
            <a:ext cx="2794176" cy="301752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240" y="1874519"/>
            <a:ext cx="2813184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3" y="1874519"/>
            <a:ext cx="5292473" cy="301752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595" y="1874519"/>
            <a:ext cx="5292473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359" y="1874519"/>
            <a:ext cx="2613521" cy="301752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645" y="1874519"/>
            <a:ext cx="4172373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02" y="1874519"/>
            <a:ext cx="3536234" cy="301752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98" y="1874519"/>
            <a:ext cx="2571267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첨부파일 ClaimAttachment 추가, ClaimStatus 4값 → 6값(송금 결과 추적).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청구 상태값 (코드)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32720" cy="1828800"/>
          </a:xfrm>
          <a:prstGeom prst="roundRect">
            <a:avLst/>
          </a:prstGeom>
          <a:solidFill>
            <a:srgbClr val="EEF3F7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public enum ClaimStatus {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    COMPLETED, FAILED                         // 구현 추가: 송금 성공·실패 (ADR 0007)</a:t>
            </a:r>
          </a:p>
          <a:p>
            <a:pPr algn="l"/>
            <a:r>
              <a:rPr sz="1600" b="0">
                <a:solidFill>
                  <a:srgbClr val="0F2A43"/>
                </a:solidFill>
                <a:latin typeface="Menl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송금 결과까지 추적해야 해서 두 값을 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874519"/>
            <a:ext cx="3017520" cy="301752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163" y="1874519"/>
            <a:ext cx="2851337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지급심사 대상이 의료청구 → Claim(의료+자동차)으로 확대 (ADR 0009).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설계 = 구현 — 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394960" cy="4572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25880"/>
            <a:ext cx="5394960" cy="45720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7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93" y="1874519"/>
            <a:ext cx="1646452" cy="301752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179" y="1874519"/>
            <a:ext cx="3659305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120640"/>
            <a:ext cx="5394960" cy="118872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1F9E8F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20640"/>
            <a:ext cx="5394960" cy="1188720"/>
          </a:xfrm>
          <a:prstGeom prst="round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1600" b="1">
                <a:solidFill>
                  <a:srgbClr val="C8860A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500" b="0">
                <a:solidFill>
                  <a:srgbClr val="1C2B36"/>
                </a:solidFill>
                <a:latin typeface="Apple SD Gothic Neo"/>
              </a:rPr>
              <a:t>외부 연동이 더미라 개별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유스케이스 — 실제 동작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53" y="1463040"/>
            <a:ext cx="407201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노란 경로가 데모에서 실제로 동작합니다.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AI를 어떻게 썼는가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137160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100" b="1">
                <a:solidFill>
                  <a:srgbClr val="0B3D5C"/>
                </a:solidFill>
                <a:latin typeface="Apple SD Gothic Neo"/>
              </a:rPr>
              <a:t>사람(설계자)</a:t>
            </a:r>
          </a:p>
          <a:p>
            <a:pPr algn="l"/>
            <a:r>
              <a:rPr sz="1800" b="0">
                <a:solidFill>
                  <a:srgbClr val="1C2B36"/>
                </a:solidFill>
                <a:latin typeface="Apple SD Gothic Neo"/>
              </a:rPr>
              <a:t>다이어그램 설계 · 결정(ADR) ·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554480"/>
            <a:ext cx="5212080" cy="137160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100" b="1">
                <a:solidFill>
                  <a:srgbClr val="0B3D5C"/>
                </a:solidFill>
                <a:latin typeface="Apple SD Gothic Neo"/>
              </a:rPr>
              <a:t>AI</a:t>
            </a:r>
          </a:p>
          <a:p>
            <a:pPr algn="l"/>
            <a:r>
              <a:rPr sz="1800" b="0">
                <a:solidFill>
                  <a:srgbClr val="1C2B36"/>
                </a:solidFill>
                <a:latin typeface="Apple SD Gothic Neo"/>
              </a:rPr>
              <a:t>구현 · 테스트 · 리팩토링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88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88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797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4116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취조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116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8825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4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44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853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172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TDD 구현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1727" y="3383280"/>
            <a:ext cx="1828800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8815" y="3520440"/>
            <a:ext cx="457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62007" y="3383280"/>
            <a:ext cx="1828800" cy="914400"/>
          </a:xfrm>
          <a:prstGeom prst="roundRect">
            <a:avLst/>
          </a:prstGeom>
          <a:solidFill>
            <a:srgbClr val="EEF3F7"/>
          </a:solidFill>
          <a:ln w="1524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ctr"/>
            <a:r>
              <a:rPr sz="1800" b="1">
                <a:solidFill>
                  <a:srgbClr val="0B3D5C"/>
                </a:solidFill>
                <a:latin typeface="Apple SD Gothic Neo"/>
              </a:rPr>
              <a:t>리뷰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3383280"/>
            <a:ext cx="1828800" cy="9144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설계와 결정은 사람이, 구현은 AI가 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3D5C"/>
                </a:solidFill>
                <a:latin typeface="Apple SD Gothic Neo"/>
              </a:rPr>
              <a:t>AI를 쓰며 생긴 문제와 해결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377440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① 성급한 추상화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45352" y="155448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② 명세와 불일치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55448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③ 계층 패턴 일탈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3756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3337560"/>
            <a:ext cx="5212080" cy="15544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 lIns="101600" rIns="101600" wrap="square"/>
          <a:lstStyle/>
          <a:p>
            <a:pPr algn="l"/>
            <a:r>
              <a:rPr sz="2000" b="1">
                <a:solidFill>
                  <a:srgbClr val="0B3D5C"/>
                </a:solidFill>
                <a:latin typeface="Apple SD Gothic Neo"/>
              </a:rPr>
              <a:t>④ 용어·도메인 오염</a:t>
            </a:r>
          </a:p>
          <a:p>
            <a:pPr algn="l"/>
            <a:r>
              <a:rPr sz="1700" b="0">
                <a:solidFill>
                  <a:srgbClr val="1F9E8F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3337560"/>
            <a:ext cx="109728" cy="15544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AI는 빠르지만, 방향은 사람이 잡았습니다.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ple SD Gothic Neo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2A900"/>
                </a:solidFill>
                <a:latin typeface="Apple SD Gothic Neo"/>
              </a:rPr>
              <a:t>설계한 그대로 구현했고, 그 과정에서 AI를 통제했습니다.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
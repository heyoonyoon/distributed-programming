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2A900"/>
                </a:solidFill>
                <a:latin typeface="Apple SD Gothic Neo"/>
              </a:rPr>
              <a:t>기말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9748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3977639"/>
            <a:ext cx="2743200" cy="7315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CFE0EC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세 주체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1737360"/>
            <a:ext cx="2286000" cy="228600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4114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1737360"/>
            <a:ext cx="2286000" cy="2286000"/>
          </a:xfrm>
          <a:prstGeom prst="ellipse">
            <a:avLst/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343400"/>
            <a:ext cx="4114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1737360"/>
            <a:ext cx="2286000" cy="228600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343400"/>
            <a:ext cx="4114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17320" y="2148840"/>
            <a:ext cx="437083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17320" y="2148840"/>
            <a:ext cx="4370832" cy="164592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80360"/>
            <a:ext cx="43708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931920"/>
            <a:ext cx="43708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B7185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37083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148840"/>
            <a:ext cx="4370832" cy="16459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80360"/>
            <a:ext cx="43708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20"/>
            <a:ext cx="43708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B7185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0B3D5C"/>
                </a:solidFill>
                <a:latin typeface="Apple SD Gothic Neo"/>
              </a:rPr>
              <a:t>병원비를 보험금으로 돌려주는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926080" cy="11887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5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26060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240280"/>
            <a:ext cx="6400800" cy="123444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l"/>
            <a:r>
              <a:rPr sz="22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2200" b="1">
                <a:solidFill>
                  <a:srgbClr val="1E64C8"/>
                </a:solidFill>
                <a:latin typeface="Apple SD Gothic Neo"/>
              </a:rPr>
              <a:t>미만</a:t>
            </a:r>
            <a:r>
              <a:rPr sz="2200" b="1">
                <a:solidFill>
                  <a:srgbClr val="1C2B36"/>
                </a:solidFill>
                <a:latin typeface="Apple SD Gothic Neo"/>
              </a:rPr>
              <a:t>  →  바로 입금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3977639"/>
            <a:ext cx="6400800" cy="1234440"/>
          </a:xfrm>
          <a:prstGeom prst="roundRect">
            <a:avLst/>
          </a:prstGeom>
          <a:solidFill>
            <a:srgbClr val="F8DEDB"/>
          </a:solidFill>
          <a:ln w="25400">
            <a:solidFill>
              <a:srgbClr val="D8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l"/>
            <a:r>
              <a:rPr sz="22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2200" b="1">
                <a:solidFill>
                  <a:srgbClr val="D8392B"/>
                </a:solidFill>
                <a:latin typeface="Apple SD Gothic Neo"/>
              </a:rPr>
              <a:t>이상</a:t>
            </a:r>
            <a:r>
              <a:rPr sz="2200" b="1">
                <a:solidFill>
                  <a:srgbClr val="1C2B36"/>
                </a:solidFill>
                <a:latin typeface="Apple SD Gothic Neo"/>
              </a:rPr>
              <a:t>  → 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0B3D5C"/>
                </a:solidFill>
                <a:latin typeface="Apple SD Gothic Neo"/>
              </a:rPr>
              <a:t>사고 피해를 보상해 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447" y="3246120"/>
            <a:ext cx="2331720" cy="1234440"/>
          </a:xfrm>
          <a:prstGeom prst="roundRect">
            <a:avLst/>
          </a:prstGeom>
          <a:solidFill>
            <a:srgbClr val="DCE7F8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74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9807" y="3246120"/>
            <a:ext cx="2331720" cy="1234440"/>
          </a:xfrm>
          <a:prstGeom prst="roundRect">
            <a:avLst/>
          </a:prstGeom>
          <a:solidFill>
            <a:srgbClr val="DCE7F8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810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3246120"/>
            <a:ext cx="2331720" cy="1234440"/>
          </a:xfrm>
          <a:prstGeom prst="roundRect">
            <a:avLst/>
          </a:prstGeom>
          <a:solidFill>
            <a:srgbClr val="DCE7F8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보상액 사정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846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50527" y="3246120"/>
            <a:ext cx="2331720" cy="1234440"/>
          </a:xfrm>
          <a:prstGeom prst="roundRect">
            <a:avLst/>
          </a:prstGeom>
          <a:solidFill>
            <a:srgbClr val="F4B400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① — 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9507" y="2103120"/>
            <a:ext cx="1371600" cy="137160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3749039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6859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969867" y="2103120"/>
            <a:ext cx="1371600" cy="137160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3749039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95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50227" y="2103120"/>
            <a:ext cx="1371600" cy="1371600"/>
          </a:xfrm>
          <a:prstGeom prst="ellipse">
            <a:avLst/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3749039"/>
            <a:ext cx="2240280" cy="1097280"/>
          </a:xfrm>
          <a:prstGeom prst="roundRect">
            <a:avLst/>
          </a:prstGeom>
          <a:solidFill>
            <a:srgbClr val="F8DEDB"/>
          </a:solidFill>
          <a:ln w="25400">
            <a:solidFill>
              <a:srgbClr val="D8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931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730587" y="2103120"/>
            <a:ext cx="1371600" cy="137160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3749039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② — 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29687" y="2103120"/>
            <a:ext cx="1371600" cy="137160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749039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2103120"/>
            <a:ext cx="1371600" cy="137160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749039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290407" y="2103120"/>
            <a:ext cx="1371600" cy="137160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749039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③ — 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29687" y="2103120"/>
            <a:ext cx="1371600" cy="137160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749039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2103120"/>
            <a:ext cx="1371600" cy="1371600"/>
          </a:xfrm>
          <a:prstGeom prst="ellipse">
            <a:avLst/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749039"/>
            <a:ext cx="2240280" cy="1097280"/>
          </a:xfrm>
          <a:prstGeom prst="roundRect">
            <a:avLst/>
          </a:prstGeom>
          <a:solidFill>
            <a:srgbClr val="F8DEDB"/>
          </a:solidFill>
          <a:ln w="25400">
            <a:solidFill>
              <a:srgbClr val="D8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3977639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290407" y="2103120"/>
            <a:ext cx="1371600" cy="137160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749039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non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882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050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1218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722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368" y="1965960"/>
            <a:ext cx="2709504" cy="292608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864" y="1965960"/>
            <a:ext cx="2727936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72" y="1965960"/>
            <a:ext cx="5132095" cy="292608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784" y="1965960"/>
            <a:ext cx="5132095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958" y="1965960"/>
            <a:ext cx="2534323" cy="292608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863" y="1965960"/>
            <a:ext cx="404593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582" y="1965960"/>
            <a:ext cx="3429075" cy="292608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157" y="1965960"/>
            <a:ext cx="2493349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첨부파일 ClaimAttachment 추가, ClaimStatus 4값 → 6값(송금 결과 추적).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청구 상태값 (코드)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332720" cy="192024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public enum ClaimStatus {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    COMPLETED, FAILED                         // 구현 추가: 송금 성공·실패 (ADR 0007)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송금 결과까지 추적해야 해서 두 값을 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965960"/>
            <a:ext cx="2926080" cy="292608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65" y="1965960"/>
            <a:ext cx="2764933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지급심사 대상이 의료청구 → Claim(의료+자동차)으로 확대 (ADR 0009).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839" y="1965960"/>
            <a:ext cx="1596560" cy="292608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623" y="1965960"/>
            <a:ext cx="354841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외부 연동이 더미라 개별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유스케이스 — 실제 동작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753" y="1417320"/>
            <a:ext cx="407201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노란 경로가 데모에서 실제로 동작합니다.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AI를 어떻게 썼는가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141732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사람(설계자)</a:t>
            </a:r>
          </a:p>
          <a:p>
            <a:pPr algn="l"/>
            <a:r>
              <a:rPr sz="2000" b="0">
                <a:solidFill>
                  <a:srgbClr val="1C2B36"/>
                </a:solidFill>
                <a:latin typeface="Apple SD Gothic Neo"/>
              </a:rPr>
              <a:t>다이어그램 설계 · 결정(ADR) · 리뷰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508760"/>
            <a:ext cx="5212080" cy="1417320"/>
          </a:xfrm>
          <a:prstGeom prst="roundRect">
            <a:avLst/>
          </a:prstGeom>
          <a:solidFill>
            <a:srgbClr val="DCE7F8"/>
          </a:solidFill>
          <a:ln w="1905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AI</a:t>
            </a:r>
          </a:p>
          <a:p>
            <a:pPr algn="l"/>
            <a:r>
              <a:rPr sz="2000" b="0">
                <a:solidFill>
                  <a:srgbClr val="1C2B36"/>
                </a:solidFill>
                <a:latin typeface="Apple SD Gothic Neo"/>
              </a:rPr>
              <a:t>구현 · 테스트 · 리팩토링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84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937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828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취조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28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681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572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572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425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316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TDD 구현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13167" y="3383280"/>
            <a:ext cx="1920240" cy="1097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169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9060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리뷰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9060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설계와 결정은 사람이, 구현은 AI가 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AI를 쓰며 생긴 문제와 해결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① 성급한 추상화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45352" y="150876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② 명세와 불일치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50876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③ 계층 패턴 일탈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329184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④ 용어·도메인 오염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329184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AI는 빠르지만, 방향은 사람이 잡았습니다.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20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2A900"/>
                </a:solidFill>
                <a:latin typeface="Apple SD Gothic Neo"/>
              </a:rPr>
              <a:t>설계한 그대로 구현했고, 그 과정에서 AI를 통제했습니다.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
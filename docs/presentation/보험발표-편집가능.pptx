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Apple SD Gothic Neo"/>
              </a:rPr>
              <a:t>설계대로 구현하고, AI를 통제하다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03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2A900"/>
                </a:solidFill>
                <a:latin typeface="Apple SD Gothic Neo"/>
              </a:rPr>
              <a:t>의료·자동차 보험 시스템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세 주체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600200" y="1600200"/>
            <a:ext cx="2103120" cy="210312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384048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B3D5C"/>
                </a:solidFill>
                <a:latin typeface="Apple SD Gothic Neo"/>
              </a:rPr>
              <a:t>고객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526280"/>
            <a:ext cx="3200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보험에 가입하고</a:t>
            </a:r>
          </a:p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청구·납부한다</a:t>
            </a:r>
          </a:p>
        </p:txBody>
      </p:sp>
      <p:sp>
        <p:nvSpPr>
          <p:cNvPr id="7" name="Oval 6"/>
          <p:cNvSpPr/>
          <p:nvPr/>
        </p:nvSpPr>
        <p:spPr>
          <a:xfrm>
            <a:off x="5138928" y="1600200"/>
            <a:ext cx="2103120" cy="2103120"/>
          </a:xfrm>
          <a:prstGeom prst="ellipse">
            <a:avLst/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90288" y="384048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B3D5C"/>
                </a:solidFill>
                <a:latin typeface="Apple SD Gothic Neo"/>
              </a:rPr>
              <a:t>보험사 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4526280"/>
            <a:ext cx="3200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가입과 지급을</a:t>
            </a:r>
          </a:p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심사한다</a:t>
            </a:r>
          </a:p>
        </p:txBody>
      </p:sp>
      <p:sp>
        <p:nvSpPr>
          <p:cNvPr id="10" name="Oval 9"/>
          <p:cNvSpPr/>
          <p:nvPr/>
        </p:nvSpPr>
        <p:spPr>
          <a:xfrm>
            <a:off x="8677656" y="1600200"/>
            <a:ext cx="2103120" cy="210312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9016" y="3840480"/>
            <a:ext cx="3200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9016" y="4526280"/>
            <a:ext cx="3200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계약·고지서·지급을</a:t>
            </a:r>
          </a:p>
          <a:p>
            <a:pPr algn="ctr"/>
            <a:r>
              <a:rPr sz="2200" b="0">
                <a:solidFill>
                  <a:srgbClr val="5B7185"/>
                </a:solidFill>
                <a:latin typeface="Apple SD Gothic Neo"/>
              </a:rPr>
              <a:t>자동 처리한다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두 가지 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417320" y="2148840"/>
            <a:ext cx="4370832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17320" y="2148840"/>
            <a:ext cx="4370832" cy="164592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80360"/>
            <a:ext cx="43708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B3D5C"/>
                </a:solidFill>
                <a:latin typeface="Apple SD Gothic Neo"/>
              </a:rPr>
              <a:t>의료보험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3931920"/>
            <a:ext cx="437083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B7185"/>
                </a:solidFill>
                <a:latin typeface="Apple SD Gothic Neo"/>
              </a:rPr>
              <a:t>아플 때 — 병원비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48840"/>
            <a:ext cx="4370832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2148840"/>
            <a:ext cx="4370832" cy="16459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80360"/>
            <a:ext cx="43708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>
                <a:solidFill>
                  <a:srgbClr val="0B3D5C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931920"/>
            <a:ext cx="437083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B7185"/>
                </a:solidFill>
                <a:latin typeface="Apple SD Gothic Neo"/>
              </a:rPr>
              <a:t>사고 났을 때 — 수리·치료비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의료보험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0B3D5C"/>
                </a:solidFill>
                <a:latin typeface="Apple SD Gothic Neo"/>
              </a:rPr>
              <a:t>병원비를 보험금으로 돌려주는 보험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2926080" cy="11887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500" b="1">
                <a:solidFill>
                  <a:srgbClr val="FFFFFF"/>
                </a:solidFill>
                <a:latin typeface="Apple SD Gothic Neo"/>
              </a:rPr>
              <a:t>병원비 청구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260604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69080" y="43434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0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240280"/>
            <a:ext cx="6400800" cy="123444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D8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200" b="1">
                <a:solidFill>
                  <a:srgbClr val="0B3D5C"/>
                </a:solidFill>
                <a:latin typeface="Apple SD Gothic Neo"/>
              </a:rPr>
              <a:t>100만 원 </a:t>
            </a:r>
            <a:r>
              <a:rPr sz="2200" b="1">
                <a:solidFill>
                  <a:srgbClr val="D8392B"/>
                </a:solidFill>
                <a:latin typeface="Apple SD Gothic Neo"/>
              </a:rPr>
              <a:t>미만</a:t>
            </a:r>
            <a:r>
              <a:rPr sz="2200" b="1">
                <a:solidFill>
                  <a:srgbClr val="1C2B36"/>
                </a:solidFill>
                <a:latin typeface="Apple SD Gothic Neo"/>
              </a:rPr>
              <a:t>  →  바로 입금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3977639"/>
            <a:ext cx="6400800" cy="1234440"/>
          </a:xfrm>
          <a:prstGeom prst="roundRect">
            <a:avLst/>
          </a:prstGeom>
          <a:solidFill>
            <a:srgbClr val="FDECC4"/>
          </a:solidFill>
          <a:ln w="2540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200" b="1">
                <a:solidFill>
                  <a:srgbClr val="0B3D5C"/>
                </a:solidFill>
                <a:latin typeface="Apple SD Gothic Neo"/>
              </a:rPr>
              <a:t>100만 원 </a:t>
            </a:r>
            <a:r>
              <a:rPr sz="2200" b="1">
                <a:solidFill>
                  <a:srgbClr val="B57900"/>
                </a:solidFill>
                <a:latin typeface="Apple SD Gothic Neo"/>
              </a:rPr>
              <a:t>이상</a:t>
            </a:r>
            <a:r>
              <a:rPr sz="2200" b="1">
                <a:solidFill>
                  <a:srgbClr val="1C2B36"/>
                </a:solidFill>
                <a:latin typeface="Apple SD Gothic Neo"/>
              </a:rPr>
              <a:t>  →  직원 확인 후 입금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자동차보험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0B3D5C"/>
                </a:solidFill>
                <a:latin typeface="Apple SD Gothic Neo"/>
              </a:rPr>
              <a:t>사고 피해를 보상해 주는 보험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9447" y="3246120"/>
            <a:ext cx="2331720" cy="1234440"/>
          </a:xfrm>
          <a:prstGeom prst="roundRect">
            <a:avLst/>
          </a:prstGeom>
          <a:solidFill>
            <a:srgbClr val="DCE7F8"/>
          </a:solidFill>
          <a:ln w="2286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사고 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77743" y="34290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9807" y="3246120"/>
            <a:ext cx="2331720" cy="1234440"/>
          </a:xfrm>
          <a:prstGeom prst="roundRect">
            <a:avLst/>
          </a:prstGeom>
          <a:solidFill>
            <a:srgbClr val="DCE7F8"/>
          </a:solidFill>
          <a:ln w="2286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직원이 맡음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8103" y="34290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0167" y="3246120"/>
            <a:ext cx="2331720" cy="1234440"/>
          </a:xfrm>
          <a:prstGeom prst="roundRect">
            <a:avLst/>
          </a:prstGeom>
          <a:solidFill>
            <a:srgbClr val="DCE7F8"/>
          </a:solidFill>
          <a:ln w="2286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보상액 사정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8463" y="342900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50527" y="3246120"/>
            <a:ext cx="2331720" cy="1234440"/>
          </a:xfrm>
          <a:prstGeom prst="roundRect">
            <a:avLst/>
          </a:prstGeom>
          <a:solidFill>
            <a:srgbClr val="F4B400"/>
          </a:solidFill>
          <a:ln w="2286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300" b="1">
                <a:solidFill>
                  <a:srgbClr val="0B3D5C"/>
                </a:solidFill>
                <a:latin typeface="Apple SD Gothic Neo"/>
              </a:rPr>
              <a:t>계좌 입금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여정 ① — 가입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35227" y="2148840"/>
            <a:ext cx="1280160" cy="128016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167" y="3703320"/>
            <a:ext cx="2240280" cy="109728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상품 조회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6859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4015587" y="2148840"/>
            <a:ext cx="1280160" cy="128016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35527" y="3703320"/>
            <a:ext cx="2240280" cy="109728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가입 신청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895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6895947" y="2148840"/>
            <a:ext cx="1280160" cy="1280160"/>
          </a:xfrm>
          <a:prstGeom prst="ellipse">
            <a:avLst/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5887" y="3703320"/>
            <a:ext cx="2240280" cy="1097280"/>
          </a:xfrm>
          <a:prstGeom prst="roundRect">
            <a:avLst/>
          </a:prstGeom>
          <a:solidFill>
            <a:srgbClr val="F8DEDB"/>
          </a:solidFill>
          <a:ln w="25400">
            <a:solidFill>
              <a:srgbClr val="D8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가입 심사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2931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9776307" y="2148840"/>
            <a:ext cx="1280160" cy="128016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96247" y="3703320"/>
            <a:ext cx="2240280" cy="1097280"/>
          </a:xfrm>
          <a:prstGeom prst="roundRect">
            <a:avLst/>
          </a:prstGeom>
          <a:solidFill>
            <a:srgbClr val="F4B400"/>
          </a:solidFill>
          <a:ln w="2540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계약 자동 생성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승인되면 계약이 바로 생깁니다.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여정 ② — 납부와 미납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75407" y="2148840"/>
            <a:ext cx="1280160" cy="128016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703320"/>
            <a:ext cx="2240280" cy="109728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매달 보험료 납부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55767" y="2148840"/>
            <a:ext cx="1280160" cy="128016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703320"/>
            <a:ext cx="2240280" cy="1097280"/>
          </a:xfrm>
          <a:prstGeom prst="roundRect">
            <a:avLst/>
          </a:prstGeom>
          <a:solidFill>
            <a:srgbClr val="F4B400"/>
          </a:solidFill>
          <a:ln w="2540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미납 감지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336127" y="2148840"/>
            <a:ext cx="1280160" cy="128016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703320"/>
            <a:ext cx="2240280" cy="1097280"/>
          </a:xfrm>
          <a:prstGeom prst="roundRect">
            <a:avLst/>
          </a:prstGeom>
          <a:solidFill>
            <a:srgbClr val="F4B400"/>
          </a:solidFill>
          <a:ln w="2540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고지서 자동 발송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낼 회차보다 납부가 밀리면 미납으로 잡히고, 매일 아침 고지서를 보냅니다 (30일 넘으면 해지 예고).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여정 ③ — 보상과 지급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75407" y="2148840"/>
            <a:ext cx="1280160" cy="1280160"/>
          </a:xfrm>
          <a:prstGeom prst="ellipse">
            <a:avLst/>
          </a:prstGeom>
          <a:solidFill>
            <a:srgbClr val="1E64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고객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95347" y="3703320"/>
            <a:ext cx="2240280" cy="1097280"/>
          </a:xfrm>
          <a:prstGeom prst="roundRect">
            <a:avLst/>
          </a:prstGeom>
          <a:solidFill>
            <a:srgbClr val="DCE7F8"/>
          </a:solidFill>
          <a:ln w="2540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청구·사고 접수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0877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7" name="Oval 6"/>
          <p:cNvSpPr/>
          <p:nvPr/>
        </p:nvSpPr>
        <p:spPr>
          <a:xfrm>
            <a:off x="5455767" y="2148840"/>
            <a:ext cx="1280160" cy="1280160"/>
          </a:xfrm>
          <a:prstGeom prst="ellipse">
            <a:avLst/>
          </a:prstGeom>
          <a:solidFill>
            <a:srgbClr val="D8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Apple SD Gothic Neo"/>
              </a:rPr>
              <a:t>직원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75707" y="3703320"/>
            <a:ext cx="2240280" cy="1097280"/>
          </a:xfrm>
          <a:prstGeom prst="roundRect">
            <a:avLst/>
          </a:prstGeom>
          <a:solidFill>
            <a:srgbClr val="F8DEDB"/>
          </a:solidFill>
          <a:ln w="25400">
            <a:solidFill>
              <a:srgbClr val="D8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보상 심사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9139" y="393192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8336127" y="2148840"/>
            <a:ext cx="1280160" cy="1280160"/>
          </a:xfrm>
          <a:prstGeom prst="ellipse">
            <a:avLst/>
          </a:prstGeom>
          <a:solidFill>
            <a:srgbClr val="F4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100" b="1">
                <a:solidFill>
                  <a:srgbClr val="0B3D5C"/>
                </a:solidFill>
                <a:latin typeface="Apple SD Gothic Neo"/>
              </a:rPr>
              <a:t>시스템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56067" y="3703320"/>
            <a:ext cx="2240280" cy="1097280"/>
          </a:xfrm>
          <a:prstGeom prst="roundRect">
            <a:avLst/>
          </a:prstGeom>
          <a:solidFill>
            <a:srgbClr val="F4B400"/>
          </a:solidFill>
          <a:ln w="25400">
            <a:solidFill>
              <a:srgbClr val="F4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보험금 지급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병원비는 100만 원 미만이면 즉시, 이상이거나 자동차 사고면 직원 심사를 거쳐 지급됩니다.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도메인 여섯 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882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사용자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050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상품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1218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계약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386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청구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3554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심사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47223" y="2834640"/>
            <a:ext cx="1755648" cy="114300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pple SD Gothic Neo"/>
              </a:rPr>
              <a:t>사고이력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사용자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user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1368" y="1965960"/>
            <a:ext cx="2709504" cy="2926080"/>
          </a:xfrm>
          <a:prstGeom prst="rect">
            <a:avLst/>
          </a:prstGeom>
        </p:spPr>
      </p:pic>
      <p:pic>
        <p:nvPicPr>
          <p:cNvPr id="7" name="Picture 6" descr="user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8864" y="1965960"/>
            <a:ext cx="2727936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상속(User→Policyholder·Employee)과 모든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userId(String) → id(Long), birthDate Date → LocalDate.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상품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produ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072" y="1965960"/>
            <a:ext cx="5132095" cy="2926080"/>
          </a:xfrm>
          <a:prstGeom prst="rect">
            <a:avLst/>
          </a:prstGeom>
        </p:spPr>
      </p:pic>
      <p:pic>
        <p:nvPicPr>
          <p:cNvPr id="7" name="Picture 6" descr="produ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6784" y="1965960"/>
            <a:ext cx="5132095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상품 상속과 CoverageItem 합성 관계가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productId·itemId(String) → id(Long).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계약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ontrac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8958" y="1965960"/>
            <a:ext cx="2534323" cy="2926080"/>
          </a:xfrm>
          <a:prstGeom prst="rect">
            <a:avLst/>
          </a:prstGeom>
        </p:spPr>
      </p:pic>
      <p:pic>
        <p:nvPicPr>
          <p:cNvPr id="7" name="Picture 6" descr="contrac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9863" y="1965960"/>
            <a:ext cx="4045937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계약–납부–고지 합성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자동이체 정보 AutoDebit 추가, 날짜 타입 변경.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청구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claim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1582" y="1965960"/>
            <a:ext cx="3429075" cy="2926080"/>
          </a:xfrm>
          <a:prstGeom prst="rect">
            <a:avLst/>
          </a:prstGeom>
        </p:spPr>
      </p:pic>
      <p:pic>
        <p:nvPicPr>
          <p:cNvPr id="7" name="Picture 6" descr="claim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157" y="1965960"/>
            <a:ext cx="2493349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Claim 상속(의료/자동차)과 필드가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첨부파일 ClaimAttachment 추가, ClaimStatus 4값 → 6값(송금 결과 추적).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청구 상태값 (코드)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10332720" cy="1920240"/>
          </a:xfrm>
          <a:prstGeom prst="roundRect">
            <a:avLst/>
          </a:prstGeom>
          <a:solidFill>
            <a:srgbClr val="F3F6F9"/>
          </a:solidFill>
          <a:ln w="1905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public enum ClaimStatus {</a:t>
            </a:r>
          </a:p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    PENDING, IN_REVIEW, APPROVED, REJECTED,   // 설계 4값</a:t>
            </a:r>
          </a:p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    COMPLETED, FAILED                         // 구현 추가: 송금 성공·실패 (ADR 0007)</a:t>
            </a:r>
          </a:p>
          <a:p>
            <a:pPr algn="l"/>
            <a:r>
              <a:rPr sz="1800" b="0">
                <a:solidFill>
                  <a:srgbClr val="0F2A43"/>
                </a:solidFill>
                <a:latin typeface="Menlo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송금 결과까지 추적해야 해서 두 값을 더했습니다.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심사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review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3080" y="1965960"/>
            <a:ext cx="2926080" cy="2926080"/>
          </a:xfrm>
          <a:prstGeom prst="rect">
            <a:avLst/>
          </a:prstGeom>
        </p:spPr>
      </p:pic>
      <p:pic>
        <p:nvPicPr>
          <p:cNvPr id="7" name="Picture 6" descr="review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365" y="1965960"/>
            <a:ext cx="2764933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Review 상속(가입심사/지급심사) 구조가 동일.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지급심사 대상이 의료청구 → Claim(의료+자동차)으로 확대 (ADR 0009).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설계 = 구현 — 사고이력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502920"/>
          </a:xfrm>
          <a:prstGeom prst="round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Apple SD Gothic Neo"/>
              </a:rPr>
              <a:t>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371600"/>
            <a:ext cx="5394960" cy="502920"/>
          </a:xfrm>
          <a:prstGeom prst="round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000" b="1">
                <a:solidFill>
                  <a:srgbClr val="0F2A43"/>
                </a:solidFill>
                <a:latin typeface="Apple SD Gothic Neo"/>
              </a:rPr>
              <a:t>코드 역설계</a:t>
            </a:r>
          </a:p>
        </p:txBody>
      </p:sp>
      <p:pic>
        <p:nvPicPr>
          <p:cNvPr id="6" name="Picture 5" descr="accident-des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7839" y="1965960"/>
            <a:ext cx="1596560" cy="2926080"/>
          </a:xfrm>
          <a:prstGeom prst="rect">
            <a:avLst/>
          </a:prstGeom>
        </p:spPr>
      </p:pic>
      <p:pic>
        <p:nvPicPr>
          <p:cNvPr id="7" name="Picture 6" descr="accident-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623" y="1965960"/>
            <a:ext cx="3548417" cy="2926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40" y="5074920"/>
            <a:ext cx="5394960" cy="123444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158073"/>
                </a:solidFill>
                <a:latin typeface="Apple SD Gothic Neo"/>
              </a:rPr>
              <a:t>= 같은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사고 집계 정보(건수·지급액·면허상태)를 동일하게 보유.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074920"/>
            <a:ext cx="5394960" cy="1234440"/>
          </a:xfrm>
          <a:prstGeom prst="roundRect">
            <a:avLst/>
          </a:prstGeom>
          <a:solidFill>
            <a:srgbClr val="FDECC4"/>
          </a:solidFill>
          <a:ln w="19050">
            <a:solidFill>
              <a:srgbClr val="F2A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1800" b="1">
                <a:solidFill>
                  <a:srgbClr val="B57900"/>
                </a:solidFill>
                <a:latin typeface="Apple SD Gothic Neo"/>
              </a:rPr>
              <a:t>≠ 다른 점</a:t>
            </a:r>
          </a:p>
          <a:p>
            <a:pPr algn="l"/>
            <a:r>
              <a:rPr sz="1700" b="0">
                <a:solidFill>
                  <a:srgbClr val="1C2B36"/>
                </a:solidFill>
                <a:latin typeface="Apple SD Gothic Neo"/>
              </a:rPr>
              <a:t>외부 연동이 더미라 개별 AccidentRecord 제거, 값 객체로 단순화.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유스케이스 — 실제 동작 경로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c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4753" y="1417320"/>
            <a:ext cx="4072012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노란 경로가 데모에서 실제로 동작합니다.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AI를 어떻게 썼는가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1417320"/>
          </a:xfrm>
          <a:prstGeom prst="roundRect">
            <a:avLst/>
          </a:prstGeom>
          <a:solidFill>
            <a:srgbClr val="DCF1EC"/>
          </a:solidFill>
          <a:ln w="19050">
            <a:solidFill>
              <a:srgbClr val="1580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사람(설계자)</a:t>
            </a:r>
          </a:p>
          <a:p>
            <a:pPr algn="l"/>
            <a:r>
              <a:rPr sz="2000" b="0">
                <a:solidFill>
                  <a:srgbClr val="1C2B36"/>
                </a:solidFill>
                <a:latin typeface="Apple SD Gothic Neo"/>
              </a:rPr>
              <a:t>다이어그램 설계 · 결정(ADR) · 리뷰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45352" y="1508760"/>
            <a:ext cx="5212080" cy="1417320"/>
          </a:xfrm>
          <a:prstGeom prst="roundRect">
            <a:avLst/>
          </a:prstGeom>
          <a:solidFill>
            <a:srgbClr val="DCE7F8"/>
          </a:solidFill>
          <a:ln w="19050">
            <a:solidFill>
              <a:srgbClr val="1E64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AI</a:t>
            </a:r>
          </a:p>
          <a:p>
            <a:pPr algn="l"/>
            <a:r>
              <a:rPr sz="2000" b="0">
                <a:solidFill>
                  <a:srgbClr val="1C2B36"/>
                </a:solidFill>
                <a:latin typeface="Apple SD Gothic Neo"/>
              </a:rPr>
              <a:t>구현 · 테스트 · 리팩토링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084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설계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084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1937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5828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취조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28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681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572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계획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3572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7425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316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TDD 구현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13167" y="3383280"/>
            <a:ext cx="1920240" cy="1097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51695" y="3566160"/>
            <a:ext cx="640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>
                <a:solidFill>
                  <a:srgbClr val="F2A900"/>
                </a:solidFill>
                <a:latin typeface="Apple SD Gothic Neo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890607" y="3383280"/>
            <a:ext cx="1920240" cy="1005840"/>
          </a:xfrm>
          <a:prstGeom prst="roundRect">
            <a:avLst/>
          </a:prstGeom>
          <a:solidFill>
            <a:srgbClr val="EEF3F7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ctr"/>
            <a:r>
              <a:rPr sz="2200" b="1">
                <a:solidFill>
                  <a:srgbClr val="0B3D5C"/>
                </a:solidFill>
                <a:latin typeface="Apple SD Gothic Neo"/>
              </a:rPr>
              <a:t>리뷰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890607" y="3383280"/>
            <a:ext cx="1920240" cy="109728"/>
          </a:xfrm>
          <a:prstGeom prst="rect">
            <a:avLst/>
          </a:prstGeom>
          <a:solidFill>
            <a:srgbClr val="0B3D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84632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설계와 결정은 사람이, 구현은 AI가 했습니다.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0B3D5C"/>
                </a:solidFill>
                <a:latin typeface="Apple SD Gothic Neo"/>
              </a:rPr>
              <a:t>AI를 쓰며 생긴 문제와 해결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651760" cy="6400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① 성급한 추상화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실익 없는 계층 분리 → 되돌림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45352" y="150876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② 명세와 불일치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자동 배정 → 수동 배정으로 정정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50876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29184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③ 계층 패턴 일탈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점검으로 식별·관리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29184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5352" y="3291840"/>
            <a:ext cx="5212080" cy="1600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3D2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63500" bIns="63500" lIns="127000" rIns="127000" wrap="square"/>
          <a:lstStyle/>
          <a:p>
            <a:pPr algn="l"/>
            <a:r>
              <a:rPr sz="2400" b="1">
                <a:solidFill>
                  <a:srgbClr val="0B3D5C"/>
                </a:solidFill>
                <a:latin typeface="Apple SD Gothic Neo"/>
              </a:rPr>
              <a:t>④ 용어·도메인 오염</a:t>
            </a:r>
          </a:p>
          <a:p>
            <a:pPr algn="l"/>
            <a:r>
              <a:rPr sz="2000" b="0">
                <a:solidFill>
                  <a:srgbClr val="158073"/>
                </a:solidFill>
                <a:latin typeface="Apple SD Gothic Neo"/>
              </a:rPr>
              <a:t>용어집·ADR로 사전 차단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3291840"/>
            <a:ext cx="128016" cy="16002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5257800"/>
            <a:ext cx="11091672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400" b="1">
                <a:solidFill>
                  <a:srgbClr val="0B3D5C"/>
                </a:solidFill>
                <a:latin typeface="Apple SD Gothic Neo"/>
              </a:rPr>
              <a:t>AI는 빠르지만, 방향은 사람이 잡았습니다.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2044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2A900"/>
                </a:solidFill>
                <a:latin typeface="Apple SD Gothic Neo"/>
              </a:rPr>
              <a:t>설계한 그대로 구현했고, 그 과정에서 AI를 통제했습니다.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
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pple SD Gothic Neo"/>
              </a:rPr>
              <a:t>설계대로 구현하고, 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2A900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세 주체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00200" y="1600200"/>
            <a:ext cx="2103120" cy="210312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8404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B3D5C"/>
                </a:solidFill>
                <a:latin typeface="Apple SD Gothic Neo"/>
              </a:rPr>
              <a:t>고객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526280"/>
            <a:ext cx="3200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보험에 가입하고</a:t>
            </a:r>
          </a:p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청구·납부한다</a:t>
            </a:r>
          </a:p>
        </p:txBody>
      </p:sp>
      <p:sp>
        <p:nvSpPr>
          <p:cNvPr id="7" name="Oval 6"/>
          <p:cNvSpPr/>
          <p:nvPr/>
        </p:nvSpPr>
        <p:spPr>
          <a:xfrm>
            <a:off x="5138928" y="1600200"/>
            <a:ext cx="2103120" cy="210312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38404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B3D5C"/>
                </a:solidFill>
                <a:latin typeface="Apple SD Gothic Neo"/>
              </a:rPr>
              <a:t>보험사 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4526280"/>
            <a:ext cx="3200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가입과 지급을</a:t>
            </a:r>
          </a:p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심사한다</a:t>
            </a:r>
          </a:p>
        </p:txBody>
      </p:sp>
      <p:sp>
        <p:nvSpPr>
          <p:cNvPr id="10" name="Oval 9"/>
          <p:cNvSpPr/>
          <p:nvPr/>
        </p:nvSpPr>
        <p:spPr>
          <a:xfrm>
            <a:off x="8677656" y="1600200"/>
            <a:ext cx="2103120" cy="210312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9016" y="38404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9016" y="4526280"/>
            <a:ext cx="3200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계약·고지서·지급을</a:t>
            </a:r>
          </a:p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자동 처리한다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17320" y="2148840"/>
            <a:ext cx="4370832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17320" y="2148840"/>
            <a:ext cx="4370832" cy="164592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80360"/>
            <a:ext cx="43708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931920"/>
            <a:ext cx="437083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B7185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48840"/>
            <a:ext cx="4370832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148840"/>
            <a:ext cx="4370832" cy="16459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80360"/>
            <a:ext cx="43708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20"/>
            <a:ext cx="437083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B7185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0B3D5C"/>
                </a:solidFill>
                <a:latin typeface="Apple SD Gothic Neo"/>
              </a:rPr>
              <a:t>병원비를 보험금으로 돌려주는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2926080" cy="11887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5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26060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240280"/>
            <a:ext cx="6400800" cy="1234440"/>
          </a:xfrm>
          <a:prstGeom prst="roundRect">
            <a:avLst/>
          </a:prstGeom>
          <a:solidFill>
            <a:srgbClr val="DEECF6"/>
          </a:solidFill>
          <a:ln w="2540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2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2200" b="1">
                <a:solidFill>
                  <a:srgbClr val="1F9E8F"/>
                </a:solidFill>
                <a:latin typeface="Apple SD Gothic Neo"/>
              </a:rPr>
              <a:t>미만</a:t>
            </a:r>
            <a:r>
              <a:rPr sz="2200" b="1">
                <a:solidFill>
                  <a:srgbClr val="1C2B36"/>
                </a:solidFill>
                <a:latin typeface="Apple SD Gothic Neo"/>
              </a:rPr>
              <a:t>  →  바로 입금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3977639"/>
            <a:ext cx="6400800" cy="1234440"/>
          </a:xfrm>
          <a:prstGeom prst="roundRect">
            <a:avLst/>
          </a:prstGeom>
          <a:solidFill>
            <a:srgbClr val="FDECC4"/>
          </a:solidFill>
          <a:ln w="2540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2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2200" b="1">
                <a:solidFill>
                  <a:srgbClr val="B57900"/>
                </a:solidFill>
                <a:latin typeface="Apple SD Gothic Neo"/>
              </a:rPr>
              <a:t>이상</a:t>
            </a:r>
            <a:r>
              <a:rPr sz="2200" b="1">
                <a:solidFill>
                  <a:srgbClr val="1C2B36"/>
                </a:solidFill>
                <a:latin typeface="Apple SD Gothic Neo"/>
              </a:rPr>
              <a:t>  → 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0B3D5C"/>
                </a:solidFill>
                <a:latin typeface="Apple SD Gothic Neo"/>
              </a:rPr>
              <a:t>사고 피해를 보상해 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447" y="3246120"/>
            <a:ext cx="2331720" cy="1234440"/>
          </a:xfrm>
          <a:prstGeom prst="roundRect">
            <a:avLst/>
          </a:prstGeom>
          <a:solidFill>
            <a:srgbClr val="DEECF6"/>
          </a:solidFill>
          <a:ln w="2286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74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9807" y="3246120"/>
            <a:ext cx="2331720" cy="1234440"/>
          </a:xfrm>
          <a:prstGeom prst="roundRect">
            <a:avLst/>
          </a:prstGeom>
          <a:solidFill>
            <a:srgbClr val="DEECF6"/>
          </a:solidFill>
          <a:ln w="2286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810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0167" y="3246120"/>
            <a:ext cx="2331720" cy="1234440"/>
          </a:xfrm>
          <a:prstGeom prst="roundRect">
            <a:avLst/>
          </a:prstGeom>
          <a:solidFill>
            <a:srgbClr val="DEECF6"/>
          </a:solidFill>
          <a:ln w="2286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보상액 사정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846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50527" y="3246120"/>
            <a:ext cx="2331720" cy="1234440"/>
          </a:xfrm>
          <a:prstGeom prst="roundRect">
            <a:avLst/>
          </a:prstGeom>
          <a:solidFill>
            <a:srgbClr val="0B3D5C"/>
          </a:solidFill>
          <a:ln w="2286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FFFFFF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① — 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5227" y="2148840"/>
            <a:ext cx="1280160" cy="128016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3703320"/>
            <a:ext cx="2240280" cy="1097280"/>
          </a:xfrm>
          <a:prstGeom prst="roundRect">
            <a:avLst/>
          </a:prstGeom>
          <a:solidFill>
            <a:srgbClr val="DEECF6"/>
          </a:solidFill>
          <a:ln w="2540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6859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4015587" y="2148840"/>
            <a:ext cx="1280160" cy="128016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3703320"/>
            <a:ext cx="2240280" cy="1097280"/>
          </a:xfrm>
          <a:prstGeom prst="roundRect">
            <a:avLst/>
          </a:prstGeom>
          <a:solidFill>
            <a:srgbClr val="DEECF6"/>
          </a:solidFill>
          <a:ln w="2540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895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895947" y="2148840"/>
            <a:ext cx="1280160" cy="128016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3703320"/>
            <a:ext cx="2240280" cy="1097280"/>
          </a:xfrm>
          <a:prstGeom prst="roundRect">
            <a:avLst/>
          </a:prstGeom>
          <a:solidFill>
            <a:srgbClr val="DCF1EC"/>
          </a:solidFill>
          <a:ln w="2540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931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776307" y="2148840"/>
            <a:ext cx="1280160" cy="128016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3703320"/>
            <a:ext cx="2240280" cy="1097280"/>
          </a:xfrm>
          <a:prstGeom prst="roundRect">
            <a:avLst/>
          </a:prstGeom>
          <a:solidFill>
            <a:srgbClr val="0B3D5C"/>
          </a:solidFill>
          <a:ln w="2540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계약 자동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② — 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75407" y="2148840"/>
            <a:ext cx="1280160" cy="128016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703320"/>
            <a:ext cx="2240280" cy="1097280"/>
          </a:xfrm>
          <a:prstGeom prst="roundRect">
            <a:avLst/>
          </a:prstGeom>
          <a:solidFill>
            <a:srgbClr val="DEECF6"/>
          </a:solidFill>
          <a:ln w="2540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매달 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55767" y="2148840"/>
            <a:ext cx="1280160" cy="128016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703320"/>
            <a:ext cx="2240280" cy="1097280"/>
          </a:xfrm>
          <a:prstGeom prst="roundRect">
            <a:avLst/>
          </a:prstGeom>
          <a:solidFill>
            <a:srgbClr val="0B3D5C"/>
          </a:solidFill>
          <a:ln w="2540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336127" y="2148840"/>
            <a:ext cx="1280160" cy="128016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703320"/>
            <a:ext cx="2240280" cy="1097280"/>
          </a:xfrm>
          <a:prstGeom prst="roundRect">
            <a:avLst/>
          </a:prstGeom>
          <a:solidFill>
            <a:srgbClr val="0B3D5C"/>
          </a:solidFill>
          <a:ln w="2540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고지서 자동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낼 회차보다 납부가 밀리면 미납으로 잡히고, 매일 아침 고지서를 보냅니다 (30일 넘으면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③ — 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75407" y="2148840"/>
            <a:ext cx="1280160" cy="128016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703320"/>
            <a:ext cx="2240280" cy="1097280"/>
          </a:xfrm>
          <a:prstGeom prst="roundRect">
            <a:avLst/>
          </a:prstGeom>
          <a:solidFill>
            <a:srgbClr val="DEECF6"/>
          </a:solidFill>
          <a:ln w="2540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청구·사고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55767" y="2148840"/>
            <a:ext cx="1280160" cy="128016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703320"/>
            <a:ext cx="2240280" cy="1097280"/>
          </a:xfrm>
          <a:prstGeom prst="roundRect">
            <a:avLst/>
          </a:prstGeom>
          <a:solidFill>
            <a:srgbClr val="DCF1EC"/>
          </a:solidFill>
          <a:ln w="2540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336127" y="2148840"/>
            <a:ext cx="1280160" cy="128016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703320"/>
            <a:ext cx="2240280" cy="1097280"/>
          </a:xfrm>
          <a:prstGeom prst="roundRect">
            <a:avLst/>
          </a:prstGeom>
          <a:solidFill>
            <a:srgbClr val="0B3D5C"/>
          </a:solidFill>
          <a:ln w="2540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병원비는 100만 원 미만이면 즉시, 이상이거나 자동차 사고면 직원 심사를 거쳐 지급됩니다.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882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050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1218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722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368" y="1965960"/>
            <a:ext cx="2709504" cy="292608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864" y="1965960"/>
            <a:ext cx="2727936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상속(User→Policyholder·Employee)과 모든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userId(String) → id(Long), birthDate Date → LocalDate.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72" y="1965960"/>
            <a:ext cx="5132095" cy="292608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784" y="1965960"/>
            <a:ext cx="5132095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상품 상속과 CoverageItem 합성 관계가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productId·itemId(String) → id(Long).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958" y="1965960"/>
            <a:ext cx="2534323" cy="292608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863" y="1965960"/>
            <a:ext cx="4045937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계약–납부–고지 합성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자동이체 정보 AutoDebit 추가, 날짜 타입 변경.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582" y="1965960"/>
            <a:ext cx="3429075" cy="292608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157" y="1965960"/>
            <a:ext cx="2493349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Claim 상속(의료/자동차)과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첨부파일 ClaimAttachment 추가, ClaimStatus 4값 → 6값(송금 결과 추적).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청구 상태값 (코드)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332720" cy="192024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public enum ClaimStatus {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    PENDING, IN_REVIEW, APPROVED, REJECTED,   // 설계 4값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    COMPLETED, FAILED                         // 구현 추가: 송금 성공·실패 (ADR 0007)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송금 결과까지 추적해야 해서 두 값을 더했습니다.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965960"/>
            <a:ext cx="2926080" cy="292608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365" y="1965960"/>
            <a:ext cx="2764933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Review 상속(가입심사/지급심사)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지급심사 대상이 의료청구 → Claim(의료+자동차)으로 확대 (ADR 0009).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839" y="1965960"/>
            <a:ext cx="1596560" cy="292608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623" y="1965960"/>
            <a:ext cx="3548417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사고 집계 정보(건수·지급액·면허상태)를 동일하게 보유.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외부 연동이 더미라 개별 AccidentRecord 제거, 값 객체로 단순화.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유스케이스 — 실제 동작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753" y="1417320"/>
            <a:ext cx="407201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노란 경로가 데모에서 실제로 동작합니다.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AI를 어떻게 썼는가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141732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사람(설계자)</a:t>
            </a:r>
          </a:p>
          <a:p>
            <a:pPr algn="l"/>
            <a:r>
              <a:rPr sz="2000" b="0">
                <a:solidFill>
                  <a:srgbClr val="1C2B36"/>
                </a:solidFill>
                <a:latin typeface="Apple SD Gothic Neo"/>
              </a:rPr>
              <a:t>다이어그램 설계 · 결정(ADR) · 리뷰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508760"/>
            <a:ext cx="5212080" cy="1417320"/>
          </a:xfrm>
          <a:prstGeom prst="roundRect">
            <a:avLst/>
          </a:prstGeom>
          <a:solidFill>
            <a:srgbClr val="DEECF6"/>
          </a:solidFill>
          <a:ln w="19050">
            <a:solidFill>
              <a:srgbClr val="2C6F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AI</a:t>
            </a:r>
          </a:p>
          <a:p>
            <a:pPr algn="l"/>
            <a:r>
              <a:rPr sz="2000" b="0">
                <a:solidFill>
                  <a:srgbClr val="1C2B36"/>
                </a:solidFill>
                <a:latin typeface="Apple SD Gothic Neo"/>
              </a:rPr>
              <a:t>구현 · 테스트 · 리팩토링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084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937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828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취조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28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681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572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572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7425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316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TDD 구현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13167" y="3383280"/>
            <a:ext cx="1920240" cy="1097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169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9060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리뷰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9060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설계와 결정은 사람이, 구현은 AI가 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AI를 쓰며 생긴 문제와 해결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① 성급한 추상화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실익 없는 계층 분리 → 되돌림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45352" y="150876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② 명세와 불일치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50876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③ 계층 패턴 일탈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점검으로 식별·관리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329184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④ 용어·도메인 오염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용어집·ADR로 사전 차단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329184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AI는 빠르지만, 방향은 사람이 잡았습니다.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204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2A900"/>
                </a:solidFill>
                <a:latin typeface="Apple SD Gothic Neo"/>
              </a:rPr>
              <a:t>설계한 그대로 구현했고, 그 과정에서 AI를 통제했습니다.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
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2A900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누가 사용하나 — 세 주체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54480" y="1828800"/>
            <a:ext cx="1920240" cy="19202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862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고객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4348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보험에 가입하고</a:t>
            </a:r>
          </a:p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청구·납부한다</a:t>
            </a:r>
          </a:p>
        </p:txBody>
      </p:sp>
      <p:sp>
        <p:nvSpPr>
          <p:cNvPr id="7" name="Oval 6"/>
          <p:cNvSpPr/>
          <p:nvPr/>
        </p:nvSpPr>
        <p:spPr>
          <a:xfrm>
            <a:off x="5120640" y="1828800"/>
            <a:ext cx="1920240" cy="192024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보험사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8862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보험사 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4348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가입과 지급을</a:t>
            </a:r>
          </a:p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심사한다</a:t>
            </a:r>
          </a:p>
        </p:txBody>
      </p:sp>
      <p:sp>
        <p:nvSpPr>
          <p:cNvPr id="10" name="Oval 9"/>
          <p:cNvSpPr/>
          <p:nvPr/>
        </p:nvSpPr>
        <p:spPr>
          <a:xfrm>
            <a:off x="8686800" y="1828800"/>
            <a:ext cx="1920240" cy="19202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8862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4348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계약·고지서·지급을</a:t>
            </a:r>
          </a:p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자동 처리한다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2377440"/>
            <a:ext cx="3749039" cy="210312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0800" bIns="50800" lIns="101600" rIns="101600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377440"/>
            <a:ext cx="3749039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834640"/>
            <a:ext cx="37490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6118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5B7185"/>
                </a:solidFill>
                <a:latin typeface="Apple SD Gothic Neo"/>
              </a:rPr>
              <a:t>병원비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377440"/>
            <a:ext cx="3749039" cy="210312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0800" bIns="50800" lIns="101600" rIns="101600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0" y="2377440"/>
            <a:ext cx="3749039" cy="1097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37490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6118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5B7185"/>
                </a:solidFill>
                <a:latin typeface="Apple SD Gothic Neo"/>
              </a:rPr>
              <a:t>자동차 사고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의료보험이란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28016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병원비를 보험금으로 돌려주는 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1">
                <a:solidFill>
                  <a:srgbClr val="F2A900"/>
                </a:solidFill>
                <a:latin typeface="Apple SD Gothic Neo"/>
              </a:rPr>
              <a:t>—  </a:t>
            </a:r>
            <a:r>
              <a:rPr sz="2300" b="0">
                <a:solidFill>
                  <a:srgbClr val="1C2B36"/>
                </a:solidFill>
                <a:latin typeface="Apple SD Gothic Neo"/>
              </a:rPr>
              <a:t>병원비를 청구하면 보험금을 계좌로 입금해 준다</a:t>
            </a:r>
          </a:p>
          <a:p>
            <a:pPr algn="l">
              <a:spcAft>
                <a:spcPts val="1400"/>
              </a:spcAft>
            </a:pPr>
            <a:r>
              <a:rPr sz="2300" b="1">
                <a:solidFill>
                  <a:srgbClr val="F2A900"/>
                </a:solidFill>
                <a:latin typeface="Apple SD Gothic Neo"/>
              </a:rPr>
              <a:t>—  </a:t>
            </a:r>
            <a:r>
              <a:rPr sz="2300" b="0">
                <a:solidFill>
                  <a:srgbClr val="1C2B36"/>
                </a:solidFill>
                <a:latin typeface="Apple SD Gothic Neo"/>
              </a:rPr>
              <a:t>청구액이 100만 원보다 적으면 — 묻지 않고 바로 입금 (예: 30만 원 청구 → 즉시)</a:t>
            </a:r>
          </a:p>
          <a:p>
            <a:pPr algn="l">
              <a:spcAft>
                <a:spcPts val="1400"/>
              </a:spcAft>
            </a:pPr>
            <a:r>
              <a:rPr sz="2300" b="1">
                <a:solidFill>
                  <a:srgbClr val="F2A900"/>
                </a:solidFill>
                <a:latin typeface="Apple SD Gothic Neo"/>
              </a:rPr>
              <a:t>—  </a:t>
            </a:r>
            <a:r>
              <a:rPr sz="2300" b="0">
                <a:solidFill>
                  <a:srgbClr val="1C2B36"/>
                </a:solidFill>
                <a:latin typeface="Apple SD Gothic Neo"/>
              </a:rPr>
              <a:t>100만 원 이상이면 — 직원이 확인한 뒤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자동차보험이란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28016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사고 피해를 보상해 주는 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300" b="1">
                <a:solidFill>
                  <a:srgbClr val="F2A900"/>
                </a:solidFill>
                <a:latin typeface="Apple SD Gothic Neo"/>
              </a:rPr>
              <a:t>—  </a:t>
            </a:r>
            <a:r>
              <a:rPr sz="2300" b="0">
                <a:solidFill>
                  <a:srgbClr val="1C2B36"/>
                </a:solidFill>
                <a:latin typeface="Apple SD Gothic Neo"/>
              </a:rPr>
              <a:t>사고를 접수하면 접수번호가 나온다</a:t>
            </a:r>
          </a:p>
          <a:p>
            <a:pPr algn="l">
              <a:spcAft>
                <a:spcPts val="1400"/>
              </a:spcAft>
            </a:pPr>
            <a:r>
              <a:rPr sz="2300" b="1">
                <a:solidFill>
                  <a:srgbClr val="F2A900"/>
                </a:solidFill>
                <a:latin typeface="Apple SD Gothic Neo"/>
              </a:rPr>
              <a:t>—  </a:t>
            </a:r>
            <a:r>
              <a:rPr sz="2300" b="0">
                <a:solidFill>
                  <a:srgbClr val="1C2B36"/>
                </a:solidFill>
                <a:latin typeface="Apple SD Gothic Neo"/>
              </a:rPr>
              <a:t>직원 한 명이 그 사고를 맡아(배정) 보상 금액을 정한다</a:t>
            </a:r>
          </a:p>
          <a:p>
            <a:pPr algn="l">
              <a:spcAft>
                <a:spcPts val="1400"/>
              </a:spcAft>
            </a:pPr>
            <a:r>
              <a:rPr sz="2300" b="1">
                <a:solidFill>
                  <a:srgbClr val="F2A900"/>
                </a:solidFill>
                <a:latin typeface="Apple SD Gothic Neo"/>
              </a:rPr>
              <a:t>—  </a:t>
            </a:r>
            <a:r>
              <a:rPr sz="2300" b="0">
                <a:solidFill>
                  <a:srgbClr val="1C2B36"/>
                </a:solidFill>
                <a:latin typeface="Apple SD Gothic Neo"/>
              </a:rPr>
              <a:t>정해진 금액이 계좌로 입금된다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여정 ① — 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5244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4952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692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431276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984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24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73087" y="2286000"/>
            <a:ext cx="1005840" cy="100584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756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43340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048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계약 자동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여정 ② — 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03260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968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매달 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708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59292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740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5324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5032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고지서 자동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낼 회차보다 납부가 밀리면 미납으로 잡히고, 매일 아침 고지서를 보냅니다 (30일 넘으면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여정 ③ — 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03260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968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청구·사고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708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592927" y="2286000"/>
            <a:ext cx="1005840" cy="100584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740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5324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5032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병원비는 100만 원 미만이면 즉시, 이상이거나 자동차 사고면 직원 심사를 거쳐 지급됩니다.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110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62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466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5918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032" y="1874519"/>
            <a:ext cx="2794176" cy="301752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240" y="1874519"/>
            <a:ext cx="2813184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83" y="1874519"/>
            <a:ext cx="5292473" cy="301752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595" y="1874519"/>
            <a:ext cx="5292473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359" y="1874519"/>
            <a:ext cx="2613521" cy="301752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645" y="1874519"/>
            <a:ext cx="4172373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002" y="1874519"/>
            <a:ext cx="3536234" cy="301752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98" y="1874519"/>
            <a:ext cx="2571267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첨부파일 ClaimAttachment 추가, ClaimStatus 4값 → 6값(송금 결과 추적).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청구 상태값 (코드)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332720" cy="1828800"/>
          </a:xfrm>
          <a:prstGeom prst="roundRect">
            <a:avLst/>
          </a:prstGeom>
          <a:solidFill>
            <a:srgbClr val="EEF3F7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public enum ClaimStatus {</a:t>
            </a:r>
          </a:p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    COMPLETED, FAILED                         // 구현 추가: 송금 성공·실패 (ADR 0007)</a:t>
            </a:r>
          </a:p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송금 결과까지 추적해야 해서 두 값을 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874519"/>
            <a:ext cx="3017520" cy="301752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163" y="1874519"/>
            <a:ext cx="2851337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지급심사 대상이 의료청구 → Claim(의료+자동차)으로 확대 (ADR 0009).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93" y="1874519"/>
            <a:ext cx="1646452" cy="301752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179" y="1874519"/>
            <a:ext cx="365930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외부 연동이 더미라 개별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유스케이스 — 실제 동작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753" y="1463040"/>
            <a:ext cx="407201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노란 경로가 데모에서 실제로 동작합니다.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AI를 어떻게 썼는가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137160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100" b="1">
                <a:solidFill>
                  <a:srgbClr val="0B3D5C"/>
                </a:solidFill>
                <a:latin typeface="Apple SD Gothic Neo"/>
              </a:rPr>
              <a:t>사람(설계자)</a:t>
            </a:r>
          </a:p>
          <a:p>
            <a:pPr algn="l"/>
            <a:r>
              <a:rPr sz="1800" b="0">
                <a:solidFill>
                  <a:srgbClr val="1C2B36"/>
                </a:solidFill>
                <a:latin typeface="Apple SD Gothic Neo"/>
              </a:rPr>
              <a:t>다이어그램 설계 · 결정(ADR) · 리뷰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554480"/>
            <a:ext cx="5212080" cy="13716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100" b="1">
                <a:solidFill>
                  <a:srgbClr val="0B3D5C"/>
                </a:solidFill>
                <a:latin typeface="Apple SD Gothic Neo"/>
              </a:rPr>
              <a:t>AI</a:t>
            </a:r>
          </a:p>
          <a:p>
            <a:pPr algn="l"/>
            <a:r>
              <a:rPr sz="1800" b="0">
                <a:solidFill>
                  <a:srgbClr val="1C2B36"/>
                </a:solidFill>
                <a:latin typeface="Apple SD Gothic Neo"/>
              </a:rPr>
              <a:t>구현 · 테스트 · 리팩토링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88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88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4797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116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취조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116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8825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4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44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853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172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TDD 구현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1727" y="3383280"/>
            <a:ext cx="1828800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881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6200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리뷰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설계와 결정은 사람이, 구현은 AI가 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AI를 쓰며 생긴 문제와 해결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① 성급한 추상화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45352" y="155448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② 명세와 불일치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55448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③ 계층 패턴 일탈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3756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333756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④ 용어·도메인 오염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333756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AI는 빠르지만, 방향은 사람이 잡았습니다.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2A900"/>
                </a:solidFill>
                <a:latin typeface="Apple SD Gothic Neo"/>
              </a:rPr>
              <a:t>설계한 그대로 구현했고, 그 과정에서 AI를 통제했습니다.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
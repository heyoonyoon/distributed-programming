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전체 중 내가 시연하는 부분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spc="-30">
                <a:solidFill>
                  <a:srgbClr val="5B5BD6"/>
                </a:solidFill>
                <a:latin typeface="Apple SD Gothic Neo"/>
              </a:rPr>
              <a:t>백엔드 · Spring — 계층형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286000"/>
            <a:ext cx="4389120" cy="603504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web   </a:t>
            </a:r>
            <a:r>
              <a:rPr sz="1500" b="0">
                <a:solidFill>
                  <a:srgbClr val="6B7280"/>
                </a:solidFill>
                <a:latin typeface="Apple SD Gothic Neo"/>
              </a:rPr>
              <a:t>Controller · DTO — 요청/응답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834640"/>
            <a:ext cx="822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090672"/>
            <a:ext cx="4389120" cy="603504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service   </a:t>
            </a:r>
            <a:r>
              <a:rPr sz="1500" b="0">
                <a:solidFill>
                  <a:srgbClr val="6B7280"/>
                </a:solidFill>
                <a:latin typeface="Apple SD Gothic Neo"/>
              </a:rPr>
              <a:t>업무 흐름 · 규칙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3639312"/>
            <a:ext cx="822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3895344"/>
            <a:ext cx="4389120" cy="603504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1700" b="1">
                <a:solidFill>
                  <a:srgbClr val="5B5BD6"/>
                </a:solidFill>
                <a:latin typeface="Menlo"/>
              </a:rPr>
              <a:t>domain   </a:t>
            </a:r>
            <a:r>
              <a:rPr sz="1500" b="0">
                <a:solidFill>
                  <a:srgbClr val="6B7280"/>
                </a:solidFill>
                <a:latin typeface="Apple SD Gothic Neo"/>
              </a:rPr>
              <a:t>엔티티 · 도메인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4443983"/>
            <a:ext cx="822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4700016"/>
            <a:ext cx="4389120" cy="603504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repository   </a:t>
            </a:r>
            <a:r>
              <a:rPr sz="1500" b="0">
                <a:solidFill>
                  <a:srgbClr val="6B7280"/>
                </a:solidFill>
                <a:latin typeface="Apple SD Gothic Neo"/>
              </a:rPr>
              <a:t>JPA 저장 ·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468112"/>
            <a:ext cx="502920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 spc="-30">
                <a:solidFill>
                  <a:srgbClr val="6B7280"/>
                </a:solidFill>
                <a:latin typeface="Menlo"/>
              </a:rPr>
              <a:t>domain = user·product·contract·claim·review·application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spc="-30">
                <a:solidFill>
                  <a:srgbClr val="B5793A"/>
                </a:solidFill>
                <a:latin typeface="Apple SD Gothic Neo"/>
              </a:rPr>
              <a:t>프론트 · React — 기능형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331720"/>
            <a:ext cx="5029200" cy="658368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app   </a:t>
            </a:r>
            <a:r>
              <a:rPr sz="1500" b="0">
                <a:solidFill>
                  <a:srgbClr val="6B7280"/>
                </a:solidFill>
                <a:latin typeface="Apple SD Gothic Neo"/>
              </a:rPr>
              <a:t>라우팅 · 역할별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54680"/>
            <a:ext cx="5029200" cy="150876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500" b="1">
                <a:solidFill>
                  <a:srgbClr val="1A1A1A"/>
                </a:solidFill>
                <a:latin typeface="Menlo"/>
              </a:rPr>
              <a:t>features/  — 기능 한 폴더 = 화면+hook+api</a:t>
            </a:r>
          </a:p>
          <a:p>
            <a:pPr algn="l"/>
            <a:r>
              <a:rPr sz="1500" b="0">
                <a:solidFill>
                  <a:srgbClr val="6B7280"/>
                </a:solidFill>
                <a:latin typeface="Apple SD Gothic Neo"/>
              </a:rPr>
              <a:t>auth · contracts · claims</a:t>
            </a:r>
          </a:p>
          <a:p>
            <a:pPr algn="l"/>
            <a:r>
              <a:rPr sz="1500" b="0">
                <a:solidFill>
                  <a:srgbClr val="6B7280"/>
                </a:solidFill>
                <a:latin typeface="Apple SD Gothic Neo"/>
              </a:rPr>
              <a:t>benefit-review · underwriting-review</a:t>
            </a:r>
          </a:p>
          <a:p>
            <a:pPr algn="l"/>
            <a:r>
              <a:rPr sz="1500" b="0">
                <a:solidFill>
                  <a:srgbClr val="6B7280"/>
                </a:solidFill>
                <a:latin typeface="Apple SD Gothic Neo"/>
              </a:rPr>
              <a:t>assignments · profile · customer-home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846320"/>
            <a:ext cx="5029200" cy="65836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1500" b="1">
                <a:solidFill>
                  <a:srgbClr val="1A1A1A"/>
                </a:solidFill>
                <a:latin typeface="Menlo"/>
              </a:rPr>
              <a:t>lib/api · components   </a:t>
            </a:r>
            <a:r>
              <a:rPr sz="1500" b="0">
                <a:solidFill>
                  <a:srgbClr val="6B7280"/>
                </a:solidFill>
                <a:latin typeface="Apple SD Gothic Neo"/>
              </a:rPr>
              <a:t>공통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백엔드는 계층(웹→서비스→도메인→저장소), 프론트는 기능 단위로 나눴다.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클래스 다이어그램 → 코드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spc="-30">
                <a:solidFill>
                  <a:srgbClr val="5B5BD6"/>
                </a:solidFill>
                <a:latin typeface="Apple SD Gothic Neo"/>
              </a:rPr>
              <a:t>설계 — 클래스 한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spc="-30">
                <a:solidFill>
                  <a:srgbClr val="B5793A"/>
                </a:solidFill>
                <a:latin typeface="Apple SD Gothic Neo"/>
              </a:rPr>
              <a:t>코드 — JPA 엔티티 한 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973" y="2331720"/>
            <a:ext cx="4251492" cy="2651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35040" y="2331720"/>
            <a:ext cx="5394960" cy="2651760"/>
          </a:xfrm>
          <a:prstGeom prst="roundRect">
            <a:avLst>
              <a:gd name="adj" fmla="val 5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514600"/>
            <a:ext cx="484632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CDBFF7"/>
                </a:solidFill>
                <a:latin typeface="Menlo"/>
              </a:rPr>
              <a:t>@Entity</a:t>
            </a:r>
          </a:p>
          <a:p>
            <a:pPr algn="l"/>
            <a:r>
              <a:rPr sz="1400" b="0">
                <a:solidFill>
                  <a:srgbClr val="CDBFF7"/>
                </a:solidFill>
                <a:latin typeface="Menlo"/>
              </a:rPr>
              <a:t>class InsuranceContract {</a:t>
            </a:r>
          </a:p>
          <a:p>
            <a:pPr algn="l"/>
            <a:r>
              <a:rPr sz="1400" b="0">
                <a:solidFill>
                  <a:srgbClr val="CDBFF7"/>
                </a:solidFill>
                <a:latin typeface="Menlo"/>
              </a:rPr>
              <a:t>  @Id Long id;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enlo"/>
              </a:rPr>
              <a:t>  ContractStatus status;</a:t>
            </a:r>
          </a:p>
          <a:p>
            <a:pPr algn="l"/>
            <a:r>
              <a:rPr sz="1400" b="0">
                <a:solidFill>
                  <a:srgbClr val="CDBFF7"/>
                </a:solidFill>
                <a:latin typeface="Menlo"/>
              </a:rPr>
              <a:t>  @ManyToOne Policyholder policyholder;</a:t>
            </a:r>
          </a:p>
          <a:p>
            <a:pPr algn="l"/>
            <a:r>
              <a:rPr sz="1400" b="0">
                <a:solidFill>
                  <a:srgbClr val="CDBFF7"/>
                </a:solidFill>
                <a:latin typeface="Menlo"/>
              </a:rPr>
              <a:t>  @ManyToOne InsuranceProduct product;</a:t>
            </a:r>
          </a:p>
          <a:p>
            <a:pPr algn="l"/>
            <a:r>
              <a:rPr sz="1400" b="0">
                <a:solidFill>
                  <a:srgbClr val="CDBFF7"/>
                </a:solidFill>
                <a:latin typeface="Menlo"/>
              </a:rPr>
              <a:t>  @OneToMany List&lt;Payment&gt; payments;</a:t>
            </a:r>
          </a:p>
          <a:p>
            <a:pPr algn="l"/>
            <a:r>
              <a:rPr sz="1400" b="0">
                <a:solidFill>
                  <a:srgbClr val="CDBFF7"/>
                </a:solidFill>
                <a:latin typeface="Menlo"/>
              </a:rPr>
              <a:t>  @Embedded AutoDebit autoDebit;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257800"/>
            <a:ext cx="10607040" cy="114300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800" b="1">
                <a:solidFill>
                  <a:srgbClr val="1A1A1A"/>
                </a:solidFill>
                <a:latin typeface="Apple SD Gothic Neo"/>
              </a:rPr>
              <a:t>필드 = 컬럼,  관계선 = </a:t>
            </a:r>
            <a:r>
              <a:rPr sz="1700" b="1">
                <a:solidFill>
                  <a:srgbClr val="5B5BD6"/>
                </a:solidFill>
                <a:latin typeface="Menlo"/>
              </a:rPr>
              <a:t>@ManyToOne · @OneToMany · @Embedded</a:t>
            </a:r>
            <a:r>
              <a:rPr sz="1800" b="1">
                <a:solidFill>
                  <a:srgbClr val="1A1A1A"/>
                </a:solidFill>
                <a:latin typeface="Apple SD Gothic Neo"/>
              </a:rPr>
              <a:t>.  domain 패키지의 6묶음이 다이어그램 6묶음과 1:1.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유스케이스 → 코드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6B7280"/>
                </a:solidFill>
                <a:latin typeface="Apple SD Gothic Neo"/>
              </a:rPr>
              <a:t>예) 가입 신청 — 한 시나리오가 한 줄기 호출 흐름으로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5147" y="2743200"/>
            <a:ext cx="1874519" cy="15544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Menlo"/>
              </a:rPr>
              <a:t>고객</a:t>
            </a:r>
          </a:p>
          <a:p>
            <a:pPr algn="ctr"/>
            <a:r>
              <a:rPr sz="1500" b="1">
                <a:solidFill>
                  <a:srgbClr val="1A1A1A"/>
                </a:solidFill>
                <a:latin typeface="Apple SD Gothic Neo"/>
              </a:rPr>
              <a:t>가입 신청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8227" y="33375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6867" y="2743200"/>
            <a:ext cx="1874519" cy="15544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Menlo"/>
              </a:rPr>
              <a:t>web</a:t>
            </a:r>
          </a:p>
          <a:p>
            <a:pPr algn="ctr"/>
            <a:r>
              <a:rPr sz="1500" b="1">
                <a:solidFill>
                  <a:srgbClr val="1A1A1A"/>
                </a:solidFill>
                <a:latin typeface="Apple SD Gothic Neo"/>
              </a:rPr>
              <a:t>ApplicationController</a:t>
            </a:r>
          </a:p>
          <a:p>
            <a:pPr algn="ctr"/>
            <a:r>
              <a:rPr sz="1500" b="1">
                <a:solidFill>
                  <a:srgbClr val="1A1A1A"/>
                </a:solidFill>
                <a:latin typeface="Apple SD Gothic Neo"/>
              </a:rPr>
              <a:t>POST /applications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09947" y="33375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58587" y="2743200"/>
            <a:ext cx="1874519" cy="15544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Menlo"/>
              </a:rPr>
              <a:t>service</a:t>
            </a:r>
          </a:p>
          <a:p>
            <a:pPr algn="ctr"/>
            <a:r>
              <a:rPr sz="1500" b="1">
                <a:solidFill>
                  <a:srgbClr val="1A1A1A"/>
                </a:solidFill>
                <a:latin typeface="Apple SD Gothic Neo"/>
              </a:rPr>
              <a:t>ApplicationService</a:t>
            </a:r>
          </a:p>
          <a:p>
            <a:pPr algn="ctr"/>
            <a:r>
              <a:rPr sz="1500" b="1">
                <a:solidFill>
                  <a:srgbClr val="1A1A1A"/>
                </a:solidFill>
                <a:latin typeface="Apple SD Gothic Neo"/>
              </a:rPr>
              <a:t>.apply()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1667" y="33375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0307" y="2743200"/>
            <a:ext cx="1874519" cy="155448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enlo"/>
              </a:rPr>
              <a:t>domain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ple SD Gothic Neo"/>
              </a:rPr>
              <a:t>InsuranceApplication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ple SD Gothic Neo"/>
              </a:rPr>
              <a:t>+ 도메인 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3387" y="33375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2027" y="2743200"/>
            <a:ext cx="1874519" cy="155448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enlo"/>
              </a:rPr>
              <a:t>repository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ple SD Gothic Neo"/>
              </a:rPr>
              <a:t>저장 ·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5447" y="4709160"/>
            <a:ext cx="6400800" cy="86868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1700" b="1">
                <a:solidFill>
                  <a:srgbClr val="1A1A1A"/>
                </a:solidFill>
                <a:latin typeface="Apple SD Gothic Neo"/>
              </a:rPr>
              <a:t>응답은 </a:t>
            </a:r>
            <a:r>
              <a:rPr sz="1700" b="1">
                <a:solidFill>
                  <a:srgbClr val="B5793A"/>
                </a:solidFill>
                <a:latin typeface="Menlo"/>
              </a:rPr>
              <a:t>DTO</a:t>
            </a:r>
            <a:r>
              <a:rPr sz="1700" b="1">
                <a:solidFill>
                  <a:srgbClr val="1A1A1A"/>
                </a:solidFill>
                <a:latin typeface="Apple SD Gothic Neo"/>
              </a:rPr>
              <a:t>로 변환해 화면으로 (from(entity))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모든 도메인이 같은 패턴: 화면 → 컨트롤러 → 서비스 → 도메인 → 저장소.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
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전체 중 내가 시연하는 부분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867" y="1828800"/>
            <a:ext cx="3119784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" y="21031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파란 박스 = 직접 시연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F1F1F3"/>
          </a:solidFill>
          <a:ln w="1524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700" b="1">
                <a:solidFill>
                  <a:srgbClr val="6B7280"/>
                </a:solidFill>
                <a:latin typeface="Apple SD Gothic Neo"/>
              </a:rPr>
              <a:t>회색 = 시연 외(코드엔 있음)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전체 흐름 중 파란 부분만 라이브로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프로젝트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spc="-30">
                <a:solidFill>
                  <a:srgbClr val="5B5BD6"/>
                </a:solidFill>
                <a:latin typeface="Apple SD Gothic Neo"/>
              </a:rPr>
              <a:t>백엔드 · Spring — 계층형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1640" y="2377440"/>
            <a:ext cx="3566160" cy="512064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800" b="1">
                <a:solidFill>
                  <a:srgbClr val="1A1A1A"/>
                </a:solidFill>
                <a:latin typeface="Menlo"/>
              </a:rPr>
              <a:t>controller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283464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1640" y="3017520"/>
            <a:ext cx="3566160" cy="512064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800" b="1">
                <a:solidFill>
                  <a:srgbClr val="1A1A1A"/>
                </a:solidFill>
                <a:latin typeface="Menlo"/>
              </a:rPr>
              <a:t>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347472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1640" y="3657600"/>
            <a:ext cx="3566160" cy="512064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800" b="1">
                <a:solidFill>
                  <a:srgbClr val="1A1A1A"/>
                </a:solidFill>
                <a:latin typeface="Menlo"/>
              </a:rPr>
              <a:t>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411480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4297680"/>
            <a:ext cx="3566160" cy="512064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800" b="1">
                <a:solidFill>
                  <a:srgbClr val="1A1A1A"/>
                </a:solidFill>
                <a:latin typeface="Menlo"/>
              </a:rPr>
              <a:t>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475488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4937760"/>
            <a:ext cx="3566160" cy="512064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Menlo"/>
              </a:rPr>
              <a:t>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539496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 spc="-20">
                <a:solidFill>
                  <a:srgbClr val="6B7280"/>
                </a:solidFill>
                <a:latin typeface="Menlo"/>
              </a:rPr>
              <a:t>dto = 요청·응답 데이터 (controller ↔ 화면)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8288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spc="-30">
                <a:solidFill>
                  <a:srgbClr val="B5793A"/>
                </a:solidFill>
                <a:latin typeface="Apple SD Gothic Neo"/>
              </a:rPr>
              <a:t>프론트 · React — 기능형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2423160"/>
            <a:ext cx="5029200" cy="219456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1A1A1A"/>
                </a:solidFill>
                <a:latin typeface="Menlo"/>
              </a:rPr>
              <a:t>features/</a:t>
            </a:r>
          </a:p>
          <a:p>
            <a:pPr algn="l"/>
            <a:r>
              <a:rPr sz="1500" b="0">
                <a:solidFill>
                  <a:srgbClr val="6B7280"/>
                </a:solidFill>
                <a:latin typeface="Apple SD Gothic Neo"/>
              </a:rPr>
              <a:t>기능 한 폴더 = 화면 + hook + api</a:t>
            </a:r>
          </a:p>
          <a:p>
            <a:pPr algn="l"/>
            <a:r>
              <a:rPr sz="8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ple SD Gothic Neo"/>
              </a:rPr>
              <a:t>auth · contracts · claims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ple SD Gothic Neo"/>
              </a:rPr>
              <a:t>benefit-review · underwriting-review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pple SD Gothic Neo"/>
              </a:rPr>
              <a:t>assignments · profile · customer-home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080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백엔드는 계층으로, 프론트는 기능 단위로 나눴다.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따라가 볼 한 번의 클릭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spc="-30">
                <a:solidFill>
                  <a:srgbClr val="1A1A1A"/>
                </a:solidFill>
                <a:latin typeface="Apple SD Gothic Neo"/>
              </a:rPr>
              <a:t>고객이 상품 목록에서 </a:t>
            </a:r>
            <a:r>
              <a:rPr sz="2000" b="1" spc="-30">
                <a:solidFill>
                  <a:srgbClr val="5B5BD6"/>
                </a:solidFill>
                <a:latin typeface="Apple SD Gothic Neo"/>
              </a:rPr>
              <a:t>'실손기본'</a:t>
            </a:r>
            <a:r>
              <a:rPr sz="2000" b="1" spc="-30">
                <a:solidFill>
                  <a:srgbClr val="1A1A1A"/>
                </a:solidFill>
                <a:latin typeface="Apple SD Gothic Neo"/>
              </a:rPr>
              <a:t>을 클릭한다.</a:t>
            </a:r>
          </a:p>
        </p:txBody>
      </p:sp>
      <p:pic>
        <p:nvPicPr>
          <p:cNvPr id="5" name="Picture 4" descr="products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39" y="228600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692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이 클릭 하나가 코드로 어떻게 흘러 화면까지 오는지 따라가 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버튼 클릭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①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features/contracts/ProductsView.tsx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상품 목록의 각 카드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&lt;button onClick={() =&gt; selectProduct(product.id)}&gt;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{product.productName}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&lt;/button&gt;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/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클릭하면 실행되는 함수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async function selectProduct(id) {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setSelectedProduct(await contractsApi.getProduct(id))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카드를 누르면 그 상품 id로 selectProduct가 실행된다.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API 호출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②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contracts/api.ts · lib/api/httpClient.ts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api.ts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getProduct(id)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request(`/products/${id}`)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/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httpClient.ts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fetch(`${baseUrl}${path}`)  // baseUrl = http://localhost:8080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→ GET http://localhost:8080/products/2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프론트가 백엔드의 /products/2 로 GET 요청을 보낸다.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컨트롤러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③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web/controller/ProductController.java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@RestController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class ProductController {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/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@GetMapping("/products/{id}")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ProductDetailResponse detail(@PathVariable 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  return productService.detail(id);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컨트롤러가 요청을 받아 서비스로 넘긴다.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서비스 · 저장소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④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service/ProductService.java · repository/ProductRepository.java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@Transactional(readOnly = true)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ProductDetailResponse detail(Long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productRepository.findById(id)        // DB 조회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.map(ProductDetailResponse::from)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.orElseThrow(() -&gt; new IllegalArgumentException("상품을 찾을 수 없습니다."));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/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ProductRepository extends JpaRepository&lt;InsuranceProduct, Long&gt;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findById → SELECT * FROM insurance_product WHERE id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서비스가 저장소로 DB에서 상품을 꺼낸다.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엔티티 → 응답 DTO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⑤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web/dto/ProductDetailResponse.java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DB 엔티티를 화면용 데이터로 변환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static ProductDetailResponse from(InsuranceProduct product)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new ProductDetailResponse(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product.getId(), product.getProductName(),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product.getBasePremium(),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product.getCoverageItems().stream()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  .map(CoverageItemResponse::from).toList());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DB 엔티티를 그대로 노출하지 않고 응답 DTO로 변환한다.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⑥  응답이 화면에 표시된다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50292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C83B0"/>
                </a:solidFill>
                <a:latin typeface="Menlo"/>
              </a:rPr>
              <a:t>// 백엔드 응답 (JSON)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{ "productName": "실손기본",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"monthlyPremium": 12000,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"coverageItems": [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{"itemName":"통원치료비" …},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{"itemName":"입원치료비" …} ]}</a:t>
            </a:r>
          </a:p>
        </p:txBody>
      </p:sp>
      <p:pic>
        <p:nvPicPr>
          <p:cNvPr id="6" name="Picture 5" descr="products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94535"/>
            <a:ext cx="5029200" cy="3143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617720"/>
            <a:ext cx="5532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받은 데이터를 그대로 화면에</a:t>
            </a:r>
          </a:p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상세·보장항목으로 렌더한다.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클릭 → 컨트롤러 → 서비스 → DB → DTO → 화면, 한 줄기로 흐른다.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
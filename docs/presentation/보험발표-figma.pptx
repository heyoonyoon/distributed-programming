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spc="80">
                <a:solidFill>
                  <a:srgbClr val="C5B0F4"/>
                </a:solidFill>
                <a:latin typeface="Menlo"/>
              </a:rPr>
              <a:t>FINAL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514600"/>
            <a:ext cx="106070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000" b="1" spc="-100">
                <a:solidFill>
                  <a:srgbClr val="FFFFFF"/>
                </a:solidFill>
                <a:latin typeface="Apple SD Gothic Neo"/>
              </a:rPr>
              <a:t>설계대로 구현하고, AI를 통제하다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6052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 spc="-30">
                <a:solidFill>
                  <a:srgbClr val="CDBFF7"/>
                </a:solidFill>
                <a:latin typeface="Apple SD Gothic Neo"/>
              </a:rPr>
              <a:t>의료·자동차 보험 시스템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spc="60">
                <a:solidFill>
                  <a:srgbClr val="555555"/>
                </a:solidFill>
                <a:latin typeface="Menlo"/>
              </a:rPr>
              <a:t>ACTORS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960120"/>
            <a:ext cx="106984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spc="-80">
                <a:solidFill>
                  <a:srgbClr val="000000"/>
                </a:solidFill>
                <a:latin typeface="Apple SD Gothic Neo"/>
              </a:rPr>
              <a:t>누가 사용하나</a:t>
            </a:r>
          </a:p>
        </p:txBody>
      </p:sp>
      <p:sp>
        <p:nvSpPr>
          <p:cNvPr id="4" name="Oval 3"/>
          <p:cNvSpPr/>
          <p:nvPr/>
        </p:nvSpPr>
        <p:spPr>
          <a:xfrm>
            <a:off x="1417320" y="2286000"/>
            <a:ext cx="2286000" cy="2286000"/>
          </a:xfrm>
          <a:prstGeom prst="ellipse">
            <a:avLst/>
          </a:prstGeom>
          <a:solidFill>
            <a:srgbClr val="C5B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3000" b="1">
                <a:solidFill>
                  <a:srgbClr val="000000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00600"/>
            <a:ext cx="4114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100" b="1" spc="-30">
                <a:solidFill>
                  <a:srgbClr val="000000"/>
                </a:solidFill>
                <a:latin typeface="Apple SD Gothic Neo"/>
              </a:rPr>
              <a:t>가입·청구·납부</a:t>
            </a:r>
          </a:p>
        </p:txBody>
      </p:sp>
      <p:sp>
        <p:nvSpPr>
          <p:cNvPr id="6" name="Oval 5"/>
          <p:cNvSpPr/>
          <p:nvPr/>
        </p:nvSpPr>
        <p:spPr>
          <a:xfrm>
            <a:off x="4956048" y="2286000"/>
            <a:ext cx="2286000" cy="2286000"/>
          </a:xfrm>
          <a:prstGeom prst="ellipse">
            <a:avLst/>
          </a:prstGeom>
          <a:solidFill>
            <a:srgbClr val="C8E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3000" b="1">
                <a:solidFill>
                  <a:srgbClr val="000000"/>
                </a:solidFill>
                <a:latin typeface="Apple SD Gothic Neo"/>
              </a:rPr>
              <a:t>직원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41648" y="4800600"/>
            <a:ext cx="4114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100" b="1" spc="-30">
                <a:solidFill>
                  <a:srgbClr val="000000"/>
                </a:solidFill>
                <a:latin typeface="Apple SD Gothic Neo"/>
              </a:rPr>
              <a:t>가입·지급 심사</a:t>
            </a:r>
          </a:p>
        </p:txBody>
      </p:sp>
      <p:sp>
        <p:nvSpPr>
          <p:cNvPr id="8" name="Oval 7"/>
          <p:cNvSpPr/>
          <p:nvPr/>
        </p:nvSpPr>
        <p:spPr>
          <a:xfrm>
            <a:off x="8494776" y="2286000"/>
            <a:ext cx="2286000" cy="2286000"/>
          </a:xfrm>
          <a:prstGeom prst="ellipse">
            <a:avLst/>
          </a:prstGeom>
          <a:solidFill>
            <a:srgbClr val="F3C9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3000" b="1">
                <a:solidFill>
                  <a:srgbClr val="000000"/>
                </a:solidFill>
                <a:latin typeface="Apple SD Gothic Neo"/>
              </a:rPr>
              <a:t>시스템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0375" y="4800600"/>
            <a:ext cx="4114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100" b="1" spc="-30">
                <a:solidFill>
                  <a:srgbClr val="000000"/>
                </a:solidFill>
                <a:latin typeface="Apple SD Gothic Neo"/>
              </a:rPr>
              <a:t>계약·고지서·지급 자동화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spc="60">
                <a:solidFill>
                  <a:srgbClr val="555555"/>
                </a:solidFill>
                <a:latin typeface="Menlo"/>
              </a:rPr>
              <a:t>PRODUCTS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960120"/>
            <a:ext cx="106984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spc="-80">
                <a:solidFill>
                  <a:srgbClr val="000000"/>
                </a:solidFill>
                <a:latin typeface="Apple SD Gothic Neo"/>
              </a:rPr>
              <a:t>두 가지 보험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25880" y="2331720"/>
            <a:ext cx="4480560" cy="2743200"/>
          </a:xfrm>
          <a:prstGeom prst="roundRect">
            <a:avLst>
              <a:gd name="adj" fmla="val 16000"/>
            </a:avLst>
          </a:prstGeom>
          <a:solidFill>
            <a:srgbClr val="DCE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3063240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 spc="-60">
                <a:solidFill>
                  <a:srgbClr val="000000"/>
                </a:solidFill>
                <a:latin typeface="Apple SD Gothic Neo"/>
              </a:rPr>
              <a:t>의료보험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4114800"/>
            <a:ext cx="4480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100" b="0" spc="-30">
                <a:solidFill>
                  <a:srgbClr val="000000"/>
                </a:solidFill>
                <a:latin typeface="Apple SD Gothic Neo"/>
              </a:rPr>
              <a:t>아플 때 — 병원비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331720"/>
            <a:ext cx="4480560" cy="2743200"/>
          </a:xfrm>
          <a:prstGeom prst="roundRect">
            <a:avLst>
              <a:gd name="adj" fmla="val 16000"/>
            </a:avLst>
          </a:prstGeom>
          <a:solidFill>
            <a:srgbClr val="F3C9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3063240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 spc="-60">
                <a:solidFill>
                  <a:srgbClr val="000000"/>
                </a:solidFill>
                <a:latin typeface="Apple SD Gothic Neo"/>
              </a:rPr>
              <a:t>자동차보험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114800"/>
            <a:ext cx="4480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100" b="0" spc="-30">
                <a:solidFill>
                  <a:srgbClr val="000000"/>
                </a:solidFill>
                <a:latin typeface="Apple SD Gothic Neo"/>
              </a:rPr>
              <a:t>사고 났을 때 — 수리·치료비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spc="60">
                <a:solidFill>
                  <a:srgbClr val="555555"/>
                </a:solidFill>
                <a:latin typeface="Menlo"/>
              </a:rPr>
              <a:t>MEDICAL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960120"/>
            <a:ext cx="106984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spc="-80">
                <a:solidFill>
                  <a:srgbClr val="000000"/>
                </a:solidFill>
                <a:latin typeface="Apple SD Gothic Neo"/>
              </a:rPr>
              <a:t>병원비를 보험금으로 돌려준다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3566160"/>
            <a:ext cx="2743200" cy="1188720"/>
          </a:xfrm>
          <a:prstGeom prst="roundRect">
            <a:avLst>
              <a:gd name="adj" fmla="val 18000"/>
            </a:avLst>
          </a:prstGeom>
          <a:solidFill>
            <a:srgbClr val="C5B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300" b="1">
                <a:solidFill>
                  <a:srgbClr val="000000"/>
                </a:solidFill>
                <a:latin typeface="Apple SD Gothic Neo"/>
              </a:rPr>
              <a:t>병원비 청구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28803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000000"/>
                </a:solidFill>
                <a:latin typeface="Apple SD Gothic Neo"/>
              </a:rP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0" y="46177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000000"/>
                </a:solidFill>
                <a:latin typeface="Apple SD Gothic Neo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2468880"/>
            <a:ext cx="6583680" cy="1234440"/>
          </a:xfrm>
          <a:prstGeom prst="roundRect">
            <a:avLst>
              <a:gd name="adj" fmla="val 18000"/>
            </a:avLst>
          </a:prstGeom>
          <a:solidFill>
            <a:srgbClr val="C8E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l"/>
            <a:r>
              <a:rPr sz="2200" b="1">
                <a:solidFill>
                  <a:srgbClr val="000000"/>
                </a:solidFill>
                <a:latin typeface="Apple SD Gothic Neo"/>
              </a:rPr>
              <a:t>100만 원 미만  →  바로 입금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4160520"/>
            <a:ext cx="6583680" cy="1234440"/>
          </a:xfrm>
          <a:prstGeom prst="roundRect">
            <a:avLst>
              <a:gd name="adj" fmla="val 18000"/>
            </a:avLst>
          </a:prstGeom>
          <a:solidFill>
            <a:srgbClr val="EFD4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l"/>
            <a:r>
              <a:rPr sz="2200" b="1">
                <a:solidFill>
                  <a:srgbClr val="000000"/>
                </a:solidFill>
                <a:latin typeface="Apple SD Gothic Neo"/>
              </a:rPr>
              <a:t>100만 원 이상  →  직원 확인 후 입금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spc="60">
                <a:solidFill>
                  <a:srgbClr val="555555"/>
                </a:solidFill>
                <a:latin typeface="Menlo"/>
              </a:rPr>
              <a:t>AUTO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960120"/>
            <a:ext cx="106984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spc="-80">
                <a:solidFill>
                  <a:srgbClr val="000000"/>
                </a:solidFill>
                <a:latin typeface="Apple SD Gothic Neo"/>
              </a:rPr>
              <a:t>사고 피해를 보상한다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09447" y="3383280"/>
            <a:ext cx="2331720" cy="1280160"/>
          </a:xfrm>
          <a:prstGeom prst="roundRect">
            <a:avLst>
              <a:gd name="adj" fmla="val 18000"/>
            </a:avLst>
          </a:prstGeom>
          <a:solidFill>
            <a:srgbClr val="F4E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200" b="1">
                <a:solidFill>
                  <a:srgbClr val="000000"/>
                </a:solidFill>
                <a:latin typeface="Apple SD Gothic Neo"/>
              </a:rPr>
              <a:t>사고 접수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77743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000000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89807" y="3383280"/>
            <a:ext cx="2331720" cy="1280160"/>
          </a:xfrm>
          <a:prstGeom prst="roundRect">
            <a:avLst>
              <a:gd name="adj" fmla="val 18000"/>
            </a:avLst>
          </a:prstGeom>
          <a:solidFill>
            <a:srgbClr val="F3C9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200" b="1">
                <a:solidFill>
                  <a:srgbClr val="000000"/>
                </a:solidFill>
                <a:latin typeface="Apple SD Gothic Neo"/>
              </a:rPr>
              <a:t>직원이 맡음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8103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000000"/>
                </a:solidFill>
                <a:latin typeface="Apple SD Gothic Neo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70167" y="3383280"/>
            <a:ext cx="2331720" cy="1280160"/>
          </a:xfrm>
          <a:prstGeom prst="roundRect">
            <a:avLst>
              <a:gd name="adj" fmla="val 18000"/>
            </a:avLst>
          </a:prstGeom>
          <a:solidFill>
            <a:srgbClr val="F3C9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200" b="1">
                <a:solidFill>
                  <a:srgbClr val="000000"/>
                </a:solidFill>
                <a:latin typeface="Apple SD Gothic Neo"/>
              </a:rPr>
              <a:t>보상액 사정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8463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000000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50527" y="3383280"/>
            <a:ext cx="2331720" cy="1280160"/>
          </a:xfrm>
          <a:prstGeom prst="roundRect">
            <a:avLst>
              <a:gd name="adj" fmla="val 18000"/>
            </a:avLst>
          </a:prstGeom>
          <a:solidFill>
            <a:srgbClr val="C8E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200" b="1">
                <a:solidFill>
                  <a:srgbClr val="000000"/>
                </a:solidFill>
                <a:latin typeface="Apple SD Gothic Neo"/>
              </a:rPr>
              <a:t>계좌 입금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spc="60">
                <a:solidFill>
                  <a:srgbClr val="555555"/>
                </a:solidFill>
                <a:latin typeface="Menlo"/>
              </a:rPr>
              <a:t>JOURNEY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960120"/>
            <a:ext cx="106984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spc="-80">
                <a:solidFill>
                  <a:srgbClr val="000000"/>
                </a:solidFill>
                <a:latin typeface="Apple SD Gothic Neo"/>
              </a:rPr>
              <a:t>가입</a:t>
            </a:r>
          </a:p>
        </p:txBody>
      </p:sp>
      <p:sp>
        <p:nvSpPr>
          <p:cNvPr id="4" name="Oval 3"/>
          <p:cNvSpPr/>
          <p:nvPr/>
        </p:nvSpPr>
        <p:spPr>
          <a:xfrm>
            <a:off x="1089507" y="2331720"/>
            <a:ext cx="1371600" cy="1371600"/>
          </a:xfrm>
          <a:prstGeom prst="ellipse">
            <a:avLst/>
          </a:prstGeom>
          <a:solidFill>
            <a:srgbClr val="C5B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000" b="1">
                <a:solidFill>
                  <a:srgbClr val="000000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5167" y="3931920"/>
            <a:ext cx="2240280" cy="1097280"/>
          </a:xfrm>
          <a:prstGeom prst="roundRect">
            <a:avLst>
              <a:gd name="adj" fmla="val 18000"/>
            </a:avLst>
          </a:prstGeom>
          <a:solidFill>
            <a:srgbClr val="C5B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200" b="1">
                <a:solidFill>
                  <a:srgbClr val="000000"/>
                </a:solidFill>
                <a:latin typeface="Apple SD Gothic Neo"/>
              </a:rPr>
              <a:t>상품 조회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68599" y="41605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000000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3969867" y="2331720"/>
            <a:ext cx="1371600" cy="1371600"/>
          </a:xfrm>
          <a:prstGeom prst="ellipse">
            <a:avLst/>
          </a:prstGeom>
          <a:solidFill>
            <a:srgbClr val="C5B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000" b="1">
                <a:solidFill>
                  <a:srgbClr val="000000"/>
                </a:solidFill>
                <a:latin typeface="Apple SD Gothic Neo"/>
              </a:rPr>
              <a:t>고객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35527" y="3931920"/>
            <a:ext cx="2240280" cy="1097280"/>
          </a:xfrm>
          <a:prstGeom prst="roundRect">
            <a:avLst>
              <a:gd name="adj" fmla="val 18000"/>
            </a:avLst>
          </a:prstGeom>
          <a:solidFill>
            <a:srgbClr val="C5B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200" b="1">
                <a:solidFill>
                  <a:srgbClr val="000000"/>
                </a:solidFill>
                <a:latin typeface="Apple SD Gothic Neo"/>
              </a:rPr>
              <a:t>가입 신청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8959" y="41605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000000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6850227" y="2331720"/>
            <a:ext cx="1371600" cy="1371600"/>
          </a:xfrm>
          <a:prstGeom prst="ellipse">
            <a:avLst/>
          </a:prstGeom>
          <a:solidFill>
            <a:srgbClr val="C8E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000" b="1">
                <a:solidFill>
                  <a:srgbClr val="000000"/>
                </a:solidFill>
                <a:latin typeface="Apple SD Gothic Neo"/>
              </a:rPr>
              <a:t>직원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15887" y="3931920"/>
            <a:ext cx="2240280" cy="1097280"/>
          </a:xfrm>
          <a:prstGeom prst="roundRect">
            <a:avLst>
              <a:gd name="adj" fmla="val 18000"/>
            </a:avLst>
          </a:prstGeom>
          <a:solidFill>
            <a:srgbClr val="C8E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200" b="1">
                <a:solidFill>
                  <a:srgbClr val="000000"/>
                </a:solidFill>
                <a:latin typeface="Apple SD Gothic Neo"/>
              </a:rPr>
              <a:t>가입 심사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29319" y="41605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000000"/>
                </a:solidFill>
                <a:latin typeface="Apple SD Gothic Neo"/>
              </a:rPr>
              <a:t>→</a:t>
            </a:r>
          </a:p>
        </p:txBody>
      </p:sp>
      <p:sp>
        <p:nvSpPr>
          <p:cNvPr id="13" name="Oval 12"/>
          <p:cNvSpPr/>
          <p:nvPr/>
        </p:nvSpPr>
        <p:spPr>
          <a:xfrm>
            <a:off x="9730587" y="2331720"/>
            <a:ext cx="1371600" cy="1371600"/>
          </a:xfrm>
          <a:prstGeom prst="ellipse">
            <a:avLst/>
          </a:prstGeom>
          <a:solidFill>
            <a:srgbClr val="F3C9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000" b="1">
                <a:solidFill>
                  <a:srgbClr val="000000"/>
                </a:solidFill>
                <a:latin typeface="Apple SD Gothic Neo"/>
              </a:rPr>
              <a:t>시스템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96247" y="3931920"/>
            <a:ext cx="2240280" cy="1097280"/>
          </a:xfrm>
          <a:prstGeom prst="roundRect">
            <a:avLst>
              <a:gd name="adj" fmla="val 18000"/>
            </a:avLst>
          </a:prstGeom>
          <a:solidFill>
            <a:srgbClr val="F3C9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200" b="1">
                <a:solidFill>
                  <a:srgbClr val="000000"/>
                </a:solidFill>
                <a:latin typeface="Apple SD Gothic Neo"/>
              </a:rPr>
              <a:t>계약 생성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440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spc="-30">
                <a:solidFill>
                  <a:srgbClr val="000000"/>
                </a:solidFill>
                <a:latin typeface="Apple SD Gothic Neo"/>
              </a:rPr>
              <a:t>승인되면 계약이 바로 생깁니다.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spc="60">
                <a:solidFill>
                  <a:srgbClr val="555555"/>
                </a:solidFill>
                <a:latin typeface="Menlo"/>
              </a:rPr>
              <a:t>JOURNEY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960120"/>
            <a:ext cx="106984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spc="-80">
                <a:solidFill>
                  <a:srgbClr val="000000"/>
                </a:solidFill>
                <a:latin typeface="Apple SD Gothic Neo"/>
              </a:rPr>
              <a:t>납부와 미납</a:t>
            </a:r>
          </a:p>
        </p:txBody>
      </p:sp>
      <p:sp>
        <p:nvSpPr>
          <p:cNvPr id="4" name="Oval 3"/>
          <p:cNvSpPr/>
          <p:nvPr/>
        </p:nvSpPr>
        <p:spPr>
          <a:xfrm>
            <a:off x="2529687" y="2331720"/>
            <a:ext cx="1371600" cy="1371600"/>
          </a:xfrm>
          <a:prstGeom prst="ellipse">
            <a:avLst/>
          </a:prstGeom>
          <a:solidFill>
            <a:srgbClr val="C5B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000" b="1">
                <a:solidFill>
                  <a:srgbClr val="000000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95347" y="3931920"/>
            <a:ext cx="2240280" cy="1097280"/>
          </a:xfrm>
          <a:prstGeom prst="roundRect">
            <a:avLst>
              <a:gd name="adj" fmla="val 18000"/>
            </a:avLst>
          </a:prstGeom>
          <a:solidFill>
            <a:srgbClr val="C5B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200" b="1">
                <a:solidFill>
                  <a:srgbClr val="000000"/>
                </a:solidFill>
                <a:latin typeface="Apple SD Gothic Neo"/>
              </a:rPr>
              <a:t>보험료 납부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08779" y="41605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000000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5410047" y="2331720"/>
            <a:ext cx="1371600" cy="1371600"/>
          </a:xfrm>
          <a:prstGeom prst="ellipse">
            <a:avLst/>
          </a:prstGeom>
          <a:solidFill>
            <a:srgbClr val="F3C9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000" b="1">
                <a:solidFill>
                  <a:srgbClr val="000000"/>
                </a:solidFill>
                <a:latin typeface="Apple SD Gothic Neo"/>
              </a:rPr>
              <a:t>시스템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75707" y="3931920"/>
            <a:ext cx="2240280" cy="1097280"/>
          </a:xfrm>
          <a:prstGeom prst="roundRect">
            <a:avLst>
              <a:gd name="adj" fmla="val 18000"/>
            </a:avLst>
          </a:prstGeom>
          <a:solidFill>
            <a:srgbClr val="F3C9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200" b="1">
                <a:solidFill>
                  <a:srgbClr val="000000"/>
                </a:solidFill>
                <a:latin typeface="Apple SD Gothic Neo"/>
              </a:rPr>
              <a:t>미납 감지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9139" y="41605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000000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8290407" y="2331720"/>
            <a:ext cx="1371600" cy="1371600"/>
          </a:xfrm>
          <a:prstGeom prst="ellipse">
            <a:avLst/>
          </a:prstGeom>
          <a:solidFill>
            <a:srgbClr val="F3C9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000" b="1">
                <a:solidFill>
                  <a:srgbClr val="000000"/>
                </a:solidFill>
                <a:latin typeface="Apple SD Gothic Neo"/>
              </a:rPr>
              <a:t>시스템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56067" y="3931920"/>
            <a:ext cx="2240280" cy="1097280"/>
          </a:xfrm>
          <a:prstGeom prst="roundRect">
            <a:avLst>
              <a:gd name="adj" fmla="val 18000"/>
            </a:avLst>
          </a:prstGeom>
          <a:solidFill>
            <a:srgbClr val="F3C9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200" b="1">
                <a:solidFill>
                  <a:srgbClr val="000000"/>
                </a:solidFill>
                <a:latin typeface="Apple SD Gothic Neo"/>
              </a:rPr>
              <a:t>고지서 발송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440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spc="-30">
                <a:solidFill>
                  <a:srgbClr val="000000"/>
                </a:solidFill>
                <a:latin typeface="Apple SD Gothic Neo"/>
              </a:rPr>
              <a:t>납부가 밀리면 미납으로 잡히고, 매일 아침 고지서가 나갑니다 (30일 초과 시 해지 예고).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spc="60">
                <a:solidFill>
                  <a:srgbClr val="555555"/>
                </a:solidFill>
                <a:latin typeface="Menlo"/>
              </a:rPr>
              <a:t>JOURNEY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960120"/>
            <a:ext cx="106984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spc="-80">
                <a:solidFill>
                  <a:srgbClr val="000000"/>
                </a:solidFill>
                <a:latin typeface="Apple SD Gothic Neo"/>
              </a:rPr>
              <a:t>보상과 지급</a:t>
            </a:r>
          </a:p>
        </p:txBody>
      </p:sp>
      <p:sp>
        <p:nvSpPr>
          <p:cNvPr id="4" name="Oval 3"/>
          <p:cNvSpPr/>
          <p:nvPr/>
        </p:nvSpPr>
        <p:spPr>
          <a:xfrm>
            <a:off x="2529687" y="2331720"/>
            <a:ext cx="1371600" cy="1371600"/>
          </a:xfrm>
          <a:prstGeom prst="ellipse">
            <a:avLst/>
          </a:prstGeom>
          <a:solidFill>
            <a:srgbClr val="C5B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000" b="1">
                <a:solidFill>
                  <a:srgbClr val="000000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95347" y="3931920"/>
            <a:ext cx="2240280" cy="1097280"/>
          </a:xfrm>
          <a:prstGeom prst="roundRect">
            <a:avLst>
              <a:gd name="adj" fmla="val 18000"/>
            </a:avLst>
          </a:prstGeom>
          <a:solidFill>
            <a:srgbClr val="C5B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200" b="1">
                <a:solidFill>
                  <a:srgbClr val="000000"/>
                </a:solidFill>
                <a:latin typeface="Apple SD Gothic Neo"/>
              </a:rPr>
              <a:t>청구·접수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08779" y="41605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000000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5410047" y="2331720"/>
            <a:ext cx="1371600" cy="1371600"/>
          </a:xfrm>
          <a:prstGeom prst="ellipse">
            <a:avLst/>
          </a:prstGeom>
          <a:solidFill>
            <a:srgbClr val="C8E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000" b="1">
                <a:solidFill>
                  <a:srgbClr val="000000"/>
                </a:solidFill>
                <a:latin typeface="Apple SD Gothic Neo"/>
              </a:rPr>
              <a:t>직원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75707" y="3931920"/>
            <a:ext cx="2240280" cy="1097280"/>
          </a:xfrm>
          <a:prstGeom prst="roundRect">
            <a:avLst>
              <a:gd name="adj" fmla="val 18000"/>
            </a:avLst>
          </a:prstGeom>
          <a:solidFill>
            <a:srgbClr val="C8E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200" b="1">
                <a:solidFill>
                  <a:srgbClr val="000000"/>
                </a:solidFill>
                <a:latin typeface="Apple SD Gothic Neo"/>
              </a:rPr>
              <a:t>보상 심사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9139" y="41605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000000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8290407" y="2331720"/>
            <a:ext cx="1371600" cy="1371600"/>
          </a:xfrm>
          <a:prstGeom prst="ellipse">
            <a:avLst/>
          </a:prstGeom>
          <a:solidFill>
            <a:srgbClr val="F3C9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000" b="1">
                <a:solidFill>
                  <a:srgbClr val="000000"/>
                </a:solidFill>
                <a:latin typeface="Apple SD Gothic Neo"/>
              </a:rPr>
              <a:t>시스템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56067" y="3931920"/>
            <a:ext cx="2240280" cy="1097280"/>
          </a:xfrm>
          <a:prstGeom prst="roundRect">
            <a:avLst>
              <a:gd name="adj" fmla="val 18000"/>
            </a:avLst>
          </a:prstGeom>
          <a:solidFill>
            <a:srgbClr val="F3C9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200" b="1">
                <a:solidFill>
                  <a:srgbClr val="000000"/>
                </a:solidFill>
                <a:latin typeface="Apple SD Gothic Neo"/>
              </a:rPr>
              <a:t>보험금 지급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440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spc="-30">
                <a:solidFill>
                  <a:srgbClr val="000000"/>
                </a:solidFill>
                <a:latin typeface="Apple SD Gothic Neo"/>
              </a:rPr>
              <a:t>병원비는 100만 원 미만이면 즉시, 이상이거나 자동차 사고는 직원 심사 후 지급.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spc="60">
                <a:solidFill>
                  <a:srgbClr val="555555"/>
                </a:solidFill>
                <a:latin typeface="Menlo"/>
              </a:rPr>
              <a:t>DOMAINS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960120"/>
            <a:ext cx="106984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spc="-80">
                <a:solidFill>
                  <a:srgbClr val="000000"/>
                </a:solidFill>
                <a:latin typeface="Apple SD Gothic Neo"/>
              </a:rPr>
              <a:t>도메인 여섯 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8823" y="3017520"/>
            <a:ext cx="1755648" cy="1188720"/>
          </a:xfrm>
          <a:prstGeom prst="roundRect">
            <a:avLst>
              <a:gd name="adj" fmla="val 18000"/>
            </a:avLst>
          </a:prstGeom>
          <a:solidFill>
            <a:srgbClr val="C5B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300" b="1">
                <a:solidFill>
                  <a:srgbClr val="000000"/>
                </a:solidFill>
                <a:latin typeface="Apple SD Gothic Neo"/>
              </a:rPr>
              <a:t>사용자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00503" y="3017520"/>
            <a:ext cx="1755648" cy="1188720"/>
          </a:xfrm>
          <a:prstGeom prst="roundRect">
            <a:avLst>
              <a:gd name="adj" fmla="val 18000"/>
            </a:avLst>
          </a:prstGeom>
          <a:solidFill>
            <a:srgbClr val="DCE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300" b="1">
                <a:solidFill>
                  <a:srgbClr val="000000"/>
                </a:solidFill>
                <a:latin typeface="Apple SD Gothic Neo"/>
              </a:rPr>
              <a:t>상품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12183" y="3017520"/>
            <a:ext cx="1755648" cy="1188720"/>
          </a:xfrm>
          <a:prstGeom prst="roundRect">
            <a:avLst>
              <a:gd name="adj" fmla="val 18000"/>
            </a:avLst>
          </a:prstGeom>
          <a:solidFill>
            <a:srgbClr val="F4E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300" b="1">
                <a:solidFill>
                  <a:srgbClr val="000000"/>
                </a:solidFill>
                <a:latin typeface="Apple SD Gothic Neo"/>
              </a:rPr>
              <a:t>계약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3863" y="3017520"/>
            <a:ext cx="1755648" cy="1188720"/>
          </a:xfrm>
          <a:prstGeom prst="roundRect">
            <a:avLst>
              <a:gd name="adj" fmla="val 18000"/>
            </a:avLst>
          </a:prstGeom>
          <a:solidFill>
            <a:srgbClr val="F3C9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300" b="1">
                <a:solidFill>
                  <a:srgbClr val="000000"/>
                </a:solidFill>
                <a:latin typeface="Apple SD Gothic Neo"/>
              </a:rPr>
              <a:t>청구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35543" y="3017520"/>
            <a:ext cx="1755648" cy="1188720"/>
          </a:xfrm>
          <a:prstGeom prst="roundRect">
            <a:avLst>
              <a:gd name="adj" fmla="val 18000"/>
            </a:avLst>
          </a:prstGeom>
          <a:solidFill>
            <a:srgbClr val="C8E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300" b="1">
                <a:solidFill>
                  <a:srgbClr val="000000"/>
                </a:solidFill>
                <a:latin typeface="Apple SD Gothic Neo"/>
              </a:rPr>
              <a:t>심사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47223" y="3017520"/>
            <a:ext cx="1755648" cy="1188720"/>
          </a:xfrm>
          <a:prstGeom prst="roundRect">
            <a:avLst>
              <a:gd name="adj" fmla="val 18000"/>
            </a:avLst>
          </a:prstGeom>
          <a:solidFill>
            <a:srgbClr val="EFD4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300" b="1">
                <a:solidFill>
                  <a:srgbClr val="000000"/>
                </a:solidFill>
                <a:latin typeface="Apple SD Gothic Neo"/>
              </a:rPr>
              <a:t>사고이력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spc="60">
                <a:solidFill>
                  <a:srgbClr val="555555"/>
                </a:solidFill>
                <a:latin typeface="Menlo"/>
              </a:rPr>
              <a:t>DESIGN =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960120"/>
            <a:ext cx="106984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spc="-80">
                <a:solidFill>
                  <a:srgbClr val="000000"/>
                </a:solidFill>
                <a:latin typeface="Apple SD Gothic Neo"/>
              </a:rPr>
              <a:t>사용자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5394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spc="50">
                <a:solidFill>
                  <a:srgbClr val="555555"/>
                </a:solidFill>
                <a:latin typeface="Menlo"/>
              </a:rPr>
              <a:t>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0" y="1828800"/>
            <a:ext cx="5394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spc="50">
                <a:solidFill>
                  <a:srgbClr val="555555"/>
                </a:solidFill>
                <a:latin typeface="Menlo"/>
              </a:rPr>
              <a:t>코드 역설계</a:t>
            </a:r>
          </a:p>
        </p:txBody>
      </p:sp>
      <p:pic>
        <p:nvPicPr>
          <p:cNvPr id="6" name="Picture 5" descr="user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4640" y="2240280"/>
            <a:ext cx="2540160" cy="2743200"/>
          </a:xfrm>
          <a:prstGeom prst="rect">
            <a:avLst/>
          </a:prstGeom>
        </p:spPr>
      </p:pic>
      <p:pic>
        <p:nvPicPr>
          <p:cNvPr id="7" name="Picture 6" descr="user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3799" y="2240280"/>
            <a:ext cx="2557440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" y="5166360"/>
            <a:ext cx="5394960" cy="1188720"/>
          </a:xfrm>
          <a:prstGeom prst="roundRect">
            <a:avLst>
              <a:gd name="adj" fmla="val 12000"/>
            </a:avLst>
          </a:prstGeom>
          <a:solidFill>
            <a:srgbClr val="C8E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600" b="1">
                <a:solidFill>
                  <a:srgbClr val="000000"/>
                </a:solidFill>
                <a:latin typeface="Apple SD Gothic Neo"/>
              </a:rPr>
              <a:t>같은 점</a:t>
            </a:r>
          </a:p>
          <a:p>
            <a:pPr algn="l"/>
            <a:r>
              <a:rPr sz="1500" b="0">
                <a:solidFill>
                  <a:srgbClr val="000000"/>
                </a:solidFill>
                <a:latin typeface="Apple SD Gothic Neo"/>
              </a:rPr>
              <a:t>상속(User→Policyholder·Employee)과 모든 필드가 동일.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5166360"/>
            <a:ext cx="5394960" cy="1188720"/>
          </a:xfrm>
          <a:prstGeom prst="roundRect">
            <a:avLst>
              <a:gd name="adj" fmla="val 12000"/>
            </a:avLst>
          </a:prstGeom>
          <a:solidFill>
            <a:srgbClr val="EFD4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600" b="1">
                <a:solidFill>
                  <a:srgbClr val="000000"/>
                </a:solidFill>
                <a:latin typeface="Apple SD Gothic Neo"/>
              </a:rPr>
              <a:t>다른 점</a:t>
            </a:r>
          </a:p>
          <a:p>
            <a:pPr algn="l"/>
            <a:r>
              <a:rPr sz="1500" b="0">
                <a:solidFill>
                  <a:srgbClr val="000000"/>
                </a:solidFill>
                <a:latin typeface="Apple SD Gothic Neo"/>
              </a:rPr>
              <a:t>userId(String) → id(Long), birthDate Date → LocalDate.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spc="60">
                <a:solidFill>
                  <a:srgbClr val="555555"/>
                </a:solidFill>
                <a:latin typeface="Menlo"/>
              </a:rPr>
              <a:t>DESIGN =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960120"/>
            <a:ext cx="106984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spc="-80">
                <a:solidFill>
                  <a:srgbClr val="000000"/>
                </a:solidFill>
                <a:latin typeface="Apple SD Gothic Neo"/>
              </a:rPr>
              <a:t>상품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5394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spc="50">
                <a:solidFill>
                  <a:srgbClr val="555555"/>
                </a:solidFill>
                <a:latin typeface="Menlo"/>
              </a:rPr>
              <a:t>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0" y="1828800"/>
            <a:ext cx="5394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spc="50">
                <a:solidFill>
                  <a:srgbClr val="555555"/>
                </a:solidFill>
                <a:latin typeface="Menlo"/>
              </a:rPr>
              <a:t>코드 역설계</a:t>
            </a:r>
          </a:p>
        </p:txBody>
      </p:sp>
      <p:pic>
        <p:nvPicPr>
          <p:cNvPr id="6" name="Picture 5" descr="produc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050" y="2240280"/>
            <a:ext cx="4811339" cy="2743200"/>
          </a:xfrm>
          <a:prstGeom prst="rect">
            <a:avLst/>
          </a:prstGeom>
        </p:spPr>
      </p:pic>
      <p:pic>
        <p:nvPicPr>
          <p:cNvPr id="7" name="Picture 6" descr="produc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6850" y="2240280"/>
            <a:ext cx="4811339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" y="5166360"/>
            <a:ext cx="5394960" cy="1188720"/>
          </a:xfrm>
          <a:prstGeom prst="roundRect">
            <a:avLst>
              <a:gd name="adj" fmla="val 12000"/>
            </a:avLst>
          </a:prstGeom>
          <a:solidFill>
            <a:srgbClr val="C8E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600" b="1">
                <a:solidFill>
                  <a:srgbClr val="000000"/>
                </a:solidFill>
                <a:latin typeface="Apple SD Gothic Neo"/>
              </a:rPr>
              <a:t>같은 점</a:t>
            </a:r>
          </a:p>
          <a:p>
            <a:pPr algn="l"/>
            <a:r>
              <a:rPr sz="1500" b="0">
                <a:solidFill>
                  <a:srgbClr val="000000"/>
                </a:solidFill>
                <a:latin typeface="Apple SD Gothic Neo"/>
              </a:rPr>
              <a:t>상품 상속과 CoverageItem 합성 관계가 동일.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5166360"/>
            <a:ext cx="5394960" cy="1188720"/>
          </a:xfrm>
          <a:prstGeom prst="roundRect">
            <a:avLst>
              <a:gd name="adj" fmla="val 12000"/>
            </a:avLst>
          </a:prstGeom>
          <a:solidFill>
            <a:srgbClr val="EFD4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600" b="1">
                <a:solidFill>
                  <a:srgbClr val="000000"/>
                </a:solidFill>
                <a:latin typeface="Apple SD Gothic Neo"/>
              </a:rPr>
              <a:t>다른 점</a:t>
            </a:r>
          </a:p>
          <a:p>
            <a:pPr algn="l"/>
            <a:r>
              <a:rPr sz="1500" b="0">
                <a:solidFill>
                  <a:srgbClr val="000000"/>
                </a:solidFill>
                <a:latin typeface="Apple SD Gothic Neo"/>
              </a:rPr>
              <a:t>productId·itemId(String) → id(Long).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spc="60">
                <a:solidFill>
                  <a:srgbClr val="555555"/>
                </a:solidFill>
                <a:latin typeface="Menlo"/>
              </a:rPr>
              <a:t>DESIGN =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960120"/>
            <a:ext cx="106984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spc="-80">
                <a:solidFill>
                  <a:srgbClr val="000000"/>
                </a:solidFill>
                <a:latin typeface="Apple SD Gothic Neo"/>
              </a:rPr>
              <a:t>계약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5394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spc="50">
                <a:solidFill>
                  <a:srgbClr val="555555"/>
                </a:solidFill>
                <a:latin typeface="Menlo"/>
              </a:rPr>
              <a:t>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0" y="1828800"/>
            <a:ext cx="5394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spc="50">
                <a:solidFill>
                  <a:srgbClr val="555555"/>
                </a:solidFill>
                <a:latin typeface="Menlo"/>
              </a:rPr>
              <a:t>코드 역설계</a:t>
            </a:r>
          </a:p>
        </p:txBody>
      </p:sp>
      <p:pic>
        <p:nvPicPr>
          <p:cNvPr id="6" name="Picture 5" descr="contrac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755" y="2240280"/>
            <a:ext cx="2375928" cy="2743200"/>
          </a:xfrm>
          <a:prstGeom prst="rect">
            <a:avLst/>
          </a:prstGeom>
        </p:spPr>
      </p:pic>
      <p:pic>
        <p:nvPicPr>
          <p:cNvPr id="7" name="Picture 6" descr="contrac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986" y="2240280"/>
            <a:ext cx="3793066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" y="5166360"/>
            <a:ext cx="5394960" cy="1188720"/>
          </a:xfrm>
          <a:prstGeom prst="roundRect">
            <a:avLst>
              <a:gd name="adj" fmla="val 12000"/>
            </a:avLst>
          </a:prstGeom>
          <a:solidFill>
            <a:srgbClr val="C8E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600" b="1">
                <a:solidFill>
                  <a:srgbClr val="000000"/>
                </a:solidFill>
                <a:latin typeface="Apple SD Gothic Neo"/>
              </a:rPr>
              <a:t>같은 점</a:t>
            </a:r>
          </a:p>
          <a:p>
            <a:pPr algn="l"/>
            <a:r>
              <a:rPr sz="1500" b="0">
                <a:solidFill>
                  <a:srgbClr val="000000"/>
                </a:solidFill>
                <a:latin typeface="Apple SD Gothic Neo"/>
              </a:rPr>
              <a:t>계약–납부–고지 합성 구조가 동일.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5166360"/>
            <a:ext cx="5394960" cy="1188720"/>
          </a:xfrm>
          <a:prstGeom prst="roundRect">
            <a:avLst>
              <a:gd name="adj" fmla="val 12000"/>
            </a:avLst>
          </a:prstGeom>
          <a:solidFill>
            <a:srgbClr val="EFD4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600" b="1">
                <a:solidFill>
                  <a:srgbClr val="000000"/>
                </a:solidFill>
                <a:latin typeface="Apple SD Gothic Neo"/>
              </a:rPr>
              <a:t>다른 점</a:t>
            </a:r>
          </a:p>
          <a:p>
            <a:pPr algn="l"/>
            <a:r>
              <a:rPr sz="1500" b="0">
                <a:solidFill>
                  <a:srgbClr val="000000"/>
                </a:solidFill>
                <a:latin typeface="Apple SD Gothic Neo"/>
              </a:rPr>
              <a:t>자동이체 정보 AutoDebit 추가, 날짜 타입 변경.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spc="60">
                <a:solidFill>
                  <a:srgbClr val="555555"/>
                </a:solidFill>
                <a:latin typeface="Menlo"/>
              </a:rPr>
              <a:t>DESIGN =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960120"/>
            <a:ext cx="106984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spc="-80">
                <a:solidFill>
                  <a:srgbClr val="000000"/>
                </a:solidFill>
                <a:latin typeface="Apple SD Gothic Neo"/>
              </a:rPr>
              <a:t>청구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5394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spc="50">
                <a:solidFill>
                  <a:srgbClr val="555555"/>
                </a:solidFill>
                <a:latin typeface="Menlo"/>
              </a:rPr>
              <a:t>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0" y="1828800"/>
            <a:ext cx="5394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spc="50">
                <a:solidFill>
                  <a:srgbClr val="555555"/>
                </a:solidFill>
                <a:latin typeface="Menlo"/>
              </a:rPr>
              <a:t>코드 역설계</a:t>
            </a:r>
          </a:p>
        </p:txBody>
      </p:sp>
      <p:pic>
        <p:nvPicPr>
          <p:cNvPr id="6" name="Picture 5" descr="claim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7340" y="2240280"/>
            <a:ext cx="3214758" cy="2743200"/>
          </a:xfrm>
          <a:prstGeom prst="rect">
            <a:avLst/>
          </a:prstGeom>
        </p:spPr>
      </p:pic>
      <p:pic>
        <p:nvPicPr>
          <p:cNvPr id="7" name="Picture 6" descr="claim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3762" y="2240280"/>
            <a:ext cx="2337515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" y="5166360"/>
            <a:ext cx="5394960" cy="1188720"/>
          </a:xfrm>
          <a:prstGeom prst="roundRect">
            <a:avLst>
              <a:gd name="adj" fmla="val 12000"/>
            </a:avLst>
          </a:prstGeom>
          <a:solidFill>
            <a:srgbClr val="C8E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600" b="1">
                <a:solidFill>
                  <a:srgbClr val="000000"/>
                </a:solidFill>
                <a:latin typeface="Apple SD Gothic Neo"/>
              </a:rPr>
              <a:t>같은 점</a:t>
            </a:r>
          </a:p>
          <a:p>
            <a:pPr algn="l"/>
            <a:r>
              <a:rPr sz="1500" b="0">
                <a:solidFill>
                  <a:srgbClr val="000000"/>
                </a:solidFill>
                <a:latin typeface="Apple SD Gothic Neo"/>
              </a:rPr>
              <a:t>Claim 상속(의료/자동차)과 필드가 동일.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5166360"/>
            <a:ext cx="5394960" cy="1188720"/>
          </a:xfrm>
          <a:prstGeom prst="roundRect">
            <a:avLst>
              <a:gd name="adj" fmla="val 12000"/>
            </a:avLst>
          </a:prstGeom>
          <a:solidFill>
            <a:srgbClr val="EFD4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600" b="1">
                <a:solidFill>
                  <a:srgbClr val="000000"/>
                </a:solidFill>
                <a:latin typeface="Apple SD Gothic Neo"/>
              </a:rPr>
              <a:t>다른 점</a:t>
            </a:r>
          </a:p>
          <a:p>
            <a:pPr algn="l"/>
            <a:r>
              <a:rPr sz="1500" b="0">
                <a:solidFill>
                  <a:srgbClr val="000000"/>
                </a:solidFill>
                <a:latin typeface="Apple SD Gothic Neo"/>
              </a:rPr>
              <a:t>첨부파일 ClaimAttachment 추가, ClaimStatus 4값 → 6값.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spc="60">
                <a:solidFill>
                  <a:srgbClr val="555555"/>
                </a:solidFill>
                <a:latin typeface="Menlo"/>
              </a:rPr>
              <a:t>DESIGN =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960120"/>
            <a:ext cx="106984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spc="-80">
                <a:solidFill>
                  <a:srgbClr val="000000"/>
                </a:solidFill>
                <a:latin typeface="Apple SD Gothic Neo"/>
              </a:rPr>
              <a:t>청구 상태값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2286000"/>
            <a:ext cx="10424160" cy="18288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468880"/>
            <a:ext cx="987552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>
                <a:solidFill>
                  <a:srgbClr val="000000"/>
                </a:solidFill>
                <a:latin typeface="Menlo"/>
              </a:rPr>
              <a:t>public enum ClaimStatus {</a:t>
            </a:r>
          </a:p>
          <a:p>
            <a:pPr algn="l"/>
            <a:r>
              <a:rPr sz="1800" b="0">
                <a:solidFill>
                  <a:srgbClr val="000000"/>
                </a:solidFill>
                <a:latin typeface="Menlo"/>
              </a:rPr>
              <a:t>    PENDING, IN_REVIEW, APPROVED, REJECTED,   // 설계 4값</a:t>
            </a:r>
          </a:p>
          <a:p>
            <a:pPr algn="l"/>
            <a:r>
              <a:rPr sz="1800" b="0">
                <a:solidFill>
                  <a:srgbClr val="000000"/>
                </a:solidFill>
                <a:latin typeface="Menlo"/>
              </a:rPr>
              <a:t>    COMPLETED, FAILED                         // 구현 추가: 송금 성공·실패</a:t>
            </a:r>
          </a:p>
          <a:p>
            <a:pPr algn="l"/>
            <a:r>
              <a:rPr sz="1800" b="0">
                <a:solidFill>
                  <a:srgbClr val="000000"/>
                </a:solidFill>
                <a:latin typeface="Menlo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38912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spc="-30">
                <a:solidFill>
                  <a:srgbClr val="000000"/>
                </a:solidFill>
                <a:latin typeface="Apple SD Gothic Neo"/>
              </a:rPr>
              <a:t>송금 결과까지 추적하려고 두 값을 더했다.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spc="60">
                <a:solidFill>
                  <a:srgbClr val="555555"/>
                </a:solidFill>
                <a:latin typeface="Menlo"/>
              </a:rPr>
              <a:t>DESIGN =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960120"/>
            <a:ext cx="106984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spc="-80">
                <a:solidFill>
                  <a:srgbClr val="000000"/>
                </a:solidFill>
                <a:latin typeface="Apple SD Gothic Neo"/>
              </a:rPr>
              <a:t>심사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5394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spc="50">
                <a:solidFill>
                  <a:srgbClr val="555555"/>
                </a:solidFill>
                <a:latin typeface="Menlo"/>
              </a:rPr>
              <a:t>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0" y="1828800"/>
            <a:ext cx="5394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spc="50">
                <a:solidFill>
                  <a:srgbClr val="555555"/>
                </a:solidFill>
                <a:latin typeface="Menlo"/>
              </a:rPr>
              <a:t>코드 역설계</a:t>
            </a:r>
          </a:p>
        </p:txBody>
      </p:sp>
      <p:pic>
        <p:nvPicPr>
          <p:cNvPr id="6" name="Picture 5" descr="review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2240280"/>
            <a:ext cx="2743200" cy="2743200"/>
          </a:xfrm>
          <a:prstGeom prst="rect">
            <a:avLst/>
          </a:prstGeom>
        </p:spPr>
      </p:pic>
      <p:pic>
        <p:nvPicPr>
          <p:cNvPr id="7" name="Picture 6" descr="review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6457" y="2240280"/>
            <a:ext cx="2592125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" y="5166360"/>
            <a:ext cx="5394960" cy="1188720"/>
          </a:xfrm>
          <a:prstGeom prst="roundRect">
            <a:avLst>
              <a:gd name="adj" fmla="val 12000"/>
            </a:avLst>
          </a:prstGeom>
          <a:solidFill>
            <a:srgbClr val="C8E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600" b="1">
                <a:solidFill>
                  <a:srgbClr val="000000"/>
                </a:solidFill>
                <a:latin typeface="Apple SD Gothic Neo"/>
              </a:rPr>
              <a:t>같은 점</a:t>
            </a:r>
          </a:p>
          <a:p>
            <a:pPr algn="l"/>
            <a:r>
              <a:rPr sz="1500" b="0">
                <a:solidFill>
                  <a:srgbClr val="000000"/>
                </a:solidFill>
                <a:latin typeface="Apple SD Gothic Neo"/>
              </a:rPr>
              <a:t>Review 상속(가입심사/지급심사) 구조가 동일.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5166360"/>
            <a:ext cx="5394960" cy="1188720"/>
          </a:xfrm>
          <a:prstGeom prst="roundRect">
            <a:avLst>
              <a:gd name="adj" fmla="val 12000"/>
            </a:avLst>
          </a:prstGeom>
          <a:solidFill>
            <a:srgbClr val="EFD4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600" b="1">
                <a:solidFill>
                  <a:srgbClr val="000000"/>
                </a:solidFill>
                <a:latin typeface="Apple SD Gothic Neo"/>
              </a:rPr>
              <a:t>다른 점</a:t>
            </a:r>
          </a:p>
          <a:p>
            <a:pPr algn="l"/>
            <a:r>
              <a:rPr sz="1500" b="0">
                <a:solidFill>
                  <a:srgbClr val="000000"/>
                </a:solidFill>
                <a:latin typeface="Apple SD Gothic Neo"/>
              </a:rPr>
              <a:t>지급심사 대상이 의료청구 → Claim(의료+자동차)으로 확대.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spc="60">
                <a:solidFill>
                  <a:srgbClr val="555555"/>
                </a:solidFill>
                <a:latin typeface="Menlo"/>
              </a:rPr>
              <a:t>DESIGN =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960120"/>
            <a:ext cx="106984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spc="-80">
                <a:solidFill>
                  <a:srgbClr val="000000"/>
                </a:solidFill>
                <a:latin typeface="Apple SD Gothic Neo"/>
              </a:rPr>
              <a:t>사고이력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5394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spc="50">
                <a:solidFill>
                  <a:srgbClr val="555555"/>
                </a:solidFill>
                <a:latin typeface="Menlo"/>
              </a:rPr>
              <a:t>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0" y="1828800"/>
            <a:ext cx="5394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spc="50">
                <a:solidFill>
                  <a:srgbClr val="555555"/>
                </a:solidFill>
                <a:latin typeface="Menlo"/>
              </a:rPr>
              <a:t>코드 역설계</a:t>
            </a:r>
          </a:p>
        </p:txBody>
      </p:sp>
      <p:pic>
        <p:nvPicPr>
          <p:cNvPr id="6" name="Picture 5" descr="acciden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6332" y="2240280"/>
            <a:ext cx="1496775" cy="2743200"/>
          </a:xfrm>
          <a:prstGeom prst="rect">
            <a:avLst/>
          </a:prstGeom>
        </p:spPr>
      </p:pic>
      <p:pic>
        <p:nvPicPr>
          <p:cNvPr id="7" name="Picture 6" descr="acciden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9199" y="2240280"/>
            <a:ext cx="3326641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" y="5166360"/>
            <a:ext cx="5394960" cy="1188720"/>
          </a:xfrm>
          <a:prstGeom prst="roundRect">
            <a:avLst>
              <a:gd name="adj" fmla="val 12000"/>
            </a:avLst>
          </a:prstGeom>
          <a:solidFill>
            <a:srgbClr val="C8E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600" b="1">
                <a:solidFill>
                  <a:srgbClr val="000000"/>
                </a:solidFill>
                <a:latin typeface="Apple SD Gothic Neo"/>
              </a:rPr>
              <a:t>같은 점</a:t>
            </a:r>
          </a:p>
          <a:p>
            <a:pPr algn="l"/>
            <a:r>
              <a:rPr sz="1500" b="0">
                <a:solidFill>
                  <a:srgbClr val="000000"/>
                </a:solidFill>
                <a:latin typeface="Apple SD Gothic Neo"/>
              </a:rPr>
              <a:t>사고 집계 정보(건수·지급액·면허상태)를 동일하게 보유.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5166360"/>
            <a:ext cx="5394960" cy="1188720"/>
          </a:xfrm>
          <a:prstGeom prst="roundRect">
            <a:avLst>
              <a:gd name="adj" fmla="val 12000"/>
            </a:avLst>
          </a:prstGeom>
          <a:solidFill>
            <a:srgbClr val="EFD4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600" b="1">
                <a:solidFill>
                  <a:srgbClr val="000000"/>
                </a:solidFill>
                <a:latin typeface="Apple SD Gothic Neo"/>
              </a:rPr>
              <a:t>다른 점</a:t>
            </a:r>
          </a:p>
          <a:p>
            <a:pPr algn="l"/>
            <a:r>
              <a:rPr sz="1500" b="0">
                <a:solidFill>
                  <a:srgbClr val="000000"/>
                </a:solidFill>
                <a:latin typeface="Apple SD Gothic Neo"/>
              </a:rPr>
              <a:t>외부 연동이 더미라 AccidentRecord 제거, 값 객체로 단순화.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spc="60">
                <a:solidFill>
                  <a:srgbClr val="555555"/>
                </a:solidFill>
                <a:latin typeface="Menlo"/>
              </a:rPr>
              <a:t>USE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960120"/>
            <a:ext cx="106984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spc="-80">
                <a:solidFill>
                  <a:srgbClr val="000000"/>
                </a:solidFill>
                <a:latin typeface="Apple SD Gothic Neo"/>
              </a:rPr>
              <a:t>실제 동작 경로</a:t>
            </a:r>
          </a:p>
        </p:txBody>
      </p:sp>
      <p:pic>
        <p:nvPicPr>
          <p:cNvPr id="4" name="Picture 3" descr="uc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6800" y="1737360"/>
            <a:ext cx="3787918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53212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spc="-30">
                <a:solidFill>
                  <a:srgbClr val="000000"/>
                </a:solidFill>
                <a:latin typeface="Apple SD Gothic Neo"/>
              </a:rPr>
              <a:t>노란 경로가 데모에서 실제로 동작한다.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spc="60">
                <a:solidFill>
                  <a:srgbClr val="555555"/>
                </a:solidFill>
                <a:latin typeface="Menlo"/>
              </a:rPr>
              <a:t>HOW WE USED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960120"/>
            <a:ext cx="106984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spc="-80">
                <a:solidFill>
                  <a:srgbClr val="000000"/>
                </a:solidFill>
                <a:latin typeface="Apple SD Gothic Neo"/>
              </a:rPr>
              <a:t>AI를 어떻게 썼나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828800"/>
            <a:ext cx="5212080" cy="1463040"/>
          </a:xfrm>
          <a:prstGeom prst="roundRect">
            <a:avLst>
              <a:gd name="adj" fmla="val 14000"/>
            </a:avLst>
          </a:prstGeom>
          <a:solidFill>
            <a:srgbClr val="C8E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4663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Apple SD Gothic Neo"/>
              </a:rPr>
              <a:t>사람</a:t>
            </a:r>
          </a:p>
          <a:p>
            <a:pPr algn="l"/>
            <a:r>
              <a:rPr sz="1800" b="0">
                <a:solidFill>
                  <a:srgbClr val="000000"/>
                </a:solidFill>
                <a:latin typeface="Apple SD Gothic Neo"/>
              </a:rPr>
              <a:t>설계·결정(ADR)·리뷰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828800"/>
            <a:ext cx="5212080" cy="1463040"/>
          </a:xfrm>
          <a:prstGeom prst="roundRect">
            <a:avLst>
              <a:gd name="adj" fmla="val 14000"/>
            </a:avLst>
          </a:prstGeom>
          <a:solidFill>
            <a:srgbClr val="C5B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011680"/>
            <a:ext cx="4663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Apple SD Gothic Neo"/>
              </a:rPr>
              <a:t>AI</a:t>
            </a:r>
          </a:p>
          <a:p>
            <a:pPr algn="l"/>
            <a:r>
              <a:rPr sz="1800" b="0">
                <a:solidFill>
                  <a:srgbClr val="000000"/>
                </a:solidFill>
                <a:latin typeface="Apple SD Gothic Neo"/>
              </a:rPr>
              <a:t>구현·테스트·리팩토링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0847" y="3749039"/>
            <a:ext cx="1920240" cy="1005840"/>
          </a:xfrm>
          <a:prstGeom prst="roundRect">
            <a:avLst>
              <a:gd name="adj" fmla="val 18000"/>
            </a:avLst>
          </a:prstGeom>
          <a:solidFill>
            <a:srgbClr val="F4E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000" b="1">
                <a:solidFill>
                  <a:srgbClr val="000000"/>
                </a:solidFill>
                <a:latin typeface="Apple SD Gothic Neo"/>
              </a:rPr>
              <a:t>설계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19375" y="39319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000000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58287" y="3749039"/>
            <a:ext cx="1920240" cy="1005840"/>
          </a:xfrm>
          <a:prstGeom prst="roundRect">
            <a:avLst>
              <a:gd name="adj" fmla="val 18000"/>
            </a:avLst>
          </a:prstGeom>
          <a:solidFill>
            <a:srgbClr val="F4E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000" b="1">
                <a:solidFill>
                  <a:srgbClr val="000000"/>
                </a:solidFill>
                <a:latin typeface="Apple SD Gothic Neo"/>
              </a:rPr>
              <a:t>취조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6815" y="39319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000000"/>
                </a:solidFill>
                <a:latin typeface="Apple SD Gothic Neo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35727" y="3749039"/>
            <a:ext cx="1920240" cy="1005840"/>
          </a:xfrm>
          <a:prstGeom prst="roundRect">
            <a:avLst>
              <a:gd name="adj" fmla="val 18000"/>
            </a:avLst>
          </a:prstGeom>
          <a:solidFill>
            <a:srgbClr val="F4E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000" b="1">
                <a:solidFill>
                  <a:srgbClr val="000000"/>
                </a:solidFill>
                <a:latin typeface="Apple SD Gothic Neo"/>
              </a:rPr>
              <a:t>계획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74255" y="39319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000000"/>
                </a:solidFill>
                <a:latin typeface="Apple SD Gothic Neo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13167" y="3749039"/>
            <a:ext cx="1920240" cy="1005840"/>
          </a:xfrm>
          <a:prstGeom prst="roundRect">
            <a:avLst>
              <a:gd name="adj" fmla="val 18000"/>
            </a:avLst>
          </a:prstGeom>
          <a:solidFill>
            <a:srgbClr val="F3C9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000" b="1">
                <a:solidFill>
                  <a:srgbClr val="000000"/>
                </a:solidFill>
                <a:latin typeface="Apple SD Gothic Neo"/>
              </a:rPr>
              <a:t>TDD 구현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51695" y="39319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000000"/>
                </a:solidFill>
                <a:latin typeface="Apple SD Gothic Neo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90607" y="3749039"/>
            <a:ext cx="1920240" cy="1005840"/>
          </a:xfrm>
          <a:prstGeom prst="roundRect">
            <a:avLst>
              <a:gd name="adj" fmla="val 18000"/>
            </a:avLst>
          </a:prstGeom>
          <a:solidFill>
            <a:srgbClr val="F4E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000" b="1">
                <a:solidFill>
                  <a:srgbClr val="000000"/>
                </a:solidFill>
                <a:latin typeface="Apple SD Gothic Neo"/>
              </a:rPr>
              <a:t>리뷰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12064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spc="-30">
                <a:solidFill>
                  <a:srgbClr val="000000"/>
                </a:solidFill>
                <a:latin typeface="Apple SD Gothic Neo"/>
              </a:rPr>
              <a:t>설계·결정은 사람이, 구현은 AI가 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spc="60">
                <a:solidFill>
                  <a:srgbClr val="555555"/>
                </a:solidFill>
                <a:latin typeface="Menlo"/>
              </a:rPr>
              <a:t>AI PITFALLS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960120"/>
            <a:ext cx="106984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spc="-80">
                <a:solidFill>
                  <a:srgbClr val="000000"/>
                </a:solidFill>
                <a:latin typeface="Apple SD Gothic Neo"/>
              </a:rPr>
              <a:t>문제와 해결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920240"/>
            <a:ext cx="5212080" cy="1554480"/>
          </a:xfrm>
          <a:prstGeom prst="roundRect">
            <a:avLst>
              <a:gd name="adj" fmla="val 12000"/>
            </a:avLst>
          </a:prstGeom>
          <a:solidFill>
            <a:srgbClr val="DCE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148840"/>
            <a:ext cx="45720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spc="-30">
                <a:solidFill>
                  <a:srgbClr val="000000"/>
                </a:solidFill>
                <a:latin typeface="Apple SD Gothic Neo"/>
              </a:rPr>
              <a:t>성급한 추상화</a:t>
            </a:r>
          </a:p>
          <a:p>
            <a:pPr algn="l"/>
            <a:r>
              <a:rPr sz="1800" b="0" spc="-30">
                <a:solidFill>
                  <a:srgbClr val="000000"/>
                </a:solidFill>
                <a:latin typeface="Apple SD Gothic Neo"/>
              </a:rPr>
              <a:t>실익 없는 계층 분리 → 되돌림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920240"/>
            <a:ext cx="5212080" cy="1554480"/>
          </a:xfrm>
          <a:prstGeom prst="roundRect">
            <a:avLst>
              <a:gd name="adj" fmla="val 12000"/>
            </a:avLst>
          </a:prstGeom>
          <a:solidFill>
            <a:srgbClr val="F4E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0" y="2148840"/>
            <a:ext cx="45720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spc="-30">
                <a:solidFill>
                  <a:srgbClr val="000000"/>
                </a:solidFill>
                <a:latin typeface="Apple SD Gothic Neo"/>
              </a:rPr>
              <a:t>명세와 불일치</a:t>
            </a:r>
          </a:p>
          <a:p>
            <a:pPr algn="l"/>
            <a:r>
              <a:rPr sz="1800" b="0" spc="-30">
                <a:solidFill>
                  <a:srgbClr val="000000"/>
                </a:solidFill>
                <a:latin typeface="Apple SD Gothic Neo"/>
              </a:rPr>
              <a:t>자동 배정 → 수동 배정 정정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657600"/>
            <a:ext cx="5212080" cy="1554480"/>
          </a:xfrm>
          <a:prstGeom prst="roundRect">
            <a:avLst>
              <a:gd name="adj" fmla="val 12000"/>
            </a:avLst>
          </a:prstGeom>
          <a:solidFill>
            <a:srgbClr val="C8E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3886200"/>
            <a:ext cx="45720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spc="-30">
                <a:solidFill>
                  <a:srgbClr val="000000"/>
                </a:solidFill>
                <a:latin typeface="Apple SD Gothic Neo"/>
              </a:rPr>
              <a:t>계층 패턴 일탈</a:t>
            </a:r>
          </a:p>
          <a:p>
            <a:pPr algn="l"/>
            <a:r>
              <a:rPr sz="1800" b="0" spc="-30">
                <a:solidFill>
                  <a:srgbClr val="000000"/>
                </a:solidFill>
                <a:latin typeface="Apple SD Gothic Neo"/>
              </a:rPr>
              <a:t>점검으로 식별·관리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657600"/>
            <a:ext cx="5212080" cy="1554480"/>
          </a:xfrm>
          <a:prstGeom prst="roundRect">
            <a:avLst>
              <a:gd name="adj" fmla="val 12000"/>
            </a:avLst>
          </a:prstGeom>
          <a:solidFill>
            <a:srgbClr val="EFD4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3886200"/>
            <a:ext cx="45720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spc="-30">
                <a:solidFill>
                  <a:srgbClr val="000000"/>
                </a:solidFill>
                <a:latin typeface="Apple SD Gothic Neo"/>
              </a:rPr>
              <a:t>용어·도메인 오염</a:t>
            </a:r>
          </a:p>
          <a:p>
            <a:pPr algn="l"/>
            <a:r>
              <a:rPr sz="1800" b="0" spc="-30">
                <a:solidFill>
                  <a:srgbClr val="000000"/>
                </a:solidFill>
                <a:latin typeface="Apple SD Gothic Neo"/>
              </a:rPr>
              <a:t>용어집·ADR로 사전 차단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48640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spc="-30">
                <a:solidFill>
                  <a:srgbClr val="000000"/>
                </a:solidFill>
                <a:latin typeface="Apple SD Gothic Neo"/>
              </a:rPr>
              <a:t>AI는 빠르지만, 방향은 사람이 잡았다.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45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spc="80">
                <a:solidFill>
                  <a:srgbClr val="C5B0F4"/>
                </a:solidFill>
                <a:latin typeface="Menlo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743200"/>
            <a:ext cx="106070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spc="-90">
                <a:solidFill>
                  <a:srgbClr val="FFFFFF"/>
                </a:solidFill>
                <a:latin typeface="Apple SD Gothic Neo"/>
              </a:rPr>
              <a:t>설계한 그대로 구현했고,</a:t>
            </a:r>
          </a:p>
          <a:p>
            <a:pPr algn="l"/>
            <a:r>
              <a:rPr sz="4400" b="1" spc="-90">
                <a:solidFill>
                  <a:srgbClr val="FFFFFF"/>
                </a:solidFill>
                <a:latin typeface="Apple SD Gothic Neo"/>
              </a:rPr>
              <a:t>그 과정에서 AI를 통제했다.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
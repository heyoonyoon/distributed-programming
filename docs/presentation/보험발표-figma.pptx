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310" r:id="rId19"/>
    <p:sldId id="309" r:id="rId20"/>
    <p:sldId id="311" r:id="rId21"/>
    <p:sldId id="31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300" r:id="rId31"/>
    <p:sldId id="308" r:id="rId32"/>
    <p:sldId id="301" r:id="rId33"/>
    <p:sldId id="306" r:id="rId34"/>
    <p:sldId id="304" r:id="rId35"/>
    <p:sldId id="297" r:id="rId36"/>
    <p:sldId id="299" r:id="rId37"/>
    <p:sldId id="285" r:id="rId38"/>
    <p:sldId id="287" r:id="rId39"/>
    <p:sldId id="288" r:id="rId40"/>
    <p:sldId id="307" r:id="rId41"/>
    <p:sldId id="290" r:id="rId42"/>
    <p:sldId id="291" r:id="rId43"/>
    <p:sldId id="292" r:id="rId44"/>
    <p:sldId id="303" r:id="rId45"/>
    <p:sldId id="283" r:id="rId4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1348"/>
    <p:restoredTop sz="94813"/>
  </p:normalViewPr>
  <p:slideViewPr>
    <p:cSldViewPr snapToGrid="0" snapToObjects="1">
      <p:cViewPr varScale="1">
        <p:scale>
          <a:sx n="96" d="100"/>
          <a:sy n="96" d="100"/>
        </p:scale>
        <p:origin x="176" y="56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09T00:11:40.52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24575,'5'5'0,"-2"-1"0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09T00:12:14.32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4730 2025 24575,'3'0'0,"-15"0"0,-42 0 0,-9 1 0,-14 2 0,-1 0 0,-10 0 0,-4 0-2126,2 0 0,-6 0 0,-2-1 1,-1 1 2125,13-1 0,-1 0 0,0 0 0,-2 0 0,-1-1 0,-5 1 0,-2-1 0,0 0 0,-1-1 0,2 1 22,3-1 0,0 0 0,1 0 0,1 0 0,2 0-22,-12 0 0,2-1 0,1 1 0,3 1-130,8-1 0,2 1 0,2 1 0,4 0 130,-2 1 0,5 1 0,3 0 0,-16 3 0,6-1 0,14 1 0,3-1 2865,3-2 0,1-2-2865,3-1 0,0-1 1151,0 0 0,0 0-1151,2 0 0,2 0 881,-39 0-881,9-1 0,13-6 0,5-13 0,-3-18 0,-3-22 0,35 20 0,3-3 0,1-5 0,3-3 0,3-5 0,3-1 0,4 1 0,2 0 0,4 4 0,2 2 0,-6-38 0,7 13 0,5 3 0,2 1 0,2-1 0,1 5 0,2 9 0,0 8 0,0 4 0,0 2 0,3-9 0,6-5 0,6-5 0,4 1 0,0 9 0,1 6 0,-2 9 0,2 5 0,3 4 0,4 1 0,4-1 0,2-1 0,2 2 0,0 0 0,4 3 0,4 1 0,0 3 0,0 5 0,-2 5 0,4-1 0,9-1 0,12-2 0,11-4 0,8 2 0,7-2 0,-43 9 0,1 1 0,4 1 0,2 0 0,4 1 0,1 1 0,2 1 0,1 1 0,-1 2 0,-1 1 0,-1 0 0,-1-1 0,-1 2 0,1 0 0,3 0 0,1 0 0,5 0 0,2 0 0,5 0 0,0 0 0,2 0 0,-1 0 0,-3 0 0,-1 0 0,-2 0 0,-2 0 0,-1 0 0,0 0 0,1 0 0,-1 0 0,1 0 0,-1 0 0,1 0 0,-1 0 0,-3 0 0,-1 0 0,-5 0 0,-1 0 0,-5 0 0,-1 0 0,36 0 0,-12 0 0,-6 0 0,-3 2 0,4 0 0,6 3 0,7 2 0,1 2 0,-3 4 0,-7 1 0,-4-1 0,-4 2 0,-6 0 0,-6 2 0,-11 2 0,-10-2 0,-9-2 0,-7 1 0,-4 6 0,0 18 0,2 17 0,0 11 0,2 6 0,-2-5 0,-5-1 0,0 3 0,-6 1 0,-2-4 0,0-9 0,-1-12 0,1-10 0,0-3 0,1 1 0,4-1 0,3 0 0,0-2 0,-4-4 0,-4-5 0,-3-5 0,0-3 0,0 1 0,0 7 0,2 6 0,3 4 0,2 2 0,2 3 0,1 3 0,-1 1 0,-2-6 0,-3-7 0,-3-7 0,-1 1 0,0 4 0,0 3 0,-1 3 0,-4 0 0,-2-2 0,-2-4 0,2-7 0,2-5 0,1-3 0,-3 0 0,-4 4 0,-4 3 0,-2 0 0,0 0 0,2-2 0,1-6 0,0-4 0,1-3 0,1 0 0,-3 4 0,-5 4 0,-3 1 0,-1 0 0,10-6 0,7-3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09T00:12:16.82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1946 595 24575,'-51'7'0,"2"4"0,-6 5 0,-29 9 0,-7 3 0,21-6 0,-2 2 0,0-1 0,1 0 0,1 0 0,2 0 0,-19 3 0,8-2 0,-12 6 0,58-13 0,71-10 0,62-5 0,-32-2 0,4 0 0,8-1 0,1-3 0,-7-2 0,-4-1 0,-12-2 0,-4 0 0,21-9 0,-26 8 0,-17 8 0,-9 2 0,-20-1 0,-40-14 0,-6-3 0,-8-3 0,-25-14 0,-6-4 0,21 8 0,-2-2 0,-1-2-183,-4-2 0,0-2 1,1-1 182,3 1 0,1 0 0,2-1 0,-22-15 0,3-1 0,6 5 0,5 2 0,15 10 0,4 4 0,-22-17 0,31 29 0,28 31 0,33 46 274,2-4 0,5 7-274,10 18 0,2 4 0,4 9 0,0 2 0,-5-5 0,-2-3 0,-5-10 0,-3-6 0,-7-15 0,-2-6 0,8 12 0,-11-31 0,-5-19 0,19-48 0,1-10 0,3-11 0,-4 6 0,3-5 0,0-2-205,6-10 0,2-3 0,-2 1 205,-1 5 0,-2 1 0,-1 4 0,7-13 0,-4 9 0,-10 21 0,-4 9 0,-4 5 0,-34 47 0,-44 47 0,3-6 0,-9 6 0,8-12 0,-4 2 0,-3 0-319,-10 5 0,-3-1 0,-1-2 319,2-3 0,0-3 0,0-3 0,6-4 0,0-3 0,3-3 292,-18 9 1,6-5-293,20-10 0,6-3 0,-23 14 0,42-18 0,43-10 0,68-5 493,2-4 1,12-1-494,-14 0 0,6 0 0,4 0 0,-7 1 0,5 0 0,0 1 0,-1 0-174,-5 0 1,0 0 0,-2 1 0,-3 0 173,8 0 0,-5 0 0,-5 1 0,9 1 0,-16-1 0,-28-2 0,-44-2 0,-56-11 0,-2-9 0,-10-7 0,6-1 0,-4-3 0,-2-3-290,-6-4 0,-2-2 0,1-1 290,2-1 0,0-1 0,4 2 0,10 6 0,4 2 0,3 3 331,-4-3 0,6 4-331,-16-9 0,40 23 0,20 15 0,10 33 0,10 52 0,5-13 0,4 7 0,0-12 0,1 3 0,2 0 0,3 1 0,1 0 0,1-1 0,12 24 0,-1-5 450,-7-21 1,-1-8-451,10 12 0,-11-36 0,-11-32 0,-2-18 0,-1-11 0,0-11 0,6 2 0,-8 13 0,0 6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09T01:52:05.11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0 284 24575,'13'0'0,"32"0"0,51-1 0,-17 0 0,10-1 0,-13 1 0,4-1 0,2 1 0,12-1 0,3 1 0,1-1-368,-23 1 1,1 0 0,-1 0 0,0 1 367,16 0 0,0 2 0,-4 1 0,-8 2 0,-2 1 0,-5 2 178,17 5 1,-6 3-179,-17 2 0,-4 1 0,-12 0 0,-4-1 0,22 7 0,-10-10 0,2-9 1112,13-12-1112,15-13 0,-38 3 0,1-4 0,1-3 0,0-1 0,-5 0 0,-1 1 0,32-14 0,-21 16 0,-18 12 0,-12 7 0,-7 2 0,0 0 0,19 0 0,28 1 0,30 4 0,-38-1 0,2 1 0,3-1 0,0 1 0,-3 0 0,-2 0 0,-3-2 0,-2 0 0,-2-1 0,0 0 0,41 1 0,-5-3 0,-10 0 0,-2-4 0,-22-1 0,4-1 0,17-5 0,8-1 0,-9 1 0,6 0 0,4 1-475,-7 1 1,2 1 0,3 0 0,0 1 474,6 0 0,0 1 0,1 1 0,-1 0 0,-1 1 0,0 1 0,-1 0 0,-3 1-111,14 0 0,-3 1 1,-6 1 110,11 0 0,-8 0 0,-26 0 0,-7 0 0,27 0 0,-20 0 0,-3 0 1862,14-5-1862,12-7 183,-33 3 1,2-1-184,7-2 0,3 0 0,4 0 0,1 2 0,5 0 0,0 3 0,0 0 0,0 1 0,1 3 0,1 0 0,0 1 0,1 0 0,0 1 0,0 0 0,-3 1 0,0 0 0,-1 1 0,-1 0 0,-3 2 0,0 2 0,-4 0 0,-1 2 0,-3 1 0,-1 2 0,-5 0 0,-3 1 0,-3-1 0,-2 0 0,46 13 0,-7-1 0,-5-5 0,-4-6 0,-2-6 0,4-5 0,3 0 0,5 0 0,-2 0 0,-2 0 0,2 0 0,-1 0 0,3 0 0,-1 0 0,-5-2 0,-3-4 0,-7-2 0,-1 0 0,0 2 0,2 2 0,3 1 0,3-1 0,4 2 0,4 2 0,9 0 0,-45 0 0,2 0 0,0-1 0,2 0 0,2-1 0,0-1 0,-1-1 0,0 1 0,-2 0 0,-2 0 0,-3 1 0,-2 1 0,41 1 0,-13 0 0,-9-1 0,-9-2 0,-9-2 0,-12-2 0,-8 0 0,0 3 0,21 6 0,36 8 0,-30-2 0,3 1 0,11 1 0,0-1 0,-4 0 0,-3-3 0,-11-3 0,-5-2 0,25-11 0,-31-6 0,-8-3 0,-1 3 0,0 5 0,5 3 0,3 3 0,-4 1 0,-8 2 0,-15-1 0,-7 1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09T01:52:10.06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1 245 24575,'8'-6'0,"26"-9"0,29-13 0,-15 9 0,4 1 0,9-4 0,1 1 0,0 1 0,-1 2 0,-5 3 0,-1 3 0,40-4 0,-24 9 0,-18 7 0,-7 5 0,4 14 0,19 13 0,-22-8 0,3 1 0,9 5 0,2 0 0,4 0 0,3-1 0,1 0 0,1-2 0,-1-4 0,1-5 0,2-4 0,0-4 0,-2-5 0,-1-6 0,-1-5 0,-3-5 0,-6-3 0,-4-2 0,29-18 0,-22 6 0,-22 12 0,-9 9 0,-3 5 0,9 11 0,14 13 0,19 10 0,15 5 0,-37-20 0,1-4 0,2-3 0,2-3 0,0-2 0,0-4 0,1-5 0,0-3 0,-1-3 0,0-4 0,-3-3 0,-1-3 0,-1-1 0,-2-1 0,37-13 0,-12 12 0,-10 12 0,-7 9 0,-6 6 0,-6 6 0,-7 4 0,1-1 0,31-9 0,-14-9 0,7-4 0,14-3 0,4-3 0,4-1 0,1-2 0,-8 2 0,-4 1 0,-14 4 0,-4 0 0,32-6 0,-20 3 0,-8-3 0,2-4 0,-1-1 0,-3 4 0,-10 7 0,-12 6 0,-5 3 0,-3 3 0,4 4 0,10 7 0,11 7 0,14 5 0,14-3 0,11-5 0,-39-10 0,1-2 0,1-2 0,0 0 0,44-1 0,-13-1 0,-22 0 0,-16 0 0,-6 7 0,6 20 0,12 18 0,9 12 0,4-4 0,-1-19 0,-6-15 0,-6-16 0,-9-11 0,-11-6 0,-8-2 0,-3 2 0,0 1 0,7 1 0,9 0 0,8 2 0,11 2 0,9-5 0,12-8 0,6-9 0,-8-4 0,-15 3 0,-20 7 0,-25 11 0,-9 7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09T01:52:26.52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87 24575,'6'-5'0,"4"3"0,8 0 0,11 2 0,17 0 0,21 0 0,-19 0 0,6 0 0,37 2 0,10 1 0,-25 0 0,2 2 0,1-1 0,2 1 0,1 0 0,-1 0 0,-8 0 0,-1 1 0,-8 0 0,-1-1 0,-8 1 0,21 0 0,-35 0 0,-20-1 0,-8-1 0,0-2 0,7-3 0,13-8 0,15-8 0,15-10 0,12-5 0,7 7 0,8 7 0,1 11 0,1 3 0,-9-1 0,-18-1 0,-6 0 0,14 3 0,18 8 0,-32 2 0,3 1 0,1 4 0,-1 2 0,-3 1 0,-1 1 0,-3-1 0,-2-1 0,38 9 0,-10-4 0,-4 0 0,6 1 0,7 3 0,-40-11 0,0-1 0,1 0 0,1-3 0,1 0 0,-1-3 0,-1-1 0,-1-2 0,43-1 0,-12-1 0,-12 0 0,-9 0 0,-3 0 0,1 0 0,10 0 0,14 0 0,-32 0 0,2-2 0,5-5 0,1-3 0,3-5 0,0-5 0,1-4 0,-2-2 0,-5-3 0,-2 1 0,-5 4 0,-2 2 0,31-9 0,-18 14 0,-11 10 0,-8 5 0,-4 4 0,3 5 0,12 7 0,25 5 0,-25-6 0,4-1 0,8 2 0,2 0 0,7 1 0,0-1 0,0-1 0,0-1 0,-3-2 0,-2-3 0,-3-3 0,-1-2 0,-7-5 0,-3-2 0,41-16 0,-17-8 0,-14-1 0,-12 7 0,-9 10 0,-1 8 0,7 3 0,7 10 0,9 12 0,3 11 0,3 7 0,4-5 0,6-12 0,7-10 0,3-7 0,-10-4 0,-17 0 0,-14 0 0,-4 0 0,19 14 0,-19 4 0,2 6 0,10 9 0,2 6 0,9 11 0,1 2 0,-3 0 0,-1-3 0,-6-6 0,-1-5 0,-8-9 0,-1-5 0,27-1 0,-4-16 0,-3-13 0,8-12 0,-4-6 0,-1-7 0,-7 1 0,-17 6 0,-9 3 0,-18 11 0,-11 6 0,-5 1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09T01:52:41.64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272 934 24575,'-4'1'0,"2"-20"0,9-15 0,16-17 0,12-4 0,6 15 0,-3 14 0,-7 15 0,-6 9 0,-4 2 0,-2 0 0,0 2 0,3 2 0,5 3 0,7 0 0,5 0 0,4 0 0,4 0 0,-1 4 0,1 1 0,-2 1 0,-6-2 0,-3-4 0,-8 0 0,-4-1 0,-1-1 0,1 1 0,1-2 0,3-1 0,2-2 0,2-1 0,-1 0 0,-1 0 0,-4 0 0,1 0 0,12 0 0,19-3 0,22-6 0,9-6 0,-5-3 0,-18 5 0,-21 6 0,-16 6 0,-13 1 0,-5 0 0,-3 0 0,-1 0 0,2 0 0,2 0 0,9 0 0,11 0 0,15 5 0,13 6 0,6 3 0,4-2 0,-2-5 0,0-4 0,-1-3 0,-1 0 0,-1 0 0,-2 0 0,-9 0 0,-12 0 0,6 0 0,11 0 0,18 0 0,11 0 0,-7 0 0,-11 0 0,-13 0 0,-9 0 0,-7 0 0,-8 0 0,-3 0 0,-4 0 0,4-2 0,9-3 0,6-4 0,4-4 0,-7 3 0,-11 2 0,-8 6 0,-6 2 0,-2 0 0,-1 0 0,1 0 0,8 0 0,12 0 0,20 0 0,21 0 0,10 0 0,2 0 0,-13 0 0,-23 0 0,-16 0 0,-16 0 0,-6 0 0,-1 0 0,2 0 0,2 0 0,3 0 0,3 0 0,10 0 0,16 0 0,18 0 0,13 0 0,0 0 0,-10 0 0,-15 0 0,-17 0 0,-12 0 0,-5 0 0,-2 0 0,5-1 0,13-4 0,20-7 0,16-4 0,9-2 0,-6 5 0,-15 6 0,-18 3 0,-15 4 0,-8 0 0,-5 0 0,1 0 0,8 0 0,11 0 0,12 0 0,12 0 0,6 0 0,3 0 0,-3 0 0,-3 0 0,-8 0 0,-7 0 0,-7 0 0,-10 0 0,-6 0 0,-5 0 0,-1 0 0,0 0 0,-1-1 0,-2 0 0,-1-1 0,-1 0 0,2 1 0,6 0 0,2 1 0,3 0 0,0 0 0,-2 0 0,-5 0 0,-7-1 0,-4-12 0,-5-20 0,-2-18 0,0-9 0,0 3 0,0 12 0,-4 9 0,-3 6 0,-3 3 0,-2 3 0,1 2 0,-1 0 0,-1 0 0,-2-1 0,2 0 0,0 7 0,2 5 0,-4 4 0,-6 3 0,-12 0 0,-21 1 0,-25 0 0,27 2 0,-3 0 0,-6-1 0,-1 0 0,-4 1 0,-1-1 0,2 0 0,1 0 0,1 0 0,1 0 0,0 1 0,0-1 0,0 0 0,0-1 0,-2 1 0,-1 0 0,-1 0 0,-1 1 0,2-1 0,1 1 0,1 1 0,1 0 0,1 0 0,1 0 0,4-1 0,0-2 0,0 0 0,1-2 0,1-1 0,0-1 0,1-1 0,-1 0 0,2 1 0,-1 0 0,1 1 0,1 1 0,-1 0 0,1 1 0,1 0 0,0 0 0,0 0 0,0 1 0,-50-3 0,1 1 0,47 3 0,1 1 0,-2 1 0,1-1 0,-2 1 0,0 0 0,0 0 0,0 0 0,-2 0 0,0 0 0,0 0 0,-1 0 0,1 0 0,1 0 0,1 0 0,0 0 0,-44 0 0,8 0 0,7 0 0,7 0 0,4 0 0,0 3 0,-1-1 0,-4 3 0,-4 0 0,-7 1 0,-9 2 0,46-3 0,-2 0 0,-2 1 0,-1 2 0,0 1 0,-1 1 0,-1 2 0,0 0 0,-2 2 0,1 0 0,3-1 0,2 0 0,-41 7 0,21-7 0,23-6 0,16-3 0,10-1 0,8 1 0,2 2 0,-3 3 0,-3 4 0,-6 3 0,-6 3 0,-4 0 0,-1 0 0,-1-1 0,3-1 0,4-1 0,5-1 0,5-1 0,4 1 0,4 0 0,3 2 0,3 0 0,4 0 0,2 0 0,2 1 0,0-3 0,2 0 0,5-4 0,2-4 0,5 0 0,7 0 0,10 6 0,14 4 0,6 8 0,-1 0 0,-7 2 0,-8-3 0,-4-7 0,-2-3 0,1-6 0,1-2 0,2 1 0,0 0 0,-3 0 0,-2 0 0,-6-1 0,-11-4 0,-3 2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09T01:53:11.91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24575,'5'5'0,"-2"-1"0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customXml" Target="../ink/ink1.xml"/><Relationship Id="rId7" Type="http://schemas.openxmlformats.org/officeDocument/2006/relationships/customXml" Target="../ink/ink3.xml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5" Type="http://schemas.openxmlformats.org/officeDocument/2006/relationships/customXml" Target="../ink/ink2.xml"/><Relationship Id="rId4" Type="http://schemas.openxmlformats.org/officeDocument/2006/relationships/image" Target="../media/image15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customXml" Target="../ink/ink4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9.png"/><Relationship Id="rId4" Type="http://schemas.openxmlformats.org/officeDocument/2006/relationships/customXml" Target="../ink/ink5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customXml" Target="../ink/ink6.xml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customXml" Target="../ink/ink7.xml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customXml" Target="../ink/ink8.xml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40.png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1D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92480" y="2951946"/>
            <a:ext cx="10607040" cy="95410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ko-KR" altLang="en-US" sz="5600" b="1" spc="-120" dirty="0">
                <a:solidFill>
                  <a:srgbClr val="FFFFFF"/>
                </a:solidFill>
                <a:latin typeface="Apple SD Gothic Neo"/>
              </a:rPr>
              <a:t>의료</a:t>
            </a:r>
            <a:r>
              <a:rPr lang="en-US" altLang="ko-KR" sz="5600" b="1" spc="-120" dirty="0">
                <a:solidFill>
                  <a:srgbClr val="FFFFFF"/>
                </a:solidFill>
                <a:latin typeface="Apple SD Gothic Neo"/>
              </a:rPr>
              <a:t>-</a:t>
            </a:r>
            <a:r>
              <a:rPr lang="ko-KR" altLang="en-US" sz="5600" b="1" spc="-120" dirty="0">
                <a:solidFill>
                  <a:srgbClr val="FFFFFF"/>
                </a:solidFill>
                <a:latin typeface="Apple SD Gothic Neo"/>
              </a:rPr>
              <a:t>자동차 보험 시스템</a:t>
            </a:r>
            <a:endParaRPr sz="5600" b="1" spc="-120" dirty="0">
              <a:solidFill>
                <a:srgbClr val="FFFFFF"/>
              </a:solidFill>
              <a:latin typeface="Apple SD Gothic Neo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8925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ko-KR" altLang="en-US" sz="5200" b="1" spc="-100" dirty="0" err="1">
                <a:solidFill>
                  <a:srgbClr val="1A1A1A"/>
                </a:solidFill>
                <a:latin typeface="Apple SD Gothic Neo"/>
              </a:rPr>
              <a:t>액터</a:t>
            </a:r>
            <a:endParaRPr sz="5200" b="1" spc="-100" dirty="0">
              <a:solidFill>
                <a:srgbClr val="1A1A1A"/>
              </a:solidFill>
              <a:latin typeface="Apple SD Gothic Neo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417320" y="2331720"/>
            <a:ext cx="2286000" cy="2286000"/>
          </a:xfrm>
          <a:prstGeom prst="ellipse">
            <a:avLst/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3400" b="1">
                <a:solidFill>
                  <a:srgbClr val="1A1A1A"/>
                </a:solidFill>
                <a:latin typeface="Apple SD Gothic Neo"/>
              </a:rPr>
              <a:t>고객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46320"/>
            <a:ext cx="4114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700" b="1" spc="-30">
                <a:solidFill>
                  <a:srgbClr val="1A1A1A"/>
                </a:solidFill>
                <a:latin typeface="Apple SD Gothic Neo"/>
              </a:rPr>
              <a:t>가입·청구·납부</a:t>
            </a:r>
          </a:p>
        </p:txBody>
      </p:sp>
      <p:sp>
        <p:nvSpPr>
          <p:cNvPr id="6" name="Oval 5"/>
          <p:cNvSpPr/>
          <p:nvPr/>
        </p:nvSpPr>
        <p:spPr>
          <a:xfrm>
            <a:off x="4956048" y="2331720"/>
            <a:ext cx="2286000" cy="2286000"/>
          </a:xfrm>
          <a:prstGeom prst="ellipse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3400" b="1">
                <a:solidFill>
                  <a:srgbClr val="FFFFFF"/>
                </a:solidFill>
                <a:latin typeface="Apple SD Gothic Neo"/>
              </a:rPr>
              <a:t>직원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41648" y="4846320"/>
            <a:ext cx="4114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700" b="1" spc="-30">
                <a:solidFill>
                  <a:srgbClr val="1A1A1A"/>
                </a:solidFill>
                <a:latin typeface="Apple SD Gothic Neo"/>
              </a:rPr>
              <a:t>가입·지급 심사</a:t>
            </a:r>
          </a:p>
        </p:txBody>
      </p:sp>
      <p:sp>
        <p:nvSpPr>
          <p:cNvPr id="8" name="Oval 7"/>
          <p:cNvSpPr/>
          <p:nvPr/>
        </p:nvSpPr>
        <p:spPr>
          <a:xfrm>
            <a:off x="8494776" y="2331720"/>
            <a:ext cx="2286000" cy="2286000"/>
          </a:xfrm>
          <a:prstGeom prst="ellipse">
            <a:avLst/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3400" b="1">
                <a:solidFill>
                  <a:srgbClr val="FFFFFF"/>
                </a:solidFill>
                <a:latin typeface="Apple SD Gothic Neo"/>
              </a:rPr>
              <a:t>시스템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0375" y="4846320"/>
            <a:ext cx="4114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700" b="1" spc="-30">
                <a:solidFill>
                  <a:srgbClr val="1A1A1A"/>
                </a:solidFill>
                <a:latin typeface="Apple SD Gothic Neo"/>
              </a:rPr>
              <a:t>계약·고지서·지급 자동화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두 가지 보험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1325880" y="2377440"/>
            <a:ext cx="4480560" cy="2834640"/>
          </a:xfrm>
          <a:prstGeom prst="roundRect">
            <a:avLst>
              <a:gd name="adj" fmla="val 12000"/>
            </a:avLst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325880" y="3108960"/>
            <a:ext cx="4480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200" b="1" spc="-60">
                <a:solidFill>
                  <a:srgbClr val="1A1A1A"/>
                </a:solidFill>
                <a:latin typeface="Apple SD Gothic Neo"/>
              </a:rPr>
              <a:t>의료보험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2377440"/>
            <a:ext cx="4480560" cy="2834640"/>
          </a:xfrm>
          <a:prstGeom prst="roundRect">
            <a:avLst>
              <a:gd name="adj" fmla="val 12000"/>
            </a:avLst>
          </a:prstGeom>
          <a:solidFill>
            <a:srgbClr val="F7E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0" y="3108960"/>
            <a:ext cx="4480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200" b="1" spc="-60">
                <a:solidFill>
                  <a:srgbClr val="1A1A1A"/>
                </a:solidFill>
                <a:latin typeface="Apple SD Gothic Neo"/>
              </a:rPr>
              <a:t>자동차보험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8925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ko-KR" altLang="en-US" sz="5200" b="1" spc="-100" dirty="0">
                <a:solidFill>
                  <a:srgbClr val="1A1A1A"/>
                </a:solidFill>
                <a:latin typeface="Apple SD Gothic Neo"/>
              </a:rPr>
              <a:t>의료보험</a:t>
            </a:r>
            <a:endParaRPr sz="5200" b="1" spc="-100" dirty="0">
              <a:solidFill>
                <a:srgbClr val="1A1A1A"/>
              </a:solidFill>
              <a:latin typeface="Apple SD Gothic Neo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822960" y="3611880"/>
            <a:ext cx="2834640" cy="1280160"/>
          </a:xfrm>
          <a:prstGeom prst="roundRect">
            <a:avLst>
              <a:gd name="adj" fmla="val 16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800" b="1">
                <a:solidFill>
                  <a:srgbClr val="FFFFFF"/>
                </a:solidFill>
                <a:latin typeface="Apple SD Gothic Neo"/>
              </a:rPr>
              <a:t>병원비 청구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86200" y="288036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2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86200" y="470916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2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63440" y="2514600"/>
            <a:ext cx="6766560" cy="1371600"/>
          </a:xfrm>
          <a:prstGeom prst="roundRect">
            <a:avLst>
              <a:gd name="adj" fmla="val 16000"/>
            </a:avLst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700" b="1">
                <a:solidFill>
                  <a:srgbClr val="1A1A1A"/>
                </a:solidFill>
                <a:latin typeface="Apple SD Gothic Neo"/>
              </a:rPr>
              <a:t>100만 원 미만 → 바로 입금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63440" y="4297680"/>
            <a:ext cx="6766560" cy="1371600"/>
          </a:xfrm>
          <a:prstGeom prst="roundRect">
            <a:avLst>
              <a:gd name="adj" fmla="val 16000"/>
            </a:avLst>
          </a:prstGeom>
          <a:solidFill>
            <a:srgbClr val="F7E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700" b="1">
                <a:solidFill>
                  <a:srgbClr val="1A1A1A"/>
                </a:solidFill>
                <a:latin typeface="Apple SD Gothic Neo"/>
              </a:rPr>
              <a:t>100만 원 이상 → 직원 확인 후 입금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8925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ko-KR" altLang="en-US" sz="5200" b="1" spc="-100" dirty="0">
                <a:solidFill>
                  <a:srgbClr val="1A1A1A"/>
                </a:solidFill>
                <a:latin typeface="Apple SD Gothic Neo"/>
              </a:rPr>
              <a:t>자동차 사고 보험</a:t>
            </a:r>
            <a:endParaRPr sz="5200" b="1" spc="-100" dirty="0">
              <a:solidFill>
                <a:srgbClr val="1A1A1A"/>
              </a:solidFill>
              <a:latin typeface="Apple SD Gothic Neo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586587" y="3383280"/>
            <a:ext cx="2377440" cy="137160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600" b="1">
                <a:solidFill>
                  <a:srgbClr val="1A1A1A"/>
                </a:solidFill>
                <a:latin typeface="Apple SD Gothic Neo"/>
              </a:rPr>
              <a:t>사고 접수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64027" y="361188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66947" y="3383280"/>
            <a:ext cx="2377440" cy="137160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600" b="1">
                <a:solidFill>
                  <a:srgbClr val="1A1A1A"/>
                </a:solidFill>
                <a:latin typeface="Apple SD Gothic Neo"/>
              </a:rPr>
              <a:t>직원이 맡음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44387" y="361188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47307" y="3383280"/>
            <a:ext cx="2377440" cy="137160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600" b="1">
                <a:solidFill>
                  <a:srgbClr val="1A1A1A"/>
                </a:solidFill>
                <a:latin typeface="Apple SD Gothic Neo"/>
              </a:rPr>
              <a:t>보상액 결정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24747" y="361188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227667" y="3383280"/>
            <a:ext cx="2377440" cy="1371600"/>
          </a:xfrm>
          <a:prstGeom prst="roundRect">
            <a:avLst>
              <a:gd name="adj" fmla="val 16000"/>
            </a:avLst>
          </a:prstGeom>
          <a:solidFill>
            <a:srgbClr val="ECEBFB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600" b="1">
                <a:solidFill>
                  <a:srgbClr val="1A1A1A"/>
                </a:solidFill>
                <a:latin typeface="Apple SD Gothic Neo"/>
              </a:rPr>
              <a:t>계좌 입금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8925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ko-KR" altLang="en-US" sz="5200" b="1" spc="-100" dirty="0">
                <a:solidFill>
                  <a:srgbClr val="1A1A1A"/>
                </a:solidFill>
                <a:latin typeface="Apple SD Gothic Neo"/>
              </a:rPr>
              <a:t>계약</a:t>
            </a:r>
            <a:endParaRPr sz="5200" b="1" spc="-100" dirty="0">
              <a:solidFill>
                <a:srgbClr val="1A1A1A"/>
              </a:solidFill>
              <a:latin typeface="Apple SD Gothic Neo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998067" y="2286000"/>
            <a:ext cx="1554480" cy="1554480"/>
          </a:xfrm>
          <a:prstGeom prst="ellipse">
            <a:avLst/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400" b="1">
                <a:solidFill>
                  <a:srgbClr val="1A1A1A"/>
                </a:solidFill>
                <a:latin typeface="Apple SD Gothic Neo"/>
              </a:rPr>
              <a:t>고객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5167" y="4114800"/>
            <a:ext cx="2240280" cy="1188720"/>
          </a:xfrm>
          <a:prstGeom prst="roundRect">
            <a:avLst>
              <a:gd name="adj" fmla="val 16000"/>
            </a:avLst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600" b="1">
                <a:solidFill>
                  <a:srgbClr val="1A1A1A"/>
                </a:solidFill>
                <a:latin typeface="Apple SD Gothic Neo"/>
              </a:rPr>
              <a:t>상품 조회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41167" y="434340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7" name="Oval 6"/>
          <p:cNvSpPr/>
          <p:nvPr/>
        </p:nvSpPr>
        <p:spPr>
          <a:xfrm>
            <a:off x="3878427" y="2286000"/>
            <a:ext cx="1554480" cy="1554480"/>
          </a:xfrm>
          <a:prstGeom prst="ellipse">
            <a:avLst/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400" b="1">
                <a:solidFill>
                  <a:srgbClr val="1A1A1A"/>
                </a:solidFill>
                <a:latin typeface="Apple SD Gothic Neo"/>
              </a:rPr>
              <a:t>고객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35527" y="4114800"/>
            <a:ext cx="2240280" cy="1188720"/>
          </a:xfrm>
          <a:prstGeom prst="roundRect">
            <a:avLst>
              <a:gd name="adj" fmla="val 16000"/>
            </a:avLst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lang="ko-KR" altLang="en-US" sz="2600" b="1" dirty="0">
                <a:solidFill>
                  <a:srgbClr val="1A1A1A"/>
                </a:solidFill>
                <a:latin typeface="Apple SD Gothic Neo"/>
              </a:rPr>
              <a:t>계약</a:t>
            </a:r>
            <a:r>
              <a:rPr sz="2600" b="1" dirty="0">
                <a:solidFill>
                  <a:srgbClr val="1A1A1A"/>
                </a:solidFill>
                <a:latin typeface="Apple SD Gothic Neo"/>
              </a:rPr>
              <a:t> </a:t>
            </a:r>
            <a:r>
              <a:rPr sz="2600" b="1" dirty="0" err="1">
                <a:solidFill>
                  <a:srgbClr val="1A1A1A"/>
                </a:solidFill>
                <a:latin typeface="Apple SD Gothic Neo"/>
              </a:rPr>
              <a:t>신청</a:t>
            </a:r>
            <a:endParaRPr sz="2600" b="1" dirty="0">
              <a:solidFill>
                <a:srgbClr val="1A1A1A"/>
              </a:solidFill>
              <a:latin typeface="Apple SD Gothic Neo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821527" y="434340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10" name="Oval 9"/>
          <p:cNvSpPr/>
          <p:nvPr/>
        </p:nvSpPr>
        <p:spPr>
          <a:xfrm>
            <a:off x="6758787" y="2286000"/>
            <a:ext cx="1554480" cy="1554480"/>
          </a:xfrm>
          <a:prstGeom prst="ellipse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400" b="1">
                <a:solidFill>
                  <a:srgbClr val="FFFFFF"/>
                </a:solidFill>
                <a:latin typeface="Apple SD Gothic Neo"/>
              </a:rPr>
              <a:t>직원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15887" y="4114800"/>
            <a:ext cx="2240280" cy="1188720"/>
          </a:xfrm>
          <a:prstGeom prst="roundRect">
            <a:avLst>
              <a:gd name="adj" fmla="val 16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lang="ko-KR" altLang="en-US" sz="2600" b="1" dirty="0">
                <a:solidFill>
                  <a:srgbClr val="FFFFFF"/>
                </a:solidFill>
                <a:latin typeface="Apple SD Gothic Neo"/>
              </a:rPr>
              <a:t>계약</a:t>
            </a:r>
            <a:r>
              <a:rPr sz="2600" b="1" dirty="0">
                <a:solidFill>
                  <a:srgbClr val="FFFFFF"/>
                </a:solidFill>
                <a:latin typeface="Apple SD Gothic Neo"/>
              </a:rPr>
              <a:t> </a:t>
            </a:r>
            <a:r>
              <a:rPr sz="2600" b="1" dirty="0" err="1">
                <a:solidFill>
                  <a:srgbClr val="FFFFFF"/>
                </a:solidFill>
                <a:latin typeface="Apple SD Gothic Neo"/>
              </a:rPr>
              <a:t>심사</a:t>
            </a:r>
            <a:endParaRPr sz="2600" b="1" dirty="0">
              <a:solidFill>
                <a:srgbClr val="FFFFFF"/>
              </a:solidFill>
              <a:latin typeface="Apple SD Gothic Neo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8701887" y="434340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13" name="Oval 12"/>
          <p:cNvSpPr/>
          <p:nvPr/>
        </p:nvSpPr>
        <p:spPr>
          <a:xfrm>
            <a:off x="9639147" y="2286000"/>
            <a:ext cx="1554480" cy="1554480"/>
          </a:xfrm>
          <a:prstGeom prst="ellipse">
            <a:avLst/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400" b="1">
                <a:solidFill>
                  <a:srgbClr val="FFFFFF"/>
                </a:solidFill>
                <a:latin typeface="Apple SD Gothic Neo"/>
              </a:rPr>
              <a:t>시스템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296247" y="4114800"/>
            <a:ext cx="2240280" cy="1188720"/>
          </a:xfrm>
          <a:prstGeom prst="roundRect">
            <a:avLst>
              <a:gd name="adj" fmla="val 16000"/>
            </a:avLst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600" b="1" dirty="0" err="1">
                <a:solidFill>
                  <a:srgbClr val="FFFFFF"/>
                </a:solidFill>
                <a:latin typeface="Apple SD Gothic Neo"/>
              </a:rPr>
              <a:t>계약</a:t>
            </a:r>
            <a:r>
              <a:rPr sz="2600" b="1" dirty="0">
                <a:solidFill>
                  <a:srgbClr val="FFFFFF"/>
                </a:solidFill>
                <a:latin typeface="Apple SD Gothic Neo"/>
              </a:rPr>
              <a:t> </a:t>
            </a:r>
            <a:r>
              <a:rPr sz="2600" b="1" dirty="0" err="1">
                <a:solidFill>
                  <a:srgbClr val="FFFFFF"/>
                </a:solidFill>
                <a:latin typeface="Apple SD Gothic Neo"/>
              </a:rPr>
              <a:t>생성</a:t>
            </a:r>
            <a:endParaRPr sz="2600" b="1" dirty="0">
              <a:solidFill>
                <a:srgbClr val="FFFFFF"/>
              </a:solidFill>
              <a:latin typeface="Apple SD Gothic Neo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777240" y="5623560"/>
            <a:ext cx="10607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700" b="1" spc="-40">
                <a:solidFill>
                  <a:srgbClr val="1A1A1A"/>
                </a:solidFill>
                <a:latin typeface="Apple SD Gothic Neo"/>
              </a:rPr>
              <a:t>승인되면 계약이 바로 생깁니다.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납부와 미납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2438247" y="2286000"/>
            <a:ext cx="1554480" cy="1554480"/>
          </a:xfrm>
          <a:prstGeom prst="ellipse">
            <a:avLst/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400" b="1">
                <a:solidFill>
                  <a:srgbClr val="1A1A1A"/>
                </a:solidFill>
                <a:latin typeface="Apple SD Gothic Neo"/>
              </a:rPr>
              <a:t>고객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95347" y="4114800"/>
            <a:ext cx="2240280" cy="1188720"/>
          </a:xfrm>
          <a:prstGeom prst="roundRect">
            <a:avLst>
              <a:gd name="adj" fmla="val 16000"/>
            </a:avLst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600" b="1">
                <a:solidFill>
                  <a:srgbClr val="1A1A1A"/>
                </a:solidFill>
                <a:latin typeface="Apple SD Gothic Neo"/>
              </a:rPr>
              <a:t>보험료 납부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1347" y="434340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7" name="Oval 6"/>
          <p:cNvSpPr/>
          <p:nvPr/>
        </p:nvSpPr>
        <p:spPr>
          <a:xfrm>
            <a:off x="5318607" y="2286000"/>
            <a:ext cx="1554480" cy="1554480"/>
          </a:xfrm>
          <a:prstGeom prst="ellipse">
            <a:avLst/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400" b="1">
                <a:solidFill>
                  <a:srgbClr val="FFFFFF"/>
                </a:solidFill>
                <a:latin typeface="Apple SD Gothic Neo"/>
              </a:rPr>
              <a:t>시스템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975707" y="4114800"/>
            <a:ext cx="2240280" cy="1188720"/>
          </a:xfrm>
          <a:prstGeom prst="roundRect">
            <a:avLst>
              <a:gd name="adj" fmla="val 16000"/>
            </a:avLst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Apple SD Gothic Neo"/>
              </a:rPr>
              <a:t>미납 감지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61707" y="434340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10" name="Oval 9"/>
          <p:cNvSpPr/>
          <p:nvPr/>
        </p:nvSpPr>
        <p:spPr>
          <a:xfrm>
            <a:off x="8198967" y="2286000"/>
            <a:ext cx="1554480" cy="1554480"/>
          </a:xfrm>
          <a:prstGeom prst="ellipse">
            <a:avLst/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400" b="1">
                <a:solidFill>
                  <a:srgbClr val="FFFFFF"/>
                </a:solidFill>
                <a:latin typeface="Apple SD Gothic Neo"/>
              </a:rPr>
              <a:t>시스템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56067" y="4114800"/>
            <a:ext cx="2240280" cy="1188720"/>
          </a:xfrm>
          <a:prstGeom prst="roundRect">
            <a:avLst>
              <a:gd name="adj" fmla="val 16000"/>
            </a:avLst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Apple SD Gothic Neo"/>
              </a:rPr>
              <a:t>고지서 발송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 dirty="0" err="1">
                <a:solidFill>
                  <a:srgbClr val="1A1A1A"/>
                </a:solidFill>
                <a:latin typeface="Apple SD Gothic Neo"/>
              </a:rPr>
              <a:t>보상과</a:t>
            </a:r>
            <a:r>
              <a:rPr sz="5200" b="1" spc="-100" dirty="0">
                <a:solidFill>
                  <a:srgbClr val="1A1A1A"/>
                </a:solidFill>
                <a:latin typeface="Apple SD Gothic Neo"/>
              </a:rPr>
              <a:t> </a:t>
            </a:r>
            <a:r>
              <a:rPr sz="5200" b="1" spc="-100" dirty="0" err="1">
                <a:solidFill>
                  <a:srgbClr val="1A1A1A"/>
                </a:solidFill>
                <a:latin typeface="Apple SD Gothic Neo"/>
              </a:rPr>
              <a:t>지급</a:t>
            </a:r>
            <a:endParaRPr sz="5200" b="1" spc="-100" dirty="0">
              <a:solidFill>
                <a:srgbClr val="1A1A1A"/>
              </a:solidFill>
              <a:latin typeface="Apple SD Gothic Neo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2438247" y="2286000"/>
            <a:ext cx="1554480" cy="1554480"/>
          </a:xfrm>
          <a:prstGeom prst="ellipse">
            <a:avLst/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400" b="1">
                <a:solidFill>
                  <a:srgbClr val="1A1A1A"/>
                </a:solidFill>
                <a:latin typeface="Apple SD Gothic Neo"/>
              </a:rPr>
              <a:t>고객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95347" y="4114800"/>
            <a:ext cx="2240280" cy="1188720"/>
          </a:xfrm>
          <a:prstGeom prst="roundRect">
            <a:avLst>
              <a:gd name="adj" fmla="val 16000"/>
            </a:avLst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600" b="1">
                <a:solidFill>
                  <a:srgbClr val="1A1A1A"/>
                </a:solidFill>
                <a:latin typeface="Apple SD Gothic Neo"/>
              </a:rPr>
              <a:t>청구·접수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1347" y="434340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7" name="Oval 6"/>
          <p:cNvSpPr/>
          <p:nvPr/>
        </p:nvSpPr>
        <p:spPr>
          <a:xfrm>
            <a:off x="5318607" y="2286000"/>
            <a:ext cx="1554480" cy="1554480"/>
          </a:xfrm>
          <a:prstGeom prst="ellipse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400" b="1">
                <a:solidFill>
                  <a:srgbClr val="FFFFFF"/>
                </a:solidFill>
                <a:latin typeface="Apple SD Gothic Neo"/>
              </a:rPr>
              <a:t>직원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975707" y="4114800"/>
            <a:ext cx="2240280" cy="1188720"/>
          </a:xfrm>
          <a:prstGeom prst="roundRect">
            <a:avLst>
              <a:gd name="adj" fmla="val 16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Apple SD Gothic Neo"/>
              </a:rPr>
              <a:t>보상 심사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61707" y="434340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10" name="Oval 9"/>
          <p:cNvSpPr/>
          <p:nvPr/>
        </p:nvSpPr>
        <p:spPr>
          <a:xfrm>
            <a:off x="8198967" y="2286000"/>
            <a:ext cx="1554480" cy="1554480"/>
          </a:xfrm>
          <a:prstGeom prst="ellipse">
            <a:avLst/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400" b="1">
                <a:solidFill>
                  <a:srgbClr val="FFFFFF"/>
                </a:solidFill>
                <a:latin typeface="Apple SD Gothic Neo"/>
              </a:rPr>
              <a:t>시스템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56067" y="4114800"/>
            <a:ext cx="2240280" cy="1188720"/>
          </a:xfrm>
          <a:prstGeom prst="roundRect">
            <a:avLst>
              <a:gd name="adj" fmla="val 16000"/>
            </a:avLst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Apple SD Gothic Neo"/>
              </a:rPr>
              <a:t>보험금 지급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623560"/>
            <a:ext cx="10607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700" b="1" spc="-40">
                <a:solidFill>
                  <a:srgbClr val="1A1A1A"/>
                </a:solidFill>
                <a:latin typeface="Apple SD Gothic Neo"/>
              </a:rPr>
              <a:t>병원비는 100만 원 미만이면 즉시, 이상이거나 자동차 사고는 직원 심사 후 지급.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도메인 여섯 개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152247" y="2971800"/>
            <a:ext cx="1783080" cy="132588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700" b="1">
                <a:solidFill>
                  <a:srgbClr val="1A1A1A"/>
                </a:solidFill>
                <a:latin typeface="Apple SD Gothic Neo"/>
              </a:rPr>
              <a:t>사용자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73071" y="2971800"/>
            <a:ext cx="1783080" cy="132588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700" b="1">
                <a:solidFill>
                  <a:srgbClr val="1A1A1A"/>
                </a:solidFill>
                <a:latin typeface="Apple SD Gothic Neo"/>
              </a:rPr>
              <a:t>상품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93895" y="2971800"/>
            <a:ext cx="1783080" cy="132588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700" b="1">
                <a:solidFill>
                  <a:srgbClr val="1A1A1A"/>
                </a:solidFill>
                <a:latin typeface="Apple SD Gothic Neo"/>
              </a:rPr>
              <a:t>계약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4719" y="2971800"/>
            <a:ext cx="1783080" cy="132588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700" b="1">
                <a:solidFill>
                  <a:srgbClr val="1A1A1A"/>
                </a:solidFill>
                <a:latin typeface="Apple SD Gothic Neo"/>
              </a:rPr>
              <a:t>청구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35543" y="2971800"/>
            <a:ext cx="1783080" cy="132588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700" b="1">
                <a:solidFill>
                  <a:srgbClr val="1A1A1A"/>
                </a:solidFill>
                <a:latin typeface="Apple SD Gothic Neo"/>
              </a:rPr>
              <a:t>심사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256367" y="2971800"/>
            <a:ext cx="1783080" cy="132588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700" b="1">
                <a:solidFill>
                  <a:srgbClr val="1A1A1A"/>
                </a:solidFill>
                <a:latin typeface="Apple SD Gothic Neo"/>
              </a:rPr>
              <a:t>사고이력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사용자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783080"/>
            <a:ext cx="5577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5B5BD6"/>
                </a:solidFill>
                <a:latin typeface="Apple SD Gothic Neo"/>
              </a:rPr>
              <a:t>최초 설계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72200" y="1783080"/>
            <a:ext cx="5577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B5793A"/>
                </a:solidFill>
                <a:latin typeface="Apple SD Gothic Neo"/>
              </a:rPr>
              <a:t>코드 역설계</a:t>
            </a:r>
          </a:p>
        </p:txBody>
      </p:sp>
      <p:pic>
        <p:nvPicPr>
          <p:cNvPr id="6" name="Picture 5" descr="user-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5099" y="2286000"/>
            <a:ext cx="2862041" cy="3063240"/>
          </a:xfrm>
          <a:prstGeom prst="rect">
            <a:avLst/>
          </a:prstGeom>
        </p:spPr>
      </p:pic>
      <p:pic>
        <p:nvPicPr>
          <p:cNvPr id="7" name="Picture 6" descr="user-c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8436" y="2286000"/>
            <a:ext cx="3385366" cy="306324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상품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783080"/>
            <a:ext cx="5577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5B5BD6"/>
                </a:solidFill>
                <a:latin typeface="Apple SD Gothic Neo"/>
              </a:rPr>
              <a:t>최초 설계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72200" y="1783080"/>
            <a:ext cx="5577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B5793A"/>
                </a:solidFill>
                <a:latin typeface="Apple SD Gothic Neo"/>
              </a:rPr>
              <a:t>코드 역설계</a:t>
            </a:r>
          </a:p>
        </p:txBody>
      </p:sp>
      <p:pic>
        <p:nvPicPr>
          <p:cNvPr id="6" name="Picture 5" descr="product-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4379" y="2286000"/>
            <a:ext cx="3943481" cy="3063240"/>
          </a:xfrm>
          <a:prstGeom prst="rect">
            <a:avLst/>
          </a:prstGeom>
        </p:spPr>
      </p:pic>
      <p:pic>
        <p:nvPicPr>
          <p:cNvPr id="7" name="Picture 6" descr="product-c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1195" y="2286000"/>
            <a:ext cx="4539849" cy="306324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57200" y="5532120"/>
            <a:ext cx="11292840" cy="1051560"/>
          </a:xfrm>
          <a:prstGeom prst="roundRect">
            <a:avLst>
              <a:gd name="adj" fmla="val 12000"/>
            </a:avLst>
          </a:prstGeom>
          <a:solidFill>
            <a:srgbClr val="F7E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76200" rIns="177800" bIns="76200" rtlCol="0" anchor="ctr"/>
          <a:lstStyle/>
          <a:p>
            <a:r>
              <a:rPr sz="1900" b="1" dirty="0" err="1">
                <a:solidFill>
                  <a:srgbClr val="B5793A"/>
                </a:solidFill>
                <a:latin typeface="Apple SD Gothic Neo"/>
              </a:rPr>
              <a:t>다른</a:t>
            </a:r>
            <a:r>
              <a:rPr sz="1900" b="1" dirty="0">
                <a:solidFill>
                  <a:srgbClr val="B5793A"/>
                </a:solidFill>
                <a:latin typeface="Apple SD Gothic Neo"/>
              </a:rPr>
              <a:t> </a:t>
            </a:r>
            <a:r>
              <a:rPr sz="1900" b="1" dirty="0" err="1">
                <a:solidFill>
                  <a:srgbClr val="B5793A"/>
                </a:solidFill>
                <a:latin typeface="Apple SD Gothic Neo"/>
              </a:rPr>
              <a:t>점</a:t>
            </a:r>
            <a:r>
              <a:rPr sz="1900" b="1" dirty="0">
                <a:solidFill>
                  <a:srgbClr val="B5793A"/>
                </a:solidFill>
                <a:latin typeface="Apple SD Gothic Neo"/>
              </a:rPr>
              <a:t>   </a:t>
            </a:r>
            <a:r>
              <a:rPr lang="ko-KR" altLang="en-US" sz="1900" b="1" dirty="0" err="1">
                <a:solidFill>
                  <a:srgbClr val="1A1A1A"/>
                </a:solidFill>
                <a:latin typeface="Apple SD Gothic Neo"/>
              </a:rPr>
              <a:t>상품번</a:t>
            </a:r>
            <a:r>
              <a:rPr sz="1900" b="1" dirty="0" err="1">
                <a:solidFill>
                  <a:srgbClr val="1A1A1A"/>
                </a:solidFill>
                <a:latin typeface="Apple SD Gothic Neo"/>
              </a:rPr>
              <a:t>호를</a:t>
            </a:r>
            <a:r>
              <a:rPr sz="1900" b="1" dirty="0">
                <a:solidFill>
                  <a:srgbClr val="1A1A1A"/>
                </a:solidFill>
                <a:latin typeface="Apple SD Gothic Neo"/>
              </a:rPr>
              <a:t> </a:t>
            </a:r>
            <a:r>
              <a:rPr sz="1900" b="1" dirty="0" err="1">
                <a:solidFill>
                  <a:srgbClr val="1A1A1A"/>
                </a:solidFill>
                <a:latin typeface="Apple SD Gothic Neo"/>
              </a:rPr>
              <a:t>숫자로</a:t>
            </a:r>
            <a:r>
              <a:rPr sz="1900" b="1" dirty="0">
                <a:solidFill>
                  <a:srgbClr val="1A1A1A"/>
                </a:solidFill>
                <a:latin typeface="Apple SD Gothic Neo"/>
              </a:rPr>
              <a:t> </a:t>
            </a:r>
            <a:r>
              <a:rPr sz="1900" b="1" dirty="0" err="1">
                <a:solidFill>
                  <a:srgbClr val="1A1A1A"/>
                </a:solidFill>
                <a:latin typeface="Apple SD Gothic Neo"/>
              </a:rPr>
              <a:t>바</a:t>
            </a:r>
            <a:r>
              <a:rPr lang="ko-KR" altLang="en-US" sz="1900" b="1" dirty="0">
                <a:solidFill>
                  <a:srgbClr val="1A1A1A"/>
                </a:solidFill>
                <a:latin typeface="Apple SD Gothic Neo"/>
              </a:rPr>
              <a:t>꿈</a:t>
            </a:r>
            <a:r>
              <a:rPr sz="1900" b="1" dirty="0">
                <a:solidFill>
                  <a:srgbClr val="1A1A1A"/>
                </a:solidFill>
                <a:latin typeface="Apple SD Gothic Neo"/>
              </a:rPr>
              <a:t>.</a:t>
            </a:r>
            <a:r>
              <a:rPr lang="ko-KR" altLang="en-US" sz="1900" b="1" dirty="0">
                <a:solidFill>
                  <a:srgbClr val="1A1A1A"/>
                </a:solidFill>
                <a:latin typeface="Apple SD Gothic Neo"/>
              </a:rPr>
              <a:t> </a:t>
            </a:r>
            <a:r>
              <a:rPr lang="en-US" altLang="ko-KR" sz="1900" b="1" dirty="0">
                <a:solidFill>
                  <a:srgbClr val="1A1A1A"/>
                </a:solidFill>
                <a:latin typeface="Apple SD Gothic Neo"/>
              </a:rPr>
              <a:t>–</a:t>
            </a:r>
            <a:r>
              <a:rPr lang="ko-KR" altLang="en-US" sz="1900" b="1" dirty="0">
                <a:solidFill>
                  <a:srgbClr val="1A1A1A"/>
                </a:solidFill>
                <a:latin typeface="Apple SD Gothic Neo"/>
              </a:rPr>
              <a:t> </a:t>
            </a:r>
            <a:r>
              <a:rPr lang="en" altLang="ko-KR" sz="1900" b="1" dirty="0">
                <a:solidFill>
                  <a:srgbClr val="1A1A1A"/>
                </a:solidFill>
                <a:latin typeface="Apple SD Gothic Neo"/>
              </a:rPr>
              <a:t>DB</a:t>
            </a:r>
            <a:r>
              <a:rPr lang="ko-KR" altLang="en-US" sz="1900" b="1" dirty="0" err="1">
                <a:solidFill>
                  <a:srgbClr val="1A1A1A"/>
                </a:solidFill>
                <a:latin typeface="Apple SD Gothic Neo"/>
              </a:rPr>
              <a:t>에</a:t>
            </a:r>
            <a:r>
              <a:rPr lang="ko-KR" altLang="en-US" sz="1900" b="1" dirty="0">
                <a:solidFill>
                  <a:srgbClr val="1A1A1A"/>
                </a:solidFill>
                <a:latin typeface="Apple SD Gothic Neo"/>
              </a:rPr>
              <a:t> 새 상품 넣을 때마다 번호를 자동으로 </a:t>
            </a:r>
            <a:r>
              <a:rPr lang="en-US" altLang="ko-KR" sz="1900" b="1" dirty="0">
                <a:solidFill>
                  <a:srgbClr val="1A1A1A"/>
                </a:solidFill>
                <a:latin typeface="Apple SD Gothic Neo"/>
              </a:rPr>
              <a:t>1</a:t>
            </a:r>
            <a:r>
              <a:rPr lang="ko-KR" altLang="en-US" sz="1900" b="1" dirty="0">
                <a:solidFill>
                  <a:srgbClr val="1A1A1A"/>
                </a:solidFill>
                <a:latin typeface="Apple SD Gothic Neo"/>
              </a:rPr>
              <a:t>씩 올려주기 위함</a:t>
            </a:r>
            <a:endParaRPr sz="1900" b="1" dirty="0">
              <a:solidFill>
                <a:srgbClr val="1A1A1A"/>
              </a:solidFill>
              <a:latin typeface="Apple SD Gothic Neo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계약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783080"/>
            <a:ext cx="5577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5B5BD6"/>
                </a:solidFill>
                <a:latin typeface="Apple SD Gothic Neo"/>
              </a:rPr>
              <a:t>최초 설계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72200" y="1783080"/>
            <a:ext cx="5577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B5793A"/>
                </a:solidFill>
                <a:latin typeface="Apple SD Gothic Neo"/>
              </a:rPr>
              <a:t>코드 역설계</a:t>
            </a:r>
          </a:p>
        </p:txBody>
      </p:sp>
      <p:pic>
        <p:nvPicPr>
          <p:cNvPr id="6" name="Picture 5" descr="contract-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516" y="2286000"/>
            <a:ext cx="4911206" cy="3063240"/>
          </a:xfrm>
          <a:prstGeom prst="rect">
            <a:avLst/>
          </a:prstGeom>
        </p:spPr>
      </p:pic>
      <p:pic>
        <p:nvPicPr>
          <p:cNvPr id="7" name="Picture 6" descr="contract-c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544108"/>
            <a:ext cx="5577840" cy="2547023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57200" y="5532120"/>
            <a:ext cx="11292840" cy="1051560"/>
          </a:xfrm>
          <a:prstGeom prst="roundRect">
            <a:avLst>
              <a:gd name="adj" fmla="val 12000"/>
            </a:avLst>
          </a:prstGeom>
          <a:solidFill>
            <a:srgbClr val="F7E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76200" rIns="177800" bIns="76200" rtlCol="0" anchor="ctr"/>
          <a:lstStyle/>
          <a:p>
            <a:pPr algn="l"/>
            <a:r>
              <a:rPr sz="1900" b="1" dirty="0" err="1">
                <a:solidFill>
                  <a:srgbClr val="B5793A"/>
                </a:solidFill>
                <a:latin typeface="Apple SD Gothic Neo"/>
              </a:rPr>
              <a:t>다른</a:t>
            </a:r>
            <a:r>
              <a:rPr sz="1900" b="1" dirty="0">
                <a:solidFill>
                  <a:srgbClr val="B5793A"/>
                </a:solidFill>
                <a:latin typeface="Apple SD Gothic Neo"/>
              </a:rPr>
              <a:t> </a:t>
            </a:r>
            <a:r>
              <a:rPr sz="1900" b="1" dirty="0" err="1">
                <a:solidFill>
                  <a:srgbClr val="B5793A"/>
                </a:solidFill>
                <a:latin typeface="Apple SD Gothic Neo"/>
              </a:rPr>
              <a:t>점</a:t>
            </a:r>
            <a:r>
              <a:rPr sz="1900" b="1" dirty="0">
                <a:solidFill>
                  <a:srgbClr val="B5793A"/>
                </a:solidFill>
                <a:latin typeface="Apple SD Gothic Neo"/>
              </a:rPr>
              <a:t>   </a:t>
            </a:r>
            <a:r>
              <a:rPr lang="ko-KR" altLang="en-US" sz="1900" b="1" dirty="0" err="1">
                <a:solidFill>
                  <a:srgbClr val="1A1A1A"/>
                </a:solidFill>
                <a:latin typeface="Apple SD Gothic Neo"/>
              </a:rPr>
              <a:t>유스케이스에는</a:t>
            </a:r>
            <a:r>
              <a:rPr lang="ko-KR" altLang="en-US" sz="1900" b="1" dirty="0">
                <a:solidFill>
                  <a:srgbClr val="1A1A1A"/>
                </a:solidFill>
                <a:latin typeface="Apple SD Gothic Neo"/>
              </a:rPr>
              <a:t> 있지만</a:t>
            </a:r>
            <a:r>
              <a:rPr lang="en-US" altLang="ko-KR" sz="1900" b="1" dirty="0">
                <a:solidFill>
                  <a:srgbClr val="1A1A1A"/>
                </a:solidFill>
                <a:latin typeface="Apple SD Gothic Neo"/>
              </a:rPr>
              <a:t>,</a:t>
            </a:r>
            <a:r>
              <a:rPr lang="ko-KR" altLang="en-US" sz="1900" b="1" dirty="0">
                <a:solidFill>
                  <a:srgbClr val="1A1A1A"/>
                </a:solidFill>
                <a:latin typeface="Apple SD Gothic Neo"/>
              </a:rPr>
              <a:t> 설계에는 없는 자</a:t>
            </a:r>
            <a:r>
              <a:rPr sz="1900" b="1" dirty="0" err="1">
                <a:solidFill>
                  <a:srgbClr val="1A1A1A"/>
                </a:solidFill>
                <a:latin typeface="Apple SD Gothic Neo"/>
              </a:rPr>
              <a:t>동이체</a:t>
            </a:r>
            <a:r>
              <a:rPr sz="1900" b="1" dirty="0">
                <a:solidFill>
                  <a:srgbClr val="1A1A1A"/>
                </a:solidFill>
                <a:latin typeface="Apple SD Gothic Neo"/>
              </a:rPr>
              <a:t> </a:t>
            </a:r>
            <a:r>
              <a:rPr sz="1900" b="1" dirty="0" err="1">
                <a:solidFill>
                  <a:srgbClr val="1A1A1A"/>
                </a:solidFill>
                <a:latin typeface="Apple SD Gothic Neo"/>
              </a:rPr>
              <a:t>정보를</a:t>
            </a:r>
            <a:r>
              <a:rPr sz="1900" b="1" dirty="0">
                <a:solidFill>
                  <a:srgbClr val="1A1A1A"/>
                </a:solidFill>
                <a:latin typeface="Apple SD Gothic Neo"/>
              </a:rPr>
              <a:t> </a:t>
            </a:r>
            <a:r>
              <a:rPr sz="1900" b="1" dirty="0" err="1">
                <a:solidFill>
                  <a:srgbClr val="1A1A1A"/>
                </a:solidFill>
                <a:latin typeface="Apple SD Gothic Neo"/>
              </a:rPr>
              <a:t>더했다</a:t>
            </a:r>
            <a:r>
              <a:rPr sz="1900" b="1" dirty="0">
                <a:solidFill>
                  <a:srgbClr val="1A1A1A"/>
                </a:solidFill>
                <a:latin typeface="Apple SD Gothic Neo"/>
              </a:rPr>
              <a:t>.</a:t>
            </a:r>
            <a:r>
              <a:rPr lang="ko-KR" altLang="en-US" sz="1900" b="1" dirty="0">
                <a:solidFill>
                  <a:srgbClr val="1A1A1A"/>
                </a:solidFill>
                <a:latin typeface="Apple SD Gothic Neo"/>
              </a:rPr>
              <a:t> </a:t>
            </a:r>
            <a:endParaRPr sz="1900" b="1" dirty="0">
              <a:solidFill>
                <a:srgbClr val="1A1A1A"/>
              </a:solidFill>
              <a:latin typeface="Apple SD Gothic Neo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청구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783080"/>
            <a:ext cx="5577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5B5BD6"/>
                </a:solidFill>
                <a:latin typeface="Apple SD Gothic Neo"/>
              </a:rPr>
              <a:t>최초 설계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72200" y="1783080"/>
            <a:ext cx="5577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B5793A"/>
                </a:solidFill>
                <a:latin typeface="Apple SD Gothic Neo"/>
              </a:rPr>
              <a:t>코드 역설계</a:t>
            </a:r>
          </a:p>
        </p:txBody>
      </p:sp>
      <p:pic>
        <p:nvPicPr>
          <p:cNvPr id="6" name="Picture 5" descr="claim-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1049" y="2286000"/>
            <a:ext cx="3770141" cy="3063240"/>
          </a:xfrm>
          <a:prstGeom prst="rect">
            <a:avLst/>
          </a:prstGeom>
        </p:spPr>
      </p:pic>
      <p:pic>
        <p:nvPicPr>
          <p:cNvPr id="7" name="Picture 6" descr="claim-c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97975" y="2286000"/>
            <a:ext cx="3326288" cy="306324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57200" y="5532120"/>
            <a:ext cx="11292840" cy="1051560"/>
          </a:xfrm>
          <a:prstGeom prst="roundRect">
            <a:avLst>
              <a:gd name="adj" fmla="val 12000"/>
            </a:avLst>
          </a:prstGeom>
          <a:solidFill>
            <a:srgbClr val="F7E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76200" rIns="177800" bIns="76200" rtlCol="0" anchor="ctr"/>
          <a:lstStyle/>
          <a:p>
            <a:pPr algn="l"/>
            <a:r>
              <a:rPr sz="1900" b="1" dirty="0" err="1">
                <a:solidFill>
                  <a:srgbClr val="B5793A"/>
                </a:solidFill>
                <a:latin typeface="Apple SD Gothic Neo"/>
              </a:rPr>
              <a:t>다른</a:t>
            </a:r>
            <a:r>
              <a:rPr sz="1900" b="1" dirty="0">
                <a:solidFill>
                  <a:srgbClr val="B5793A"/>
                </a:solidFill>
                <a:latin typeface="Apple SD Gothic Neo"/>
              </a:rPr>
              <a:t> </a:t>
            </a:r>
            <a:r>
              <a:rPr sz="1900" b="1" dirty="0" err="1">
                <a:solidFill>
                  <a:srgbClr val="B5793A"/>
                </a:solidFill>
                <a:latin typeface="Apple SD Gothic Neo"/>
              </a:rPr>
              <a:t>점</a:t>
            </a:r>
            <a:r>
              <a:rPr sz="1900" b="1" dirty="0">
                <a:solidFill>
                  <a:srgbClr val="B5793A"/>
                </a:solidFill>
                <a:latin typeface="Apple SD Gothic Neo"/>
              </a:rPr>
              <a:t>   </a:t>
            </a:r>
            <a:r>
              <a:rPr sz="1900" b="1" dirty="0" err="1">
                <a:solidFill>
                  <a:srgbClr val="1A1A1A"/>
                </a:solidFill>
                <a:latin typeface="Apple SD Gothic Neo"/>
              </a:rPr>
              <a:t>첨부파일을</a:t>
            </a:r>
            <a:r>
              <a:rPr sz="1900" b="1" dirty="0">
                <a:solidFill>
                  <a:srgbClr val="1A1A1A"/>
                </a:solidFill>
                <a:latin typeface="Apple SD Gothic Neo"/>
              </a:rPr>
              <a:t> </a:t>
            </a:r>
            <a:r>
              <a:rPr sz="1900" b="1" dirty="0" err="1">
                <a:solidFill>
                  <a:srgbClr val="1A1A1A"/>
                </a:solidFill>
                <a:latin typeface="Apple SD Gothic Neo"/>
              </a:rPr>
              <a:t>더하고</a:t>
            </a:r>
            <a:r>
              <a:rPr sz="1900" b="1" dirty="0">
                <a:solidFill>
                  <a:srgbClr val="1A1A1A"/>
                </a:solidFill>
                <a:latin typeface="Apple SD Gothic Neo"/>
              </a:rPr>
              <a:t>, </a:t>
            </a:r>
            <a:r>
              <a:rPr lang="ko-KR" altLang="en-US" sz="1900" b="1" dirty="0">
                <a:solidFill>
                  <a:srgbClr val="1A1A1A"/>
                </a:solidFill>
                <a:latin typeface="Apple SD Gothic Neo"/>
              </a:rPr>
              <a:t>청구 </a:t>
            </a:r>
            <a:r>
              <a:rPr sz="1900" b="1" dirty="0" err="1">
                <a:solidFill>
                  <a:srgbClr val="1A1A1A"/>
                </a:solidFill>
                <a:latin typeface="Apple SD Gothic Neo"/>
              </a:rPr>
              <a:t>상태를</a:t>
            </a:r>
            <a:r>
              <a:rPr sz="1900" b="1" dirty="0">
                <a:solidFill>
                  <a:srgbClr val="1A1A1A"/>
                </a:solidFill>
                <a:latin typeface="Apple SD Gothic Neo"/>
              </a:rPr>
              <a:t> 4개 → 6개로 </a:t>
            </a:r>
            <a:r>
              <a:rPr sz="1900" b="1" dirty="0" err="1">
                <a:solidFill>
                  <a:srgbClr val="1A1A1A"/>
                </a:solidFill>
                <a:latin typeface="Apple SD Gothic Neo"/>
              </a:rPr>
              <a:t>늘려</a:t>
            </a:r>
            <a:r>
              <a:rPr sz="1900" b="1" dirty="0">
                <a:solidFill>
                  <a:srgbClr val="1A1A1A"/>
                </a:solidFill>
                <a:latin typeface="Apple SD Gothic Neo"/>
              </a:rPr>
              <a:t> </a:t>
            </a:r>
            <a:r>
              <a:rPr sz="1900" b="1" dirty="0" err="1">
                <a:solidFill>
                  <a:srgbClr val="1A1A1A"/>
                </a:solidFill>
                <a:latin typeface="Apple SD Gothic Neo"/>
              </a:rPr>
              <a:t>송금</a:t>
            </a:r>
            <a:r>
              <a:rPr sz="1900" b="1" dirty="0">
                <a:solidFill>
                  <a:srgbClr val="1A1A1A"/>
                </a:solidFill>
                <a:latin typeface="Apple SD Gothic Neo"/>
              </a:rPr>
              <a:t> </a:t>
            </a:r>
            <a:r>
              <a:rPr sz="1900" b="1" dirty="0" err="1">
                <a:solidFill>
                  <a:srgbClr val="1A1A1A"/>
                </a:solidFill>
                <a:latin typeface="Apple SD Gothic Neo"/>
              </a:rPr>
              <a:t>결과까지</a:t>
            </a:r>
            <a:r>
              <a:rPr sz="1900" b="1" dirty="0">
                <a:solidFill>
                  <a:srgbClr val="1A1A1A"/>
                </a:solidFill>
                <a:latin typeface="Apple SD Gothic Neo"/>
              </a:rPr>
              <a:t> </a:t>
            </a:r>
            <a:r>
              <a:rPr sz="1900" b="1" dirty="0" err="1">
                <a:solidFill>
                  <a:srgbClr val="1A1A1A"/>
                </a:solidFill>
                <a:latin typeface="Apple SD Gothic Neo"/>
              </a:rPr>
              <a:t>추적한다</a:t>
            </a:r>
            <a:r>
              <a:rPr sz="1900" b="1" dirty="0">
                <a:solidFill>
                  <a:srgbClr val="1A1A1A"/>
                </a:solidFill>
                <a:latin typeface="Apple SD Gothic Neo"/>
              </a:rPr>
              <a:t>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청구 상태값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868680" y="2377440"/>
            <a:ext cx="10424160" cy="1920240"/>
          </a:xfrm>
          <a:prstGeom prst="roundRect">
            <a:avLst>
              <a:gd name="adj" fmla="val 4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88720" y="2560320"/>
            <a:ext cx="9875520" cy="1645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900" b="0">
                <a:solidFill>
                  <a:srgbClr val="1A1A1A"/>
                </a:solidFill>
                <a:latin typeface="Menlo"/>
              </a:rPr>
              <a:t>public enum ClaimStatus {</a:t>
            </a:r>
          </a:p>
          <a:p>
            <a:pPr algn="l"/>
            <a:r>
              <a:rPr sz="1900" b="0">
                <a:solidFill>
                  <a:srgbClr val="1A1A1A"/>
                </a:solidFill>
                <a:latin typeface="Menlo"/>
              </a:rPr>
              <a:t>    PENDING, IN_REVIEW, APPROVED, REJECTED,   // 설계 4개</a:t>
            </a:r>
          </a:p>
          <a:p>
            <a:pPr algn="l"/>
            <a:r>
              <a:rPr sz="1900" b="0">
                <a:solidFill>
                  <a:srgbClr val="1A1A1A"/>
                </a:solidFill>
                <a:latin typeface="Menlo"/>
              </a:rPr>
              <a:t>    COMPLETED, FAILED                         // 구현에서 추가: 송금 성공·실패</a:t>
            </a:r>
          </a:p>
          <a:p>
            <a:pPr algn="l"/>
            <a:r>
              <a:rPr sz="1900" b="0">
                <a:solidFill>
                  <a:srgbClr val="1A1A1A"/>
                </a:solidFill>
                <a:latin typeface="Menlo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617720"/>
            <a:ext cx="10607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 spc="-40">
                <a:solidFill>
                  <a:srgbClr val="1A1A1A"/>
                </a:solidFill>
                <a:latin typeface="Apple SD Gothic Neo"/>
              </a:rPr>
              <a:t>돈을 실제로 보냈는지까지 따라가려고 상태 두 개를 더했다.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심사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783080"/>
            <a:ext cx="5577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5B5BD6"/>
                </a:solidFill>
                <a:latin typeface="Apple SD Gothic Neo"/>
              </a:rPr>
              <a:t>최초 설계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72200" y="1783080"/>
            <a:ext cx="5577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B5793A"/>
                </a:solidFill>
                <a:latin typeface="Apple SD Gothic Neo"/>
              </a:rPr>
              <a:t>코드 역설계</a:t>
            </a:r>
          </a:p>
        </p:txBody>
      </p:sp>
      <p:pic>
        <p:nvPicPr>
          <p:cNvPr id="6" name="Picture 5" descr="review-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440946"/>
            <a:ext cx="5577840" cy="2753347"/>
          </a:xfrm>
          <a:prstGeom prst="rect">
            <a:avLst/>
          </a:prstGeom>
        </p:spPr>
      </p:pic>
      <p:pic>
        <p:nvPicPr>
          <p:cNvPr id="7" name="Picture 6" descr="review-c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732644"/>
            <a:ext cx="5577840" cy="216995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57200" y="5532120"/>
            <a:ext cx="11292840" cy="1051560"/>
          </a:xfrm>
          <a:prstGeom prst="roundRect">
            <a:avLst>
              <a:gd name="adj" fmla="val 12000"/>
            </a:avLst>
          </a:prstGeom>
          <a:solidFill>
            <a:srgbClr val="F7E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76200" rIns="177800" bIns="76200" rtlCol="0" anchor="ctr"/>
          <a:lstStyle/>
          <a:p>
            <a:pPr algn="l"/>
            <a:r>
              <a:rPr sz="1900" b="1">
                <a:solidFill>
                  <a:srgbClr val="B5793A"/>
                </a:solidFill>
                <a:latin typeface="Apple SD Gothic Neo"/>
              </a:rPr>
              <a:t>다른 점   </a:t>
            </a:r>
            <a:r>
              <a:rPr sz="1900" b="1">
                <a:solidFill>
                  <a:srgbClr val="1A1A1A"/>
                </a:solidFill>
                <a:latin typeface="Apple SD Gothic Neo"/>
              </a:rPr>
              <a:t>지급 심사가 의료뿐 아니라 자동차 사고까지 맡도록 넓혔다.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사고이력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783080"/>
            <a:ext cx="5577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5B5BD6"/>
                </a:solidFill>
                <a:latin typeface="Apple SD Gothic Neo"/>
              </a:rPr>
              <a:t>최초 설계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72200" y="1783080"/>
            <a:ext cx="5577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B5793A"/>
                </a:solidFill>
                <a:latin typeface="Apple SD Gothic Neo"/>
              </a:rPr>
              <a:t>코드 역설계</a:t>
            </a:r>
          </a:p>
        </p:txBody>
      </p:sp>
      <p:pic>
        <p:nvPicPr>
          <p:cNvPr id="6" name="Picture 5" descr="accident-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4338" y="2286000"/>
            <a:ext cx="1623562" cy="3063240"/>
          </a:xfrm>
          <a:prstGeom prst="rect">
            <a:avLst/>
          </a:prstGeom>
        </p:spPr>
      </p:pic>
      <p:pic>
        <p:nvPicPr>
          <p:cNvPr id="7" name="Picture 6" descr="accident-c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78020" y="2286000"/>
            <a:ext cx="2766198" cy="306324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57200" y="5532120"/>
            <a:ext cx="11292840" cy="1051560"/>
          </a:xfrm>
          <a:prstGeom prst="roundRect">
            <a:avLst>
              <a:gd name="adj" fmla="val 12000"/>
            </a:avLst>
          </a:prstGeom>
          <a:solidFill>
            <a:srgbClr val="F7E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76200" rIns="177800" bIns="76200" rtlCol="0" anchor="ctr"/>
          <a:lstStyle/>
          <a:p>
            <a:r>
              <a:rPr sz="1900" b="1" dirty="0" err="1">
                <a:solidFill>
                  <a:srgbClr val="B5793A"/>
                </a:solidFill>
                <a:latin typeface="Apple SD Gothic Neo"/>
              </a:rPr>
              <a:t>다른</a:t>
            </a:r>
            <a:r>
              <a:rPr sz="1900" b="1" dirty="0">
                <a:solidFill>
                  <a:srgbClr val="B5793A"/>
                </a:solidFill>
                <a:latin typeface="Apple SD Gothic Neo"/>
              </a:rPr>
              <a:t> </a:t>
            </a:r>
            <a:r>
              <a:rPr sz="1900" b="1" dirty="0" err="1">
                <a:solidFill>
                  <a:srgbClr val="B5793A"/>
                </a:solidFill>
                <a:latin typeface="Apple SD Gothic Neo"/>
              </a:rPr>
              <a:t>점</a:t>
            </a:r>
            <a:r>
              <a:rPr sz="1900" b="1" dirty="0">
                <a:solidFill>
                  <a:srgbClr val="B5793A"/>
                </a:solidFill>
                <a:latin typeface="Apple SD Gothic Neo"/>
              </a:rPr>
              <a:t>   </a:t>
            </a:r>
            <a:r>
              <a:rPr lang="ko-KR" altLang="en-US" sz="1900" b="1" dirty="0">
                <a:solidFill>
                  <a:srgbClr val="1A1A1A"/>
                </a:solidFill>
                <a:latin typeface="Apple SD Gothic Neo"/>
              </a:rPr>
              <a:t>상세 사고기록은 심사에 안 </a:t>
            </a:r>
            <a:r>
              <a:rPr lang="ko-KR" altLang="en-US" sz="1900" b="1">
                <a:solidFill>
                  <a:srgbClr val="1A1A1A"/>
                </a:solidFill>
                <a:latin typeface="Apple SD Gothic Neo"/>
              </a:rPr>
              <a:t>쓰여서 제외</a:t>
            </a:r>
            <a:endParaRPr sz="1900" b="1" dirty="0">
              <a:solidFill>
                <a:srgbClr val="1A1A1A"/>
              </a:solidFill>
              <a:latin typeface="Apple SD Gothic Neo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70788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ko-KR" altLang="en-US" sz="4000" b="1" spc="-100" dirty="0">
                <a:solidFill>
                  <a:srgbClr val="1A1A1A"/>
                </a:solidFill>
                <a:latin typeface="Apple SD Gothic Neo"/>
              </a:rPr>
              <a:t>자동차 사고 접수 </a:t>
            </a:r>
            <a:r>
              <a:rPr lang="en-US" altLang="ko-KR" sz="4000" b="1" spc="-100" dirty="0">
                <a:solidFill>
                  <a:srgbClr val="1A1A1A"/>
                </a:solidFill>
                <a:latin typeface="Apple SD Gothic Neo"/>
              </a:rPr>
              <a:t>–</a:t>
            </a:r>
            <a:r>
              <a:rPr lang="ko-KR" altLang="en-US" sz="4000" b="1" spc="-100" dirty="0">
                <a:solidFill>
                  <a:srgbClr val="1A1A1A"/>
                </a:solidFill>
                <a:latin typeface="Apple SD Gothic Neo"/>
              </a:rPr>
              <a:t> 담당자 보험금 지급</a:t>
            </a:r>
            <a:endParaRPr sz="4000" b="1" spc="-100" dirty="0">
              <a:solidFill>
                <a:srgbClr val="1A1A1A"/>
              </a:solidFill>
              <a:latin typeface="Apple SD Gothic Neo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uc-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0867" y="1828800"/>
            <a:ext cx="3119784" cy="3749039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77240" y="2103120"/>
            <a:ext cx="3108960" cy="731520"/>
          </a:xfrm>
          <a:prstGeom prst="roundRect">
            <a:avLst>
              <a:gd name="adj" fmla="val 16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Apple SD Gothic Neo"/>
              </a:rPr>
              <a:t>파란 박스 = 직접 시연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3017520"/>
            <a:ext cx="3108960" cy="731520"/>
          </a:xfrm>
          <a:prstGeom prst="roundRect">
            <a:avLst>
              <a:gd name="adj" fmla="val 16000"/>
            </a:avLst>
          </a:prstGeom>
          <a:solidFill>
            <a:srgbClr val="F1F1F3"/>
          </a:solidFill>
          <a:ln w="15240">
            <a:solidFill>
              <a:srgbClr val="C9C9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1700" b="1">
                <a:solidFill>
                  <a:srgbClr val="6B7280"/>
                </a:solidFill>
                <a:latin typeface="Apple SD Gothic Neo"/>
              </a:rPr>
              <a:t>회색 = 시연 외(코드엔 있음)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384048"/>
            <a:ext cx="10515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800" b="1" dirty="0" err="1">
                <a:solidFill>
                  <a:srgbClr val="000000"/>
                </a:solidFill>
                <a:latin typeface="Apple SD Gothic Neo"/>
              </a:rPr>
              <a:t>최초</a:t>
            </a:r>
            <a:r>
              <a:rPr sz="3800" b="1" dirty="0">
                <a:solidFill>
                  <a:srgbClr val="000000"/>
                </a:solidFill>
                <a:latin typeface="Apple SD Gothic Neo"/>
              </a:rPr>
              <a:t> </a:t>
            </a:r>
            <a:r>
              <a:rPr sz="3800" b="1" dirty="0" err="1">
                <a:solidFill>
                  <a:srgbClr val="000000"/>
                </a:solidFill>
                <a:latin typeface="Apple SD Gothic Neo"/>
              </a:rPr>
              <a:t>클래스</a:t>
            </a:r>
            <a:r>
              <a:rPr sz="3800" b="1" dirty="0">
                <a:solidFill>
                  <a:srgbClr val="000000"/>
                </a:solidFill>
                <a:latin typeface="Apple SD Gothic Neo"/>
              </a:rPr>
              <a:t> </a:t>
            </a:r>
            <a:r>
              <a:rPr sz="3800" b="1" dirty="0" err="1">
                <a:solidFill>
                  <a:srgbClr val="000000"/>
                </a:solidFill>
                <a:latin typeface="Apple SD Gothic Neo"/>
              </a:rPr>
              <a:t>설계와의</a:t>
            </a:r>
            <a:r>
              <a:rPr sz="3800" b="1" dirty="0">
                <a:solidFill>
                  <a:srgbClr val="000000"/>
                </a:solidFill>
                <a:latin typeface="Apple SD Gothic Neo"/>
              </a:rPr>
              <a:t> </a:t>
            </a:r>
            <a:r>
              <a:rPr sz="3800" b="1" dirty="0" err="1">
                <a:solidFill>
                  <a:srgbClr val="000000"/>
                </a:solidFill>
                <a:latin typeface="Apple SD Gothic Neo"/>
              </a:rPr>
              <a:t>관계</a:t>
            </a:r>
            <a:endParaRPr sz="3800" b="1" dirty="0">
              <a:solidFill>
                <a:srgbClr val="000000"/>
              </a:solidFill>
              <a:latin typeface="Apple SD Gothic Neo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914400" cy="64008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888890"/>
                </a:solidFill>
                <a:latin typeface="Apple SD Gothic Neo"/>
              </a:rPr>
              <a:t>최초 클래스 설계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194560"/>
            <a:ext cx="3383280" cy="2103120"/>
          </a:xfrm>
          <a:prstGeom prst="roundRect">
            <a:avLst/>
          </a:prstGeom>
          <a:solidFill>
            <a:srgbClr val="F1F1F3"/>
          </a:solidFill>
          <a:ln w="12700">
            <a:solidFill>
              <a:srgbClr val="C9C9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>
                <a:solidFill>
                  <a:srgbClr val="333333"/>
                </a:solidFill>
                <a:latin typeface="Menlo"/>
              </a:rPr>
              <a:t>InsuranceContract</a:t>
            </a:r>
          </a:p>
          <a:p>
            <a:pPr algn="ctr"/>
            <a:r>
              <a:rPr sz="1250" b="0">
                <a:solidFill>
                  <a:srgbClr val="333333"/>
                </a:solidFill>
                <a:latin typeface="Menlo"/>
              </a:rPr>
              <a:t>— monthlyPremium, status</a:t>
            </a:r>
          </a:p>
          <a:p>
            <a:pPr algn="ctr"/>
            <a:r>
              <a:rPr sz="1250" b="1">
                <a:solidFill>
                  <a:srgbClr val="5B5BD6"/>
                </a:solidFill>
                <a:latin typeface="Menlo"/>
              </a:rPr>
              <a:t>+ pay() / suspend()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343400" y="3063240"/>
            <a:ext cx="731520" cy="457200"/>
          </a:xfrm>
          <a:prstGeom prst="rightArrow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349240" y="178308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888890"/>
                </a:solidFill>
                <a:latin typeface="Apple SD Gothic Neo"/>
              </a:rPr>
              <a:t>그대로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49240" y="2194560"/>
            <a:ext cx="2926080" cy="2103120"/>
          </a:xfrm>
          <a:prstGeom prst="roundRect">
            <a:avLst/>
          </a:prstGeom>
          <a:solidFill>
            <a:srgbClr val="ECE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>
                <a:solidFill>
                  <a:srgbClr val="5B5BD6"/>
                </a:solidFill>
                <a:latin typeface="Menlo"/>
              </a:rPr>
              <a:t>domain (Entity)</a:t>
            </a:r>
          </a:p>
          <a:p>
            <a:pPr algn="ctr"/>
            <a:r>
              <a:rPr sz="1400" b="1">
                <a:solidFill>
                  <a:srgbClr val="333333"/>
                </a:solidFill>
                <a:latin typeface="Apple SD Gothic Neo"/>
              </a:rPr>
              <a:t>= 최초 클래스 그대로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0" y="2331720"/>
            <a:ext cx="3200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50" b="1" dirty="0">
                <a:solidFill>
                  <a:srgbClr val="333333"/>
                </a:solidFill>
                <a:latin typeface="Menlo"/>
              </a:rPr>
              <a:t>controller · service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0" y="2971800"/>
            <a:ext cx="3200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50" b="1">
                <a:solidFill>
                  <a:srgbClr val="333333"/>
                </a:solidFill>
                <a:latin typeface="Menlo"/>
              </a:rPr>
              <a:t>repository · dto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5029200"/>
            <a:ext cx="10607040" cy="777240"/>
          </a:xfrm>
          <a:prstGeom prst="roundRect">
            <a:avLst/>
          </a:prstGeom>
          <a:solidFill>
            <a:srgbClr val="ECE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 dirty="0" err="1">
                <a:solidFill>
                  <a:srgbClr val="333333"/>
                </a:solidFill>
                <a:latin typeface="Apple SD Gothic Neo"/>
              </a:rPr>
              <a:t>최초</a:t>
            </a:r>
            <a:r>
              <a:rPr sz="1600" b="1" dirty="0">
                <a:solidFill>
                  <a:srgbClr val="333333"/>
                </a:solidFill>
                <a:latin typeface="Apple SD Gothic Neo"/>
              </a:rPr>
              <a:t> </a:t>
            </a:r>
            <a:r>
              <a:rPr sz="1600" b="1" dirty="0" err="1">
                <a:solidFill>
                  <a:srgbClr val="333333"/>
                </a:solidFill>
                <a:latin typeface="Apple SD Gothic Neo"/>
              </a:rPr>
              <a:t>다이어그램의</a:t>
            </a:r>
            <a:r>
              <a:rPr sz="1600" b="1" dirty="0">
                <a:solidFill>
                  <a:srgbClr val="333333"/>
                </a:solidFill>
                <a:latin typeface="Apple SD Gothic Neo"/>
              </a:rPr>
              <a:t> </a:t>
            </a:r>
            <a:r>
              <a:rPr sz="1600" b="1" dirty="0" err="1">
                <a:solidFill>
                  <a:srgbClr val="333333"/>
                </a:solidFill>
                <a:latin typeface="Apple SD Gothic Neo"/>
              </a:rPr>
              <a:t>클래스가</a:t>
            </a:r>
            <a:r>
              <a:rPr sz="1600" b="1" dirty="0">
                <a:solidFill>
                  <a:srgbClr val="333333"/>
                </a:solidFill>
                <a:latin typeface="Apple SD Gothic Neo"/>
              </a:rPr>
              <a:t> </a:t>
            </a:r>
            <a:r>
              <a:rPr sz="1600" b="1" dirty="0" err="1">
                <a:solidFill>
                  <a:srgbClr val="333333"/>
                </a:solidFill>
                <a:latin typeface="Apple SD Gothic Neo"/>
              </a:rPr>
              <a:t>곧</a:t>
            </a:r>
            <a:r>
              <a:rPr sz="1600" b="1" dirty="0">
                <a:solidFill>
                  <a:srgbClr val="333333"/>
                </a:solidFill>
                <a:latin typeface="Apple SD Gothic Neo"/>
              </a:rPr>
              <a:t> domain. </a:t>
            </a:r>
            <a:r>
              <a:rPr sz="1600" b="1" dirty="0" err="1">
                <a:solidFill>
                  <a:srgbClr val="333333"/>
                </a:solidFill>
                <a:latin typeface="Apple SD Gothic Neo"/>
              </a:rPr>
              <a:t>나머지</a:t>
            </a:r>
            <a:r>
              <a:rPr sz="1600" b="1" dirty="0">
                <a:solidFill>
                  <a:srgbClr val="333333"/>
                </a:solidFill>
                <a:latin typeface="Apple SD Gothic Neo"/>
              </a:rPr>
              <a:t> </a:t>
            </a:r>
            <a:r>
              <a:rPr sz="1600" b="1" dirty="0" err="1">
                <a:solidFill>
                  <a:srgbClr val="333333"/>
                </a:solidFill>
                <a:latin typeface="Apple SD Gothic Neo"/>
              </a:rPr>
              <a:t>층은</a:t>
            </a:r>
            <a:r>
              <a:rPr sz="1600" b="1" dirty="0">
                <a:solidFill>
                  <a:srgbClr val="333333"/>
                </a:solidFill>
                <a:latin typeface="Apple SD Gothic Neo"/>
              </a:rPr>
              <a:t> </a:t>
            </a:r>
            <a:r>
              <a:rPr sz="1600" b="1" dirty="0" err="1">
                <a:solidFill>
                  <a:srgbClr val="333333"/>
                </a:solidFill>
                <a:latin typeface="Apple SD Gothic Neo"/>
              </a:rPr>
              <a:t>이걸</a:t>
            </a:r>
            <a:r>
              <a:rPr sz="1600" b="1" dirty="0">
                <a:solidFill>
                  <a:srgbClr val="333333"/>
                </a:solidFill>
                <a:latin typeface="Apple SD Gothic Neo"/>
              </a:rPr>
              <a:t> </a:t>
            </a:r>
            <a:r>
              <a:rPr sz="1600" b="1" dirty="0" err="1">
                <a:solidFill>
                  <a:srgbClr val="333333"/>
                </a:solidFill>
                <a:latin typeface="Apple SD Gothic Neo"/>
              </a:rPr>
              <a:t>안전하게</a:t>
            </a:r>
            <a:r>
              <a:rPr sz="1600" b="1" dirty="0">
                <a:solidFill>
                  <a:srgbClr val="333333"/>
                </a:solidFill>
                <a:latin typeface="Apple SD Gothic Neo"/>
              </a:rPr>
              <a:t> </a:t>
            </a:r>
            <a:r>
              <a:rPr sz="1600" b="1" dirty="0" err="1">
                <a:solidFill>
                  <a:srgbClr val="333333"/>
                </a:solidFill>
                <a:latin typeface="Apple SD Gothic Neo"/>
              </a:rPr>
              <a:t>쓰기</a:t>
            </a:r>
            <a:r>
              <a:rPr sz="1600" b="1" dirty="0">
                <a:solidFill>
                  <a:srgbClr val="333333"/>
                </a:solidFill>
                <a:latin typeface="Apple SD Gothic Neo"/>
              </a:rPr>
              <a:t> </a:t>
            </a:r>
            <a:r>
              <a:rPr sz="1600" b="1" dirty="0" err="1">
                <a:solidFill>
                  <a:srgbClr val="333333"/>
                </a:solidFill>
                <a:latin typeface="Apple SD Gothic Neo"/>
              </a:rPr>
              <a:t>위한</a:t>
            </a:r>
            <a:r>
              <a:rPr sz="1600" b="1" dirty="0">
                <a:solidFill>
                  <a:srgbClr val="333333"/>
                </a:solidFill>
                <a:latin typeface="Apple SD Gothic Neo"/>
              </a:rPr>
              <a:t> </a:t>
            </a:r>
            <a:r>
              <a:rPr sz="1600" b="1" dirty="0" err="1">
                <a:solidFill>
                  <a:srgbClr val="333333"/>
                </a:solidFill>
                <a:latin typeface="Apple SD Gothic Neo"/>
              </a:rPr>
              <a:t>껍데기</a:t>
            </a:r>
            <a:r>
              <a:rPr sz="1600" b="1" dirty="0">
                <a:solidFill>
                  <a:srgbClr val="333333"/>
                </a:solidFill>
                <a:latin typeface="Apple SD Gothic Neo"/>
              </a:rPr>
              <a:t>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384048"/>
            <a:ext cx="1999265" cy="6771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800" b="1" dirty="0" err="1">
                <a:solidFill>
                  <a:srgbClr val="000000"/>
                </a:solidFill>
                <a:latin typeface="Apple SD Gothic Neo"/>
              </a:rPr>
              <a:t>의존</a:t>
            </a:r>
            <a:r>
              <a:rPr sz="3800" b="1" dirty="0">
                <a:solidFill>
                  <a:srgbClr val="000000"/>
                </a:solidFill>
                <a:latin typeface="Apple SD Gothic Neo"/>
              </a:rPr>
              <a:t> </a:t>
            </a:r>
            <a:r>
              <a:rPr sz="3800" b="1" dirty="0" err="1">
                <a:solidFill>
                  <a:srgbClr val="000000"/>
                </a:solidFill>
                <a:latin typeface="Apple SD Gothic Neo"/>
              </a:rPr>
              <a:t>방향</a:t>
            </a:r>
            <a:endParaRPr sz="3800" b="1" dirty="0">
              <a:solidFill>
                <a:srgbClr val="000000"/>
              </a:solidFill>
              <a:latin typeface="Apple SD Gothic Neo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914400" cy="64008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4803760" y="3703320"/>
            <a:ext cx="2743200" cy="868680"/>
          </a:xfrm>
          <a:prstGeom prst="roundRect">
            <a:avLst/>
          </a:prstGeom>
          <a:solidFill>
            <a:srgbClr val="ECE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700" b="1">
                <a:solidFill>
                  <a:srgbClr val="5B5BD6"/>
                </a:solidFill>
                <a:latin typeface="Menlo"/>
              </a:rPr>
              <a:t>Domain (Entity)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883520" y="2788920"/>
            <a:ext cx="1828800" cy="640080"/>
          </a:xfrm>
          <a:prstGeom prst="roundRect">
            <a:avLst/>
          </a:prstGeom>
          <a:solidFill>
            <a:srgbClr val="F1F1F3"/>
          </a:solidFill>
          <a:ln w="12700">
            <a:solidFill>
              <a:srgbClr val="C9C9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333333"/>
                </a:solidFill>
                <a:latin typeface="Menlo"/>
              </a:rPr>
              <a:t>Service</a:t>
            </a:r>
          </a:p>
        </p:txBody>
      </p:sp>
      <p:sp>
        <p:nvSpPr>
          <p:cNvPr id="15" name="Down Arrow 14"/>
          <p:cNvSpPr/>
          <p:nvPr/>
        </p:nvSpPr>
        <p:spPr>
          <a:xfrm>
            <a:off x="3669904" y="3447288"/>
            <a:ext cx="256032" cy="237743"/>
          </a:xfrm>
          <a:prstGeom prst="downArrow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5260960" y="2788920"/>
            <a:ext cx="1828800" cy="640080"/>
          </a:xfrm>
          <a:prstGeom prst="roundRect">
            <a:avLst/>
          </a:prstGeom>
          <a:solidFill>
            <a:srgbClr val="F1F1F3"/>
          </a:solidFill>
          <a:ln w="12700">
            <a:solidFill>
              <a:srgbClr val="C9C9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333333"/>
                </a:solidFill>
                <a:latin typeface="Menlo"/>
              </a:rPr>
              <a:t>Repository</a:t>
            </a:r>
          </a:p>
        </p:txBody>
      </p:sp>
      <p:sp>
        <p:nvSpPr>
          <p:cNvPr id="17" name="Down Arrow 16"/>
          <p:cNvSpPr/>
          <p:nvPr/>
        </p:nvSpPr>
        <p:spPr>
          <a:xfrm>
            <a:off x="6047344" y="3447288"/>
            <a:ext cx="256032" cy="237743"/>
          </a:xfrm>
          <a:prstGeom prst="downArrow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7638400" y="2788920"/>
            <a:ext cx="1828800" cy="640080"/>
          </a:xfrm>
          <a:prstGeom prst="roundRect">
            <a:avLst/>
          </a:prstGeom>
          <a:solidFill>
            <a:srgbClr val="F1F1F3"/>
          </a:solidFill>
          <a:ln w="12700">
            <a:solidFill>
              <a:srgbClr val="C9C9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333333"/>
                </a:solidFill>
                <a:latin typeface="Menlo"/>
              </a:rPr>
              <a:t>DTO</a:t>
            </a:r>
          </a:p>
        </p:txBody>
      </p:sp>
      <p:sp>
        <p:nvSpPr>
          <p:cNvPr id="19" name="Down Arrow 18"/>
          <p:cNvSpPr/>
          <p:nvPr/>
        </p:nvSpPr>
        <p:spPr>
          <a:xfrm>
            <a:off x="8424784" y="3447288"/>
            <a:ext cx="256032" cy="237743"/>
          </a:xfrm>
          <a:prstGeom prst="downArrow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384048"/>
            <a:ext cx="10515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000000"/>
                </a:solidFill>
                <a:latin typeface="Apple SD Gothic Neo"/>
              </a:rPr>
              <a:t>어떻게 의존하나 — 코드에 “Claim”을 쓴다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914400" cy="64008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77240" y="1874519"/>
            <a:ext cx="10607040" cy="960120"/>
          </a:xfrm>
          <a:prstGeom prst="roundRect">
            <a:avLst/>
          </a:prstGeom>
          <a:solidFill>
            <a:srgbClr val="F1F1F3"/>
          </a:solidFill>
          <a:ln w="12700">
            <a:solidFill>
              <a:srgbClr val="C9C9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rtlCol="0" anchor="ctr"/>
          <a:lstStyle/>
          <a:p>
            <a:pPr algn="l"/>
            <a:r>
              <a:rPr sz="1700" b="1">
                <a:solidFill>
                  <a:srgbClr val="5B5BD6"/>
                </a:solidFill>
                <a:latin typeface="Menlo"/>
              </a:rPr>
              <a:t>Repository    </a:t>
            </a:r>
            <a:r>
              <a:rPr sz="1500" b="0">
                <a:solidFill>
                  <a:srgbClr val="333333"/>
                </a:solidFill>
                <a:latin typeface="Menlo"/>
              </a:rPr>
              <a:t>extends JpaRepository&lt;</a:t>
            </a:r>
            <a:r>
              <a:rPr sz="1500" b="1">
                <a:solidFill>
                  <a:srgbClr val="D02B2B"/>
                </a:solidFill>
                <a:latin typeface="Menlo"/>
              </a:rPr>
              <a:t>Claim</a:t>
            </a:r>
            <a:r>
              <a:rPr sz="1500" b="0">
                <a:solidFill>
                  <a:srgbClr val="333333"/>
                </a:solidFill>
                <a:latin typeface="Menlo"/>
              </a:rPr>
              <a:t>&gt;</a:t>
            </a:r>
          </a:p>
          <a:p>
            <a:pPr algn="l"/>
            <a:r>
              <a:rPr sz="1350">
                <a:solidFill>
                  <a:srgbClr val="888890"/>
                </a:solidFill>
                <a:latin typeface="Apple SD Gothic Neo"/>
              </a:rPr>
              <a:t>→ Claim을 DB에 저장·조회한다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3063239"/>
            <a:ext cx="10607040" cy="960120"/>
          </a:xfrm>
          <a:prstGeom prst="roundRect">
            <a:avLst/>
          </a:prstGeom>
          <a:solidFill>
            <a:srgbClr val="F1F1F3"/>
          </a:solidFill>
          <a:ln w="12700">
            <a:solidFill>
              <a:srgbClr val="C9C9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rtlCol="0" anchor="ctr"/>
          <a:lstStyle/>
          <a:p>
            <a:pPr algn="l"/>
            <a:r>
              <a:rPr sz="1700" b="1">
                <a:solidFill>
                  <a:srgbClr val="5B5BD6"/>
                </a:solidFill>
                <a:latin typeface="Menlo"/>
              </a:rPr>
              <a:t>Service    </a:t>
            </a:r>
            <a:r>
              <a:rPr sz="1500" b="1">
                <a:solidFill>
                  <a:srgbClr val="D02B2B"/>
                </a:solidFill>
                <a:latin typeface="Menlo"/>
              </a:rPr>
              <a:t>claim</a:t>
            </a:r>
            <a:r>
              <a:rPr sz="1500" b="0">
                <a:solidFill>
                  <a:srgbClr val="333333"/>
                </a:solidFill>
                <a:latin typeface="Menlo"/>
              </a:rPr>
              <a:t>.markInReview()</a:t>
            </a:r>
          </a:p>
          <a:p>
            <a:pPr algn="l"/>
            <a:r>
              <a:rPr sz="1350">
                <a:solidFill>
                  <a:srgbClr val="888890"/>
                </a:solidFill>
                <a:latin typeface="Apple SD Gothic Neo"/>
              </a:rPr>
              <a:t>→ Claim의 규칙(메서드)을 실행한다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4251960"/>
            <a:ext cx="10607040" cy="960120"/>
          </a:xfrm>
          <a:prstGeom prst="roundRect">
            <a:avLst/>
          </a:prstGeom>
          <a:solidFill>
            <a:srgbClr val="F1F1F3"/>
          </a:solidFill>
          <a:ln w="12700">
            <a:solidFill>
              <a:srgbClr val="C9C9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rtlCol="0" anchor="ctr"/>
          <a:lstStyle/>
          <a:p>
            <a:pPr algn="l"/>
            <a:r>
              <a:rPr sz="1700" b="1">
                <a:solidFill>
                  <a:srgbClr val="5B5BD6"/>
                </a:solidFill>
                <a:latin typeface="Menlo"/>
              </a:rPr>
              <a:t>DTO    </a:t>
            </a:r>
            <a:r>
              <a:rPr sz="1500" b="0">
                <a:solidFill>
                  <a:srgbClr val="333333"/>
                </a:solidFill>
                <a:latin typeface="Menlo"/>
              </a:rPr>
              <a:t>from(</a:t>
            </a:r>
            <a:r>
              <a:rPr sz="1500" b="1">
                <a:solidFill>
                  <a:srgbClr val="D02B2B"/>
                </a:solidFill>
                <a:latin typeface="Menlo"/>
              </a:rPr>
              <a:t>Claim</a:t>
            </a:r>
            <a:r>
              <a:rPr sz="1500" b="0">
                <a:solidFill>
                  <a:srgbClr val="333333"/>
                </a:solidFill>
                <a:latin typeface="Menlo"/>
              </a:rPr>
              <a:t> claim)</a:t>
            </a:r>
          </a:p>
          <a:p>
            <a:pPr algn="l"/>
            <a:r>
              <a:rPr sz="1350">
                <a:solidFill>
                  <a:srgbClr val="888890"/>
                </a:solidFill>
                <a:latin typeface="Apple SD Gothic Neo"/>
              </a:rPr>
              <a:t>→ Claim을 화면용 데이터로 변환한다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5440680"/>
            <a:ext cx="10607040" cy="731520"/>
          </a:xfrm>
          <a:prstGeom prst="roundRect">
            <a:avLst/>
          </a:prstGeom>
          <a:solidFill>
            <a:srgbClr val="ECE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50" b="1">
                <a:solidFill>
                  <a:srgbClr val="333333"/>
                </a:solidFill>
                <a:latin typeface="Apple SD Gothic Neo"/>
              </a:rPr>
              <a:t>셋 다 Claim을 “쓰기” 위해 이름을 적는다 = 의존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384048"/>
            <a:ext cx="10515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800" b="1">
                <a:solidFill>
                  <a:srgbClr val="000000"/>
                </a:solidFill>
                <a:latin typeface="Apple SD Gothic Neo"/>
              </a:rPr>
              <a:t>Domain은 아무도 안 쓴다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914400" cy="64008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481328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>
                <a:solidFill>
                  <a:srgbClr val="5B5BD6"/>
                </a:solidFill>
                <a:latin typeface="Menlo"/>
              </a:rPr>
              <a:t>domain/claim/Claim.java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395728"/>
            <a:ext cx="10607040" cy="3017520"/>
          </a:xfrm>
          <a:prstGeom prst="roundRect">
            <a:avLst/>
          </a:prstGeom>
          <a:solidFill>
            <a:srgbClr val="2623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11480" rtlCol="0" anchor="ctr"/>
          <a:lstStyle/>
          <a:p>
            <a:pPr algn="l"/>
            <a:r>
              <a:rPr sz="1500" dirty="0">
                <a:solidFill>
                  <a:srgbClr val="E8E8F2"/>
                </a:solidFill>
                <a:latin typeface="Menlo"/>
              </a:rPr>
              <a:t>class </a:t>
            </a:r>
            <a:r>
              <a:rPr sz="1500" dirty="0">
                <a:solidFill>
                  <a:srgbClr val="F0B47A"/>
                </a:solidFill>
                <a:latin typeface="Menlo"/>
              </a:rPr>
              <a:t>Claim</a:t>
            </a:r>
            <a:r>
              <a:rPr sz="1500" dirty="0">
                <a:solidFill>
                  <a:srgbClr val="E8E8F2"/>
                </a:solidFill>
                <a:latin typeface="Menlo"/>
              </a:rPr>
              <a:t> {</a:t>
            </a:r>
          </a:p>
          <a:p>
            <a:pPr algn="l"/>
            <a:r>
              <a:rPr sz="1500" dirty="0">
                <a:solidFill>
                  <a:srgbClr val="E8E8F2"/>
                </a:solidFill>
                <a:latin typeface="Menlo"/>
              </a:rPr>
              <a:t>    int </a:t>
            </a:r>
            <a:r>
              <a:rPr sz="1500" dirty="0" err="1">
                <a:solidFill>
                  <a:srgbClr val="E8E8F2"/>
                </a:solidFill>
                <a:latin typeface="Menlo"/>
              </a:rPr>
              <a:t>requestAmount</a:t>
            </a:r>
            <a:r>
              <a:rPr sz="1500" dirty="0">
                <a:solidFill>
                  <a:srgbClr val="E8E8F2"/>
                </a:solidFill>
                <a:latin typeface="Menlo"/>
              </a:rPr>
              <a:t>;        </a:t>
            </a:r>
            <a:r>
              <a:rPr sz="1500" dirty="0">
                <a:solidFill>
                  <a:srgbClr val="9A9AB8"/>
                </a:solidFill>
                <a:latin typeface="Menlo"/>
              </a:rPr>
              <a:t>// </a:t>
            </a:r>
            <a:r>
              <a:rPr sz="1500" dirty="0" err="1">
                <a:solidFill>
                  <a:srgbClr val="9A9AB8"/>
                </a:solidFill>
                <a:latin typeface="Menlo"/>
              </a:rPr>
              <a:t>데이터</a:t>
            </a:r>
            <a:endParaRPr sz="1500" dirty="0">
              <a:solidFill>
                <a:srgbClr val="9A9AB8"/>
              </a:solidFill>
              <a:latin typeface="Menlo"/>
            </a:endParaRPr>
          </a:p>
          <a:p>
            <a:pPr algn="l"/>
            <a:r>
              <a:rPr sz="1500" dirty="0">
                <a:solidFill>
                  <a:srgbClr val="E8E8F2"/>
                </a:solidFill>
                <a:latin typeface="Menlo"/>
              </a:rPr>
              <a:t>    </a:t>
            </a:r>
            <a:r>
              <a:rPr sz="1500" dirty="0" err="1">
                <a:solidFill>
                  <a:srgbClr val="E8E8F2"/>
                </a:solidFill>
                <a:latin typeface="Menlo"/>
              </a:rPr>
              <a:t>ClaimStatus</a:t>
            </a:r>
            <a:r>
              <a:rPr sz="1500" dirty="0">
                <a:solidFill>
                  <a:srgbClr val="E8E8F2"/>
                </a:solidFill>
                <a:latin typeface="Menlo"/>
              </a:rPr>
              <a:t> status;</a:t>
            </a:r>
          </a:p>
          <a:p>
            <a:pPr algn="l"/>
            <a:endParaRPr sz="1500" dirty="0">
              <a:solidFill>
                <a:srgbClr val="E8E8F2"/>
              </a:solidFill>
              <a:latin typeface="Menlo"/>
            </a:endParaRPr>
          </a:p>
          <a:p>
            <a:pPr algn="l"/>
            <a:r>
              <a:rPr sz="1500" dirty="0">
                <a:solidFill>
                  <a:srgbClr val="E8E8F2"/>
                </a:solidFill>
                <a:latin typeface="Menlo"/>
              </a:rPr>
              <a:t>    void </a:t>
            </a:r>
            <a:r>
              <a:rPr sz="1500" dirty="0" err="1">
                <a:solidFill>
                  <a:srgbClr val="E8E8F2"/>
                </a:solidFill>
                <a:latin typeface="Menlo"/>
              </a:rPr>
              <a:t>markInReview</a:t>
            </a:r>
            <a:r>
              <a:rPr sz="1500" dirty="0">
                <a:solidFill>
                  <a:srgbClr val="E8E8F2"/>
                </a:solidFill>
                <a:latin typeface="Menlo"/>
              </a:rPr>
              <a:t>() {      </a:t>
            </a:r>
            <a:r>
              <a:rPr sz="1500" dirty="0">
                <a:solidFill>
                  <a:srgbClr val="9A9AB8"/>
                </a:solidFill>
                <a:latin typeface="Menlo"/>
              </a:rPr>
              <a:t>// </a:t>
            </a:r>
            <a:r>
              <a:rPr sz="1500" dirty="0" err="1">
                <a:solidFill>
                  <a:srgbClr val="9A9AB8"/>
                </a:solidFill>
                <a:latin typeface="Menlo"/>
              </a:rPr>
              <a:t>규칙</a:t>
            </a:r>
            <a:endParaRPr sz="1500" dirty="0">
              <a:solidFill>
                <a:srgbClr val="9A9AB8"/>
              </a:solidFill>
              <a:latin typeface="Menlo"/>
            </a:endParaRPr>
          </a:p>
          <a:p>
            <a:pPr algn="l"/>
            <a:r>
              <a:rPr sz="1500" dirty="0">
                <a:solidFill>
                  <a:srgbClr val="E8E8F2"/>
                </a:solidFill>
                <a:latin typeface="Menlo"/>
              </a:rPr>
              <a:t>        </a:t>
            </a:r>
            <a:r>
              <a:rPr sz="1500" dirty="0" err="1">
                <a:solidFill>
                  <a:srgbClr val="E8E8F2"/>
                </a:solidFill>
                <a:latin typeface="Menlo"/>
              </a:rPr>
              <a:t>this.status</a:t>
            </a:r>
            <a:r>
              <a:rPr sz="1500" dirty="0">
                <a:solidFill>
                  <a:srgbClr val="E8E8F2"/>
                </a:solidFill>
                <a:latin typeface="Menlo"/>
              </a:rPr>
              <a:t> = IN_REVIEW;</a:t>
            </a:r>
          </a:p>
          <a:p>
            <a:pPr algn="l"/>
            <a:r>
              <a:rPr sz="1500" dirty="0">
                <a:solidFill>
                  <a:srgbClr val="E8E8F2"/>
                </a:solidFill>
                <a:latin typeface="Menlo"/>
              </a:rPr>
              <a:t>    }</a:t>
            </a:r>
          </a:p>
          <a:p>
            <a:pPr algn="l"/>
            <a:r>
              <a:rPr sz="1500" dirty="0">
                <a:solidFill>
                  <a:srgbClr val="E8E8F2"/>
                </a:solidFill>
                <a:latin typeface="Menlo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901952"/>
            <a:ext cx="104241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50" b="1">
                <a:solidFill>
                  <a:srgbClr val="333333"/>
                </a:solidFill>
                <a:latin typeface="Apple SD Gothic Neo"/>
              </a:rPr>
              <a:t>청구 1건을 표현하는 객체 — </a:t>
            </a:r>
            <a:r>
              <a:rPr sz="1450" b="1">
                <a:solidFill>
                  <a:srgbClr val="5B5BD6"/>
                </a:solidFill>
                <a:latin typeface="Apple SD Gothic Neo"/>
              </a:rPr>
              <a:t>데이터(금액·상태) + 규칙(메서드)만 가짐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프로젝트 구조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1828800"/>
            <a:ext cx="3108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 spc="-30">
                <a:solidFill>
                  <a:srgbClr val="B5793A"/>
                </a:solidFill>
                <a:latin typeface="Apple SD Gothic Neo"/>
              </a:rPr>
              <a:t>프론트 · React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514600"/>
            <a:ext cx="3017520" cy="640080"/>
          </a:xfrm>
          <a:prstGeom prst="roundRect">
            <a:avLst>
              <a:gd name="adj" fmla="val 16000"/>
            </a:avLst>
          </a:prstGeom>
          <a:solidFill>
            <a:srgbClr val="F7EDE6"/>
          </a:solidFill>
          <a:ln w="1778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52400" tIns="63500" rIns="152400" bIns="63500" rtlCol="0" anchor="ctr"/>
          <a:lstStyle/>
          <a:p>
            <a:pPr algn="l"/>
            <a:r>
              <a:rPr sz="1700" b="1">
                <a:solidFill>
                  <a:srgbClr val="1A1A1A"/>
                </a:solidFill>
                <a:latin typeface="Menlo"/>
              </a:rPr>
              <a:t>화면  </a:t>
            </a:r>
            <a:r>
              <a:rPr sz="1300" b="0">
                <a:solidFill>
                  <a:srgbClr val="6B7280"/>
                </a:solidFill>
                <a:latin typeface="Apple SD Gothic Neo"/>
              </a:rPr>
              <a:t>보이는 UI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3099816"/>
            <a:ext cx="82296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6B7280"/>
                </a:solidFill>
                <a:latin typeface="Apple SD Gothic Neo"/>
              </a:rPr>
              <a:t>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355848"/>
            <a:ext cx="3017520" cy="640080"/>
          </a:xfrm>
          <a:prstGeom prst="roundRect">
            <a:avLst>
              <a:gd name="adj" fmla="val 16000"/>
            </a:avLst>
          </a:prstGeom>
          <a:solidFill>
            <a:srgbClr val="F7EDE6"/>
          </a:solidFill>
          <a:ln w="1778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52400" tIns="63500" rIns="152400" bIns="63500" rtlCol="0" anchor="ctr"/>
          <a:lstStyle/>
          <a:p>
            <a:pPr algn="l"/>
            <a:r>
              <a:rPr sz="1700" b="1">
                <a:solidFill>
                  <a:srgbClr val="1A1A1A"/>
                </a:solidFill>
                <a:latin typeface="Menlo"/>
              </a:rPr>
              <a:t>hook  </a:t>
            </a:r>
            <a:r>
              <a:rPr sz="1300" b="0">
                <a:solidFill>
                  <a:srgbClr val="6B7280"/>
                </a:solidFill>
                <a:latin typeface="Apple SD Gothic Neo"/>
              </a:rPr>
              <a:t>호출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3941063"/>
            <a:ext cx="82296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6B7280"/>
                </a:solidFill>
                <a:latin typeface="Apple SD Gothic Neo"/>
              </a:rPr>
              <a:t>↓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4197096"/>
            <a:ext cx="3017520" cy="640080"/>
          </a:xfrm>
          <a:prstGeom prst="roundRect">
            <a:avLst>
              <a:gd name="adj" fmla="val 16000"/>
            </a:avLst>
          </a:prstGeom>
          <a:solidFill>
            <a:srgbClr val="F7EDE6"/>
          </a:solidFill>
          <a:ln w="1778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52400" tIns="63500" rIns="152400" bIns="63500" rtlCol="0" anchor="ctr"/>
          <a:lstStyle/>
          <a:p>
            <a:pPr algn="l"/>
            <a:r>
              <a:rPr sz="1700" b="1">
                <a:solidFill>
                  <a:srgbClr val="1A1A1A"/>
                </a:solidFill>
                <a:latin typeface="Menlo"/>
              </a:rPr>
              <a:t>api  </a:t>
            </a:r>
            <a:r>
              <a:rPr sz="1300" b="0">
                <a:solidFill>
                  <a:srgbClr val="6B7280"/>
                </a:solidFill>
                <a:latin typeface="Apple SD Gothic Neo"/>
              </a:rPr>
              <a:t>서버 요청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66760" y="1828800"/>
            <a:ext cx="3108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 spc="-30">
                <a:solidFill>
                  <a:srgbClr val="5B5BD6"/>
                </a:solidFill>
                <a:latin typeface="Apple SD Gothic Neo"/>
              </a:rPr>
              <a:t>백엔드 · Spring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366760" y="2514600"/>
            <a:ext cx="3017520" cy="566928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778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52400" tIns="63500" rIns="152400" bIns="63500" rtlCol="0" anchor="ctr"/>
          <a:lstStyle/>
          <a:p>
            <a:pPr algn="ctr"/>
            <a:r>
              <a:rPr sz="1600" b="1" dirty="0">
                <a:solidFill>
                  <a:srgbClr val="1A1A1A"/>
                </a:solidFill>
                <a:latin typeface="Menlo"/>
              </a:rPr>
              <a:t>controller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18320" y="3026664"/>
            <a:ext cx="82296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6B7280"/>
                </a:solidFill>
                <a:latin typeface="Apple SD Gothic Neo"/>
              </a:rPr>
              <a:t>↓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66760" y="3191256"/>
            <a:ext cx="3017520" cy="566928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778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52400" tIns="63500" rIns="152400" bIns="63500" rtlCol="0" anchor="ctr"/>
          <a:lstStyle/>
          <a:p>
            <a:pPr algn="ctr"/>
            <a:r>
              <a:rPr sz="1600" b="1">
                <a:solidFill>
                  <a:srgbClr val="1A1A1A"/>
                </a:solidFill>
                <a:latin typeface="Menlo"/>
              </a:rPr>
              <a:t>service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18320" y="3703320"/>
            <a:ext cx="82296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6B7280"/>
                </a:solidFill>
                <a:latin typeface="Apple SD Gothic Neo"/>
              </a:rPr>
              <a:t>↓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66760" y="3867912"/>
            <a:ext cx="3017520" cy="566928"/>
          </a:xfrm>
          <a:prstGeom prst="roundRect">
            <a:avLst>
              <a:gd name="adj" fmla="val 16000"/>
            </a:avLst>
          </a:prstGeom>
          <a:solidFill>
            <a:srgbClr val="ECEBFB"/>
          </a:solidFill>
          <a:ln w="1778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52400" tIns="63500" rIns="152400" bIns="63500" rtlCol="0" anchor="ctr"/>
          <a:lstStyle/>
          <a:p>
            <a:pPr algn="ctr"/>
            <a:r>
              <a:rPr lang="en" sz="1600" b="1" dirty="0">
                <a:solidFill>
                  <a:srgbClr val="1A1A1A"/>
                </a:solidFill>
                <a:latin typeface="Menlo"/>
              </a:rPr>
              <a:t>D</a:t>
            </a:r>
            <a:r>
              <a:rPr sz="1600" b="1" dirty="0" err="1">
                <a:solidFill>
                  <a:srgbClr val="1A1A1A"/>
                </a:solidFill>
                <a:latin typeface="Menlo"/>
              </a:rPr>
              <a:t>omain</a:t>
            </a:r>
            <a:r>
              <a:rPr lang="en-US" altLang="ko-KR" sz="1600" b="1" dirty="0">
                <a:solidFill>
                  <a:srgbClr val="1A1A1A"/>
                </a:solidFill>
                <a:latin typeface="Menlo"/>
              </a:rPr>
              <a:t>(entity)</a:t>
            </a:r>
            <a:endParaRPr sz="1600" b="1" dirty="0">
              <a:solidFill>
                <a:srgbClr val="1A1A1A"/>
              </a:solidFill>
              <a:latin typeface="Menlo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9418320" y="4379976"/>
            <a:ext cx="82296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6B7280"/>
                </a:solidFill>
                <a:latin typeface="Apple SD Gothic Neo"/>
              </a:rPr>
              <a:t>↓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366760" y="4544568"/>
            <a:ext cx="3017520" cy="566928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778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52400" tIns="63500" rIns="152400" bIns="63500" rtlCol="0" anchor="ctr"/>
          <a:lstStyle/>
          <a:p>
            <a:pPr algn="ctr"/>
            <a:r>
              <a:rPr sz="1600" b="1" dirty="0">
                <a:solidFill>
                  <a:srgbClr val="1A1A1A"/>
                </a:solidFill>
                <a:latin typeface="Menlo"/>
              </a:rPr>
              <a:t>repository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18320" y="5056632"/>
            <a:ext cx="82296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6B7280"/>
                </a:solidFill>
                <a:latin typeface="Apple SD Gothic Neo"/>
              </a:rPr>
              <a:t>↓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366760" y="5221224"/>
            <a:ext cx="3017520" cy="566928"/>
          </a:xfrm>
          <a:prstGeom prst="roundRect">
            <a:avLst>
              <a:gd name="adj" fmla="val 16000"/>
            </a:avLst>
          </a:prstGeom>
          <a:solidFill>
            <a:srgbClr val="5B5BD6"/>
          </a:solidFill>
          <a:ln w="1778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52400" tIns="63500" rIns="152400" bIns="6350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Menlo"/>
              </a:rPr>
              <a:t>DB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86200" y="3383280"/>
            <a:ext cx="4434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 spc="-20">
                <a:solidFill>
                  <a:srgbClr val="1A1A1A"/>
                </a:solidFill>
                <a:latin typeface="Apple SD Gothic Neo"/>
              </a:rPr>
              <a:t>요청 DTO  ───────▶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86200" y="4160520"/>
            <a:ext cx="4434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 spc="-20">
                <a:solidFill>
                  <a:srgbClr val="1A1A1A"/>
                </a:solidFill>
                <a:latin typeface="Apple SD Gothic Neo"/>
              </a:rPr>
              <a:t>◀───────  응답 DTO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8925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ko-KR" altLang="en-US" sz="5200" b="1" spc="-100" dirty="0">
                <a:solidFill>
                  <a:srgbClr val="1A1A1A"/>
                </a:solidFill>
                <a:latin typeface="Apple SD Gothic Neo"/>
              </a:rPr>
              <a:t>흐름 이해하기</a:t>
            </a:r>
            <a:endParaRPr sz="5200" b="1" spc="-100" dirty="0">
              <a:solidFill>
                <a:srgbClr val="1A1A1A"/>
              </a:solidFill>
              <a:latin typeface="Apple SD Gothic Neo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 spc="-30">
                <a:solidFill>
                  <a:srgbClr val="1A1A1A"/>
                </a:solidFill>
                <a:latin typeface="Apple SD Gothic Neo"/>
              </a:rPr>
              <a:t>고객이 상품 목록에서 </a:t>
            </a:r>
            <a:r>
              <a:rPr sz="2000" b="1" spc="-30">
                <a:solidFill>
                  <a:srgbClr val="5B5BD6"/>
                </a:solidFill>
                <a:latin typeface="Apple SD Gothic Neo"/>
              </a:rPr>
              <a:t>'실손기본'</a:t>
            </a:r>
            <a:r>
              <a:rPr sz="2000" b="1" spc="-30">
                <a:solidFill>
                  <a:srgbClr val="1A1A1A"/>
                </a:solidFill>
                <a:latin typeface="Apple SD Gothic Neo"/>
              </a:rPr>
              <a:t>을 클릭한다.</a:t>
            </a:r>
          </a:p>
        </p:txBody>
      </p:sp>
      <p:pic>
        <p:nvPicPr>
          <p:cNvPr id="5" name="Picture 4" descr="products-before.png"/>
          <p:cNvPicPr>
            <a:picLocks noChangeAspect="1"/>
          </p:cNvPicPr>
          <p:nvPr/>
        </p:nvPicPr>
        <p:blipFill>
          <a:blip r:embed="rId2"/>
          <a:srcRect l="10618" t="7536" r="46827"/>
          <a:stretch>
            <a:fillRect/>
          </a:stretch>
        </p:blipFill>
        <p:spPr>
          <a:xfrm>
            <a:off x="6096000" y="349669"/>
            <a:ext cx="4588096" cy="6230683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8" name="잉크 7">
                <a:extLst>
                  <a:ext uri="{FF2B5EF4-FFF2-40B4-BE49-F238E27FC236}">
                    <a16:creationId xmlns:a16="http://schemas.microsoft.com/office/drawing/2014/main" id="{CABDBD7C-70C2-1F3F-6F37-C647EEE0D3D4}"/>
                  </a:ext>
                </a:extLst>
              </p14:cNvPr>
              <p14:cNvContentPartPr/>
              <p14:nvPr/>
            </p14:nvContentPartPr>
            <p14:xfrm>
              <a:off x="3976796" y="3350307"/>
              <a:ext cx="3240" cy="3240"/>
            </p14:xfrm>
          </p:contentPart>
        </mc:Choice>
        <mc:Fallback xmlns="">
          <p:pic>
            <p:nvPicPr>
              <p:cNvPr id="8" name="잉크 7">
                <a:extLst>
                  <a:ext uri="{FF2B5EF4-FFF2-40B4-BE49-F238E27FC236}">
                    <a16:creationId xmlns:a16="http://schemas.microsoft.com/office/drawing/2014/main" id="{CABDBD7C-70C2-1F3F-6F37-C647EEE0D3D4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970676" y="3344187"/>
                <a:ext cx="15480" cy="15480"/>
              </a:xfrm>
              <a:prstGeom prst="rect">
                <a:avLst/>
              </a:prstGeom>
            </p:spPr>
          </p:pic>
        </mc:Fallback>
      </mc:AlternateContent>
      <p:grpSp>
        <p:nvGrpSpPr>
          <p:cNvPr id="13" name="그룹 12">
            <a:extLst>
              <a:ext uri="{FF2B5EF4-FFF2-40B4-BE49-F238E27FC236}">
                <a16:creationId xmlns:a16="http://schemas.microsoft.com/office/drawing/2014/main" id="{DF70ED31-5987-6BEC-A4CA-223DDD519E9A}"/>
              </a:ext>
            </a:extLst>
          </p:cNvPr>
          <p:cNvGrpSpPr/>
          <p:nvPr/>
        </p:nvGrpSpPr>
        <p:grpSpPr>
          <a:xfrm>
            <a:off x="5763476" y="5127627"/>
            <a:ext cx="2431080" cy="937440"/>
            <a:chOff x="5763476" y="5127627"/>
            <a:chExt cx="2431080" cy="937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10" name="잉크 9">
                  <a:extLst>
                    <a:ext uri="{FF2B5EF4-FFF2-40B4-BE49-F238E27FC236}">
                      <a16:creationId xmlns:a16="http://schemas.microsoft.com/office/drawing/2014/main" id="{1B1219C2-5996-E726-0D0F-12FB2DA85CD1}"/>
                    </a:ext>
                  </a:extLst>
                </p14:cNvPr>
                <p14:cNvContentPartPr/>
                <p14:nvPr/>
              </p14:nvContentPartPr>
              <p14:xfrm>
                <a:off x="6430196" y="5304747"/>
                <a:ext cx="1764360" cy="760320"/>
              </p14:xfrm>
            </p:contentPart>
          </mc:Choice>
          <mc:Fallback xmlns="">
            <p:pic>
              <p:nvPicPr>
                <p:cNvPr id="10" name="잉크 9">
                  <a:extLst>
                    <a:ext uri="{FF2B5EF4-FFF2-40B4-BE49-F238E27FC236}">
                      <a16:creationId xmlns:a16="http://schemas.microsoft.com/office/drawing/2014/main" id="{1B1219C2-5996-E726-0D0F-12FB2DA85CD1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6424076" y="5298627"/>
                  <a:ext cx="1776600" cy="77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11" name="잉크 10">
                  <a:extLst>
                    <a:ext uri="{FF2B5EF4-FFF2-40B4-BE49-F238E27FC236}">
                      <a16:creationId xmlns:a16="http://schemas.microsoft.com/office/drawing/2014/main" id="{45E7E23C-45DC-771D-85E1-CD1C8DA4CA4E}"/>
                    </a:ext>
                  </a:extLst>
                </p14:cNvPr>
                <p14:cNvContentPartPr/>
                <p14:nvPr/>
              </p14:nvContentPartPr>
              <p14:xfrm>
                <a:off x="5763476" y="5127627"/>
                <a:ext cx="700920" cy="534960"/>
              </p14:xfrm>
            </p:contentPart>
          </mc:Choice>
          <mc:Fallback xmlns="">
            <p:pic>
              <p:nvPicPr>
                <p:cNvPr id="11" name="잉크 10">
                  <a:extLst>
                    <a:ext uri="{FF2B5EF4-FFF2-40B4-BE49-F238E27FC236}">
                      <a16:creationId xmlns:a16="http://schemas.microsoft.com/office/drawing/2014/main" id="{45E7E23C-45DC-771D-85E1-CD1C8DA4CA4E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5757356" y="5121507"/>
                  <a:ext cx="713160" cy="547200"/>
                </a:xfrm>
                <a:prstGeom prst="rect">
                  <a:avLst/>
                </a:prstGeom>
              </p:spPr>
            </p:pic>
          </mc:Fallback>
        </mc:AlternateContent>
      </p:grp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프론트</a:t>
            </a:r>
            <a:r>
              <a:rPr sz="5200" b="1" spc="-100" dirty="0">
                <a:solidFill>
                  <a:srgbClr val="1A1A1A"/>
                </a:solidFill>
                <a:latin typeface="Apple SD Gothic Neo"/>
              </a:rPr>
              <a:t> — </a:t>
            </a:r>
            <a:r>
              <a:rPr sz="5200" b="1" spc="-100" dirty="0" err="1">
                <a:solidFill>
                  <a:srgbClr val="1A1A1A"/>
                </a:solidFill>
                <a:latin typeface="Apple SD Gothic Neo"/>
              </a:rPr>
              <a:t>화면과</a:t>
            </a:r>
            <a:r>
              <a:rPr sz="5200" b="1" spc="-100" dirty="0">
                <a:solidFill>
                  <a:srgbClr val="1A1A1A"/>
                </a:solidFill>
                <a:latin typeface="Apple SD Gothic Neo"/>
              </a:rPr>
              <a:t> hook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60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spc="-20">
                <a:solidFill>
                  <a:srgbClr val="5B5BD6"/>
                </a:solidFill>
                <a:latin typeface="Apple SD Gothic Neo"/>
              </a:rPr>
              <a:t>①   </a:t>
            </a:r>
            <a:r>
              <a:rPr sz="1600" b="0" spc="-20">
                <a:solidFill>
                  <a:srgbClr val="6B7280"/>
                </a:solidFill>
                <a:latin typeface="Menlo"/>
              </a:rPr>
              <a:t>ProductsView.tsx (화면)  +  useCustomerContracts.ts (hook)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286000"/>
            <a:ext cx="10561320" cy="3154680"/>
          </a:xfrm>
          <a:prstGeom prst="roundRect">
            <a:avLst>
              <a:gd name="adj" fmla="val 4000"/>
            </a:avLst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88720" y="2468880"/>
            <a:ext cx="9966960" cy="2788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7C83B0"/>
                </a:solidFill>
                <a:latin typeface="Menlo"/>
              </a:rPr>
              <a:t>// ProductsView.tsx — 화면: hook에서 받아와 버튼에 연결</a:t>
            </a:r>
          </a:p>
          <a:p>
            <a:pPr algn="l"/>
            <a:r>
              <a:rPr sz="1500" b="0">
                <a:solidFill>
                  <a:srgbClr val="CDBFF7"/>
                </a:solidFill>
                <a:latin typeface="Menlo"/>
              </a:rPr>
              <a:t>const { selectProduct } = state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Menlo"/>
              </a:rPr>
              <a:t>&lt;button onClick={() =&gt; selectProduct(product.id)}&gt;…&lt;/button&gt;</a:t>
            </a:r>
          </a:p>
          <a:p>
            <a:pPr algn="l"/>
            <a:endParaRPr sz="1500" b="0">
              <a:solidFill>
                <a:srgbClr val="FFFFFF"/>
              </a:solidFill>
              <a:latin typeface="Menlo"/>
            </a:endParaRPr>
          </a:p>
          <a:p>
            <a:pPr algn="l"/>
            <a:r>
              <a:rPr sz="1500" b="0">
                <a:solidFill>
                  <a:srgbClr val="7C83B0"/>
                </a:solidFill>
                <a:latin typeface="Menlo"/>
              </a:rPr>
              <a:t>// useCustomerContracts.ts — hook: 상태 보관 + 호출</a:t>
            </a:r>
          </a:p>
          <a:p>
            <a:pPr algn="l"/>
            <a:r>
              <a:rPr sz="1500" b="0">
                <a:solidFill>
                  <a:srgbClr val="CDBFF7"/>
                </a:solidFill>
                <a:latin typeface="Menlo"/>
              </a:rPr>
              <a:t>async function selectProduct(id) {</a:t>
            </a:r>
          </a:p>
          <a:p>
            <a:pPr algn="l"/>
            <a:r>
              <a:rPr sz="1500" b="0">
                <a:solidFill>
                  <a:srgbClr val="CDBFF7"/>
                </a:solidFill>
                <a:latin typeface="Menlo"/>
              </a:rPr>
              <a:t>  setSelectedProduct(await contractsApi.getProduct(id))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Menlo"/>
              </a:rP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623560"/>
            <a:ext cx="106070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40" dirty="0" err="1">
                <a:solidFill>
                  <a:srgbClr val="1A1A1A"/>
                </a:solidFill>
                <a:latin typeface="Apple SD Gothic Neo"/>
              </a:rPr>
              <a:t>화면의</a:t>
            </a:r>
            <a:r>
              <a:rPr sz="2400" b="1" spc="-40" dirty="0">
                <a:solidFill>
                  <a:srgbClr val="1A1A1A"/>
                </a:solidFill>
                <a:latin typeface="Apple SD Gothic Neo"/>
              </a:rPr>
              <a:t> </a:t>
            </a:r>
            <a:r>
              <a:rPr sz="2400" b="1" spc="-40" dirty="0" err="1">
                <a:solidFill>
                  <a:srgbClr val="1A1A1A"/>
                </a:solidFill>
                <a:latin typeface="Apple SD Gothic Neo"/>
              </a:rPr>
              <a:t>버튼이</a:t>
            </a:r>
            <a:r>
              <a:rPr sz="2400" b="1" spc="-40" dirty="0">
                <a:solidFill>
                  <a:srgbClr val="1A1A1A"/>
                </a:solidFill>
                <a:latin typeface="Apple SD Gothic Neo"/>
              </a:rPr>
              <a:t> </a:t>
            </a:r>
            <a:r>
              <a:rPr sz="2400" b="1" spc="-40" dirty="0" err="1">
                <a:solidFill>
                  <a:srgbClr val="1A1A1A"/>
                </a:solidFill>
                <a:latin typeface="Apple SD Gothic Neo"/>
              </a:rPr>
              <a:t>hook의</a:t>
            </a:r>
            <a:r>
              <a:rPr sz="2400" b="1" spc="-40" dirty="0">
                <a:solidFill>
                  <a:srgbClr val="1A1A1A"/>
                </a:solidFill>
                <a:latin typeface="Apple SD Gothic Neo"/>
              </a:rPr>
              <a:t> </a:t>
            </a:r>
            <a:r>
              <a:rPr sz="2400" b="1" spc="-40" dirty="0" err="1">
                <a:solidFill>
                  <a:srgbClr val="1A1A1A"/>
                </a:solidFill>
                <a:latin typeface="Apple SD Gothic Neo"/>
              </a:rPr>
              <a:t>selectProduct를</a:t>
            </a:r>
            <a:r>
              <a:rPr sz="2400" b="1" spc="-40" dirty="0">
                <a:solidFill>
                  <a:srgbClr val="1A1A1A"/>
                </a:solidFill>
                <a:latin typeface="Apple SD Gothic Neo"/>
              </a:rPr>
              <a:t> </a:t>
            </a:r>
            <a:r>
              <a:rPr sz="2400" b="1" spc="-40" dirty="0" err="1">
                <a:solidFill>
                  <a:srgbClr val="1A1A1A"/>
                </a:solidFill>
                <a:latin typeface="Apple SD Gothic Neo"/>
              </a:rPr>
              <a:t>호출한다</a:t>
            </a:r>
            <a:r>
              <a:rPr sz="2400" b="1" spc="-40" dirty="0">
                <a:solidFill>
                  <a:srgbClr val="1A1A1A"/>
                </a:solidFill>
                <a:latin typeface="Apple SD Gothic Neo"/>
              </a:rPr>
              <a:t>.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8" name="잉크 7">
                <a:extLst>
                  <a:ext uri="{FF2B5EF4-FFF2-40B4-BE49-F238E27FC236}">
                    <a16:creationId xmlns:a16="http://schemas.microsoft.com/office/drawing/2014/main" id="{20DC98F3-BDEB-9D1C-BC23-EF5F275E94F9}"/>
                  </a:ext>
                </a:extLst>
              </p14:cNvPr>
              <p14:cNvContentPartPr/>
              <p14:nvPr/>
            </p14:nvContentPartPr>
            <p14:xfrm>
              <a:off x="2281080" y="3618969"/>
              <a:ext cx="4628520" cy="159120"/>
            </p14:xfrm>
          </p:contentPart>
        </mc:Choice>
        <mc:Fallback xmlns="">
          <p:pic>
            <p:nvPicPr>
              <p:cNvPr id="8" name="잉크 7">
                <a:extLst>
                  <a:ext uri="{FF2B5EF4-FFF2-40B4-BE49-F238E27FC236}">
                    <a16:creationId xmlns:a16="http://schemas.microsoft.com/office/drawing/2014/main" id="{20DC98F3-BDEB-9D1C-BC23-EF5F275E94F9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274960" y="3612849"/>
                <a:ext cx="4640760" cy="171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9" name="잉크 8">
                <a:extLst>
                  <a:ext uri="{FF2B5EF4-FFF2-40B4-BE49-F238E27FC236}">
                    <a16:creationId xmlns:a16="http://schemas.microsoft.com/office/drawing/2014/main" id="{C7DD10CB-87F0-3630-9511-E324D45632F5}"/>
                  </a:ext>
                </a:extLst>
              </p14:cNvPr>
              <p14:cNvContentPartPr/>
              <p14:nvPr/>
            </p14:nvContentPartPr>
            <p14:xfrm>
              <a:off x="4443600" y="4518249"/>
              <a:ext cx="2562480" cy="142560"/>
            </p14:xfrm>
          </p:contentPart>
        </mc:Choice>
        <mc:Fallback xmlns="">
          <p:pic>
            <p:nvPicPr>
              <p:cNvPr id="9" name="잉크 8">
                <a:extLst>
                  <a:ext uri="{FF2B5EF4-FFF2-40B4-BE49-F238E27FC236}">
                    <a16:creationId xmlns:a16="http://schemas.microsoft.com/office/drawing/2014/main" id="{C7DD10CB-87F0-3630-9511-E324D45632F5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4437480" y="4512129"/>
                <a:ext cx="2574720" cy="15480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프론트 — API 호출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60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spc="-20">
                <a:solidFill>
                  <a:srgbClr val="5B5BD6"/>
                </a:solidFill>
                <a:latin typeface="Apple SD Gothic Neo"/>
              </a:rPr>
              <a:t>②   </a:t>
            </a:r>
            <a:r>
              <a:rPr sz="1600" b="0" spc="-20">
                <a:solidFill>
                  <a:srgbClr val="6B7280"/>
                </a:solidFill>
                <a:latin typeface="Menlo"/>
              </a:rPr>
              <a:t>contracts/api.ts · lib/api/httpClient.ts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286000"/>
            <a:ext cx="10561320" cy="3154680"/>
          </a:xfrm>
          <a:prstGeom prst="roundRect">
            <a:avLst>
              <a:gd name="adj" fmla="val 4000"/>
            </a:avLst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88720" y="2468880"/>
            <a:ext cx="9966960" cy="2788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7C83B0"/>
                </a:solidFill>
                <a:latin typeface="Menlo"/>
              </a:rPr>
              <a:t>// api.ts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Menlo"/>
              </a:rPr>
              <a:t>getProduct(id) {</a:t>
            </a:r>
          </a:p>
          <a:p>
            <a:pPr algn="l"/>
            <a:r>
              <a:rPr sz="1500" b="0">
                <a:solidFill>
                  <a:srgbClr val="CDBFF7"/>
                </a:solidFill>
                <a:latin typeface="Menlo"/>
              </a:rPr>
              <a:t>  return request(`/products/${id}`)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Menlo"/>
              </a:rPr>
              <a:t>}</a:t>
            </a:r>
          </a:p>
          <a:p>
            <a:pPr algn="l"/>
            <a:endParaRPr sz="1500" b="0">
              <a:solidFill>
                <a:srgbClr val="FFFFFF"/>
              </a:solidFill>
              <a:latin typeface="Menlo"/>
            </a:endParaRPr>
          </a:p>
          <a:p>
            <a:pPr algn="l"/>
            <a:r>
              <a:rPr sz="1500" b="0">
                <a:solidFill>
                  <a:srgbClr val="7C83B0"/>
                </a:solidFill>
                <a:latin typeface="Menlo"/>
              </a:rPr>
              <a:t>// httpClient.ts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Menlo"/>
              </a:rPr>
              <a:t>fetch(`${baseUrl}${path}`)  // baseUrl = http://localhost:8080</a:t>
            </a:r>
          </a:p>
          <a:p>
            <a:pPr algn="l"/>
            <a:r>
              <a:rPr sz="1500" b="0">
                <a:solidFill>
                  <a:srgbClr val="7C83B0"/>
                </a:solidFill>
                <a:latin typeface="Menlo"/>
              </a:rPr>
              <a:t>// → GET http://localhost:8080/products/2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623560"/>
            <a:ext cx="106070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40">
                <a:solidFill>
                  <a:srgbClr val="1A1A1A"/>
                </a:solidFill>
                <a:latin typeface="Apple SD Gothic Neo"/>
              </a:rPr>
              <a:t>프론트가 백엔드의 /products/2 로 GET 요청을 보낸다.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백엔드 — 컨트롤러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60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spc="-20">
                <a:solidFill>
                  <a:srgbClr val="5B5BD6"/>
                </a:solidFill>
                <a:latin typeface="Apple SD Gothic Neo"/>
              </a:rPr>
              <a:t>③   </a:t>
            </a:r>
            <a:r>
              <a:rPr sz="1600" b="0" spc="-20">
                <a:solidFill>
                  <a:srgbClr val="6B7280"/>
                </a:solidFill>
                <a:latin typeface="Menlo"/>
              </a:rPr>
              <a:t>web/controller/ProductController.java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286000"/>
            <a:ext cx="10561320" cy="3154680"/>
          </a:xfrm>
          <a:prstGeom prst="roundRect">
            <a:avLst>
              <a:gd name="adj" fmla="val 4000"/>
            </a:avLst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88720" y="2468880"/>
            <a:ext cx="9966960" cy="2788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CDBFF7"/>
                </a:solidFill>
                <a:latin typeface="Menlo"/>
              </a:rPr>
              <a:t>@RestController</a:t>
            </a:r>
          </a:p>
          <a:p>
            <a:pPr algn="l"/>
            <a:r>
              <a:rPr sz="1500" b="0">
                <a:solidFill>
                  <a:srgbClr val="CDBFF7"/>
                </a:solidFill>
                <a:latin typeface="Menlo"/>
              </a:rPr>
              <a:t>class ProductController {</a:t>
            </a:r>
          </a:p>
          <a:p>
            <a:pPr algn="l"/>
            <a:endParaRPr sz="1500" b="0">
              <a:solidFill>
                <a:srgbClr val="CDBFF7"/>
              </a:solidFill>
              <a:latin typeface="Menlo"/>
            </a:endParaRPr>
          </a:p>
          <a:p>
            <a:pPr algn="l"/>
            <a:r>
              <a:rPr sz="1500" b="0">
                <a:solidFill>
                  <a:srgbClr val="CDBFF7"/>
                </a:solidFill>
                <a:latin typeface="Menlo"/>
              </a:rPr>
              <a:t>  @GetMapping("/products/{id}")</a:t>
            </a:r>
          </a:p>
          <a:p>
            <a:pPr algn="l"/>
            <a:r>
              <a:rPr sz="1500" b="0">
                <a:solidFill>
                  <a:srgbClr val="CDBFF7"/>
                </a:solidFill>
                <a:latin typeface="Menlo"/>
              </a:rPr>
              <a:t>  ProductDetailResponse detail(@PathVariable Long id) {</a:t>
            </a:r>
          </a:p>
          <a:p>
            <a:pPr algn="l"/>
            <a:r>
              <a:rPr sz="1500" b="0">
                <a:solidFill>
                  <a:srgbClr val="CDBFF7"/>
                </a:solidFill>
                <a:latin typeface="Menlo"/>
              </a:rPr>
              <a:t>    return productService.detail(id);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Menlo"/>
              </a:rPr>
              <a:t>  }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Menlo"/>
              </a:rP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623560"/>
            <a:ext cx="106070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40">
                <a:solidFill>
                  <a:srgbClr val="1A1A1A"/>
                </a:solidFill>
                <a:latin typeface="Apple SD Gothic Neo"/>
              </a:rPr>
              <a:t>컨트롤러가 요청을 받아 서비스로 넘긴다.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8" name="잉크 7">
                <a:extLst>
                  <a:ext uri="{FF2B5EF4-FFF2-40B4-BE49-F238E27FC236}">
                    <a16:creationId xmlns:a16="http://schemas.microsoft.com/office/drawing/2014/main" id="{9EF72B6E-E999-134D-50A7-A1B385201EE5}"/>
                  </a:ext>
                </a:extLst>
              </p14:cNvPr>
              <p14:cNvContentPartPr/>
              <p14:nvPr/>
            </p14:nvContentPartPr>
            <p14:xfrm>
              <a:off x="2534880" y="4337169"/>
              <a:ext cx="3196800" cy="255960"/>
            </p14:xfrm>
          </p:contentPart>
        </mc:Choice>
        <mc:Fallback xmlns="">
          <p:pic>
            <p:nvPicPr>
              <p:cNvPr id="8" name="잉크 7">
                <a:extLst>
                  <a:ext uri="{FF2B5EF4-FFF2-40B4-BE49-F238E27FC236}">
                    <a16:creationId xmlns:a16="http://schemas.microsoft.com/office/drawing/2014/main" id="{9EF72B6E-E999-134D-50A7-A1B385201EE5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528760" y="4331049"/>
                <a:ext cx="3209040" cy="26820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8925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5200" b="1" spc="-100" dirty="0" err="1">
                <a:solidFill>
                  <a:srgbClr val="1A1A1A"/>
                </a:solidFill>
                <a:latin typeface="Apple SD Gothic Neo"/>
              </a:rPr>
              <a:t>백엔드</a:t>
            </a:r>
            <a:r>
              <a:rPr sz="5200" b="1" spc="-100" dirty="0">
                <a:solidFill>
                  <a:srgbClr val="1A1A1A"/>
                </a:solidFill>
                <a:latin typeface="Apple SD Gothic Neo"/>
              </a:rPr>
              <a:t> — </a:t>
            </a:r>
            <a:r>
              <a:rPr sz="5200" b="1" spc="-100" dirty="0" err="1">
                <a:solidFill>
                  <a:srgbClr val="1A1A1A"/>
                </a:solidFill>
                <a:latin typeface="Apple SD Gothic Neo"/>
              </a:rPr>
              <a:t>서비스</a:t>
            </a:r>
            <a:r>
              <a:rPr sz="5200" b="1" spc="-100" dirty="0">
                <a:solidFill>
                  <a:srgbClr val="1A1A1A"/>
                </a:solidFill>
                <a:latin typeface="Apple SD Gothic Neo"/>
              </a:rPr>
              <a:t> · </a:t>
            </a:r>
            <a:r>
              <a:rPr lang="en" sz="5200" b="1" spc="-100" dirty="0">
                <a:solidFill>
                  <a:srgbClr val="1A1A1A"/>
                </a:solidFill>
                <a:latin typeface="Apple SD Gothic Neo"/>
              </a:rPr>
              <a:t>repository</a:t>
            </a:r>
            <a:endParaRPr sz="5200" b="1" spc="-100" dirty="0">
              <a:solidFill>
                <a:srgbClr val="1A1A1A"/>
              </a:solidFill>
              <a:latin typeface="Apple SD Gothic Neo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60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spc="-20">
                <a:solidFill>
                  <a:srgbClr val="5B5BD6"/>
                </a:solidFill>
                <a:latin typeface="Apple SD Gothic Neo"/>
              </a:rPr>
              <a:t>④   </a:t>
            </a:r>
            <a:r>
              <a:rPr sz="1600" b="0" spc="-20">
                <a:solidFill>
                  <a:srgbClr val="6B7280"/>
                </a:solidFill>
                <a:latin typeface="Menlo"/>
              </a:rPr>
              <a:t>service/ProductService.java · repository/ProductRepository.java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286000"/>
            <a:ext cx="10561320" cy="3154680"/>
          </a:xfrm>
          <a:prstGeom prst="roundRect">
            <a:avLst>
              <a:gd name="adj" fmla="val 4000"/>
            </a:avLst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88720" y="2468880"/>
            <a:ext cx="9966960" cy="2788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CDBFF7"/>
                </a:solidFill>
                <a:latin typeface="Menlo"/>
              </a:rPr>
              <a:t>@Transactional(readOnly = true)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Menlo"/>
              </a:rPr>
              <a:t>ProductDetailResponse detail(Long id) {</a:t>
            </a:r>
          </a:p>
          <a:p>
            <a:pPr algn="l"/>
            <a:r>
              <a:rPr sz="1500" b="0">
                <a:solidFill>
                  <a:srgbClr val="CDBFF7"/>
                </a:solidFill>
                <a:latin typeface="Menlo"/>
              </a:rPr>
              <a:t>  return productRepository.findById(id)        // DB 조회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Menlo"/>
              </a:rPr>
              <a:t>      .map(ProductDetailResponse::from)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Menlo"/>
              </a:rPr>
              <a:t>      .orElseThrow(() -&gt; new IllegalArgumentException("상품을 찾을 수 없습니다."));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Menlo"/>
              </a:rPr>
              <a:t>}</a:t>
            </a:r>
          </a:p>
          <a:p>
            <a:pPr algn="l"/>
            <a:endParaRPr sz="1500" b="0">
              <a:solidFill>
                <a:srgbClr val="FFFFFF"/>
              </a:solidFill>
              <a:latin typeface="Menlo"/>
            </a:endParaRPr>
          </a:p>
          <a:p>
            <a:pPr algn="l"/>
            <a:r>
              <a:rPr sz="1500" b="0">
                <a:solidFill>
                  <a:srgbClr val="7C83B0"/>
                </a:solidFill>
                <a:latin typeface="Menlo"/>
              </a:rPr>
              <a:t>// ProductRepository extends JpaRepository&lt;InsuranceProduct, Long&gt;</a:t>
            </a:r>
          </a:p>
          <a:p>
            <a:pPr algn="l"/>
            <a:r>
              <a:rPr sz="1500" b="0">
                <a:solidFill>
                  <a:srgbClr val="7C83B0"/>
                </a:solidFill>
                <a:latin typeface="Menlo"/>
              </a:rPr>
              <a:t>// findById → SELECT * FROM insurance_product WHERE id =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623560"/>
            <a:ext cx="10607040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40" dirty="0" err="1">
                <a:solidFill>
                  <a:srgbClr val="1A1A1A"/>
                </a:solidFill>
                <a:latin typeface="Apple SD Gothic Neo"/>
              </a:rPr>
              <a:t>서비스가</a:t>
            </a:r>
            <a:r>
              <a:rPr sz="2400" b="1" spc="-40" dirty="0">
                <a:solidFill>
                  <a:srgbClr val="1A1A1A"/>
                </a:solidFill>
                <a:latin typeface="Apple SD Gothic Neo"/>
              </a:rPr>
              <a:t> </a:t>
            </a:r>
            <a:r>
              <a:rPr lang="en" sz="2400" b="1" spc="-40" dirty="0">
                <a:solidFill>
                  <a:srgbClr val="1A1A1A"/>
                </a:solidFill>
                <a:latin typeface="Apple SD Gothic Neo"/>
              </a:rPr>
              <a:t>repository</a:t>
            </a:r>
            <a:r>
              <a:rPr lang="ko-KR" altLang="en-US" sz="2400" b="1" spc="-40" dirty="0" err="1">
                <a:solidFill>
                  <a:srgbClr val="1A1A1A"/>
                </a:solidFill>
                <a:latin typeface="Apple SD Gothic Neo"/>
              </a:rPr>
              <a:t>를</a:t>
            </a:r>
            <a:r>
              <a:rPr lang="ko-KR" altLang="en-US" sz="2400" b="1" spc="-40" dirty="0">
                <a:solidFill>
                  <a:srgbClr val="1A1A1A"/>
                </a:solidFill>
                <a:latin typeface="Apple SD Gothic Neo"/>
              </a:rPr>
              <a:t> 통해</a:t>
            </a:r>
            <a:r>
              <a:rPr sz="2400" b="1" spc="-40" dirty="0">
                <a:solidFill>
                  <a:srgbClr val="1A1A1A"/>
                </a:solidFill>
                <a:latin typeface="Apple SD Gothic Neo"/>
              </a:rPr>
              <a:t> </a:t>
            </a:r>
            <a:r>
              <a:rPr sz="2400" b="1" spc="-40" dirty="0" err="1">
                <a:solidFill>
                  <a:srgbClr val="1A1A1A"/>
                </a:solidFill>
                <a:latin typeface="Apple SD Gothic Neo"/>
              </a:rPr>
              <a:t>DB에서</a:t>
            </a:r>
            <a:r>
              <a:rPr sz="2400" b="1" spc="-40" dirty="0">
                <a:solidFill>
                  <a:srgbClr val="1A1A1A"/>
                </a:solidFill>
                <a:latin typeface="Apple SD Gothic Neo"/>
              </a:rPr>
              <a:t> </a:t>
            </a:r>
            <a:r>
              <a:rPr sz="2400" b="1" spc="-40" dirty="0" err="1">
                <a:solidFill>
                  <a:srgbClr val="1A1A1A"/>
                </a:solidFill>
                <a:latin typeface="Apple SD Gothic Neo"/>
              </a:rPr>
              <a:t>상품을</a:t>
            </a:r>
            <a:r>
              <a:rPr sz="2400" b="1" spc="-40" dirty="0">
                <a:solidFill>
                  <a:srgbClr val="1A1A1A"/>
                </a:solidFill>
                <a:latin typeface="Apple SD Gothic Neo"/>
              </a:rPr>
              <a:t> </a:t>
            </a:r>
            <a:r>
              <a:rPr sz="2400" b="1" spc="-40" dirty="0" err="1">
                <a:solidFill>
                  <a:srgbClr val="1A1A1A"/>
                </a:solidFill>
                <a:latin typeface="Apple SD Gothic Neo"/>
              </a:rPr>
              <a:t>꺼낸다</a:t>
            </a:r>
            <a:r>
              <a:rPr sz="2400" b="1" spc="-40" dirty="0">
                <a:solidFill>
                  <a:srgbClr val="1A1A1A"/>
                </a:solidFill>
                <a:latin typeface="Apple SD Gothic Neo"/>
              </a:rPr>
              <a:t>.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9" name="잉크 8">
                <a:extLst>
                  <a:ext uri="{FF2B5EF4-FFF2-40B4-BE49-F238E27FC236}">
                    <a16:creationId xmlns:a16="http://schemas.microsoft.com/office/drawing/2014/main" id="{6CD8476A-03EF-3948-BB10-6A64BE948FEE}"/>
                  </a:ext>
                </a:extLst>
              </p14:cNvPr>
              <p14:cNvContentPartPr/>
              <p14:nvPr/>
            </p14:nvContentPartPr>
            <p14:xfrm>
              <a:off x="2171640" y="3249249"/>
              <a:ext cx="2203560" cy="336600"/>
            </p14:xfrm>
          </p:contentPart>
        </mc:Choice>
        <mc:Fallback xmlns="">
          <p:pic>
            <p:nvPicPr>
              <p:cNvPr id="9" name="잉크 8">
                <a:extLst>
                  <a:ext uri="{FF2B5EF4-FFF2-40B4-BE49-F238E27FC236}">
                    <a16:creationId xmlns:a16="http://schemas.microsoft.com/office/drawing/2014/main" id="{6CD8476A-03EF-3948-BB10-6A64BE948FEE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165520" y="3243129"/>
                <a:ext cx="2215800" cy="34884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 dirty="0" err="1">
                <a:solidFill>
                  <a:srgbClr val="1A1A1A"/>
                </a:solidFill>
                <a:latin typeface="Apple SD Gothic Neo"/>
              </a:rPr>
              <a:t>백엔드</a:t>
            </a:r>
            <a:r>
              <a:rPr sz="5200" b="1" spc="-100" dirty="0">
                <a:solidFill>
                  <a:srgbClr val="1A1A1A"/>
                </a:solidFill>
                <a:latin typeface="Apple SD Gothic Neo"/>
              </a:rPr>
              <a:t> — </a:t>
            </a:r>
            <a:r>
              <a:rPr sz="5200" b="1" spc="-100" dirty="0" err="1">
                <a:solidFill>
                  <a:srgbClr val="1A1A1A"/>
                </a:solidFill>
                <a:latin typeface="Apple SD Gothic Neo"/>
              </a:rPr>
              <a:t>엔티티</a:t>
            </a:r>
            <a:r>
              <a:rPr sz="5200" b="1" spc="-100" dirty="0">
                <a:solidFill>
                  <a:srgbClr val="1A1A1A"/>
                </a:solidFill>
                <a:latin typeface="Apple SD Gothic Neo"/>
              </a:rPr>
              <a:t> → </a:t>
            </a:r>
            <a:r>
              <a:rPr sz="5200" b="1" spc="-100" dirty="0" err="1">
                <a:solidFill>
                  <a:srgbClr val="1A1A1A"/>
                </a:solidFill>
                <a:latin typeface="Apple SD Gothic Neo"/>
              </a:rPr>
              <a:t>응답</a:t>
            </a:r>
            <a:r>
              <a:rPr sz="5200" b="1" spc="-100" dirty="0">
                <a:solidFill>
                  <a:srgbClr val="1A1A1A"/>
                </a:solidFill>
                <a:latin typeface="Apple SD Gothic Neo"/>
              </a:rPr>
              <a:t> DTO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60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spc="-20" dirty="0">
                <a:solidFill>
                  <a:srgbClr val="5B5BD6"/>
                </a:solidFill>
                <a:latin typeface="Apple SD Gothic Neo"/>
              </a:rPr>
              <a:t>⑤   </a:t>
            </a:r>
            <a:r>
              <a:rPr sz="1600" b="0" spc="-20" dirty="0">
                <a:solidFill>
                  <a:srgbClr val="6B7280"/>
                </a:solidFill>
                <a:latin typeface="Menlo"/>
              </a:rPr>
              <a:t>web/</a:t>
            </a:r>
            <a:r>
              <a:rPr sz="1600" b="0" spc="-20" dirty="0" err="1">
                <a:solidFill>
                  <a:srgbClr val="6B7280"/>
                </a:solidFill>
                <a:latin typeface="Menlo"/>
              </a:rPr>
              <a:t>dto</a:t>
            </a:r>
            <a:r>
              <a:rPr sz="1600" b="0" spc="-20" dirty="0">
                <a:solidFill>
                  <a:srgbClr val="6B7280"/>
                </a:solidFill>
                <a:latin typeface="Menlo"/>
              </a:rPr>
              <a:t>/</a:t>
            </a:r>
            <a:r>
              <a:rPr sz="1600" b="0" spc="-20" dirty="0" err="1">
                <a:solidFill>
                  <a:srgbClr val="6B7280"/>
                </a:solidFill>
                <a:latin typeface="Menlo"/>
              </a:rPr>
              <a:t>ProductDetailResponse.java</a:t>
            </a:r>
            <a:endParaRPr sz="1600" b="0" spc="-20" dirty="0">
              <a:solidFill>
                <a:srgbClr val="6B7280"/>
              </a:solidFill>
              <a:latin typeface="Menlo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822960" y="2286000"/>
            <a:ext cx="10561320" cy="3154680"/>
          </a:xfrm>
          <a:prstGeom prst="roundRect">
            <a:avLst>
              <a:gd name="adj" fmla="val 4000"/>
            </a:avLst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\</a:t>
            </a:r>
            <a:endParaRPr dirty="0"/>
          </a:p>
        </p:txBody>
      </p:sp>
      <p:sp>
        <p:nvSpPr>
          <p:cNvPr id="6" name="TextBox 5"/>
          <p:cNvSpPr txBox="1"/>
          <p:nvPr/>
        </p:nvSpPr>
        <p:spPr>
          <a:xfrm>
            <a:off x="1188720" y="2468880"/>
            <a:ext cx="9966960" cy="2788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 dirty="0">
                <a:solidFill>
                  <a:srgbClr val="7C83B0"/>
                </a:solidFill>
                <a:latin typeface="Menlo"/>
              </a:rPr>
              <a:t>// DB </a:t>
            </a:r>
            <a:r>
              <a:rPr sz="1500" b="0" dirty="0" err="1">
                <a:solidFill>
                  <a:srgbClr val="7C83B0"/>
                </a:solidFill>
                <a:latin typeface="Menlo"/>
              </a:rPr>
              <a:t>엔티티를</a:t>
            </a:r>
            <a:r>
              <a:rPr sz="1500" b="0" dirty="0">
                <a:solidFill>
                  <a:srgbClr val="7C83B0"/>
                </a:solidFill>
                <a:latin typeface="Menlo"/>
              </a:rPr>
              <a:t> </a:t>
            </a:r>
            <a:r>
              <a:rPr sz="1500" b="0" dirty="0" err="1">
                <a:solidFill>
                  <a:srgbClr val="7C83B0"/>
                </a:solidFill>
                <a:latin typeface="Menlo"/>
              </a:rPr>
              <a:t>화면용</a:t>
            </a:r>
            <a:r>
              <a:rPr sz="1500" b="0" dirty="0">
                <a:solidFill>
                  <a:srgbClr val="7C83B0"/>
                </a:solidFill>
                <a:latin typeface="Menlo"/>
              </a:rPr>
              <a:t> </a:t>
            </a:r>
            <a:r>
              <a:rPr sz="1500" b="0" dirty="0" err="1">
                <a:solidFill>
                  <a:srgbClr val="7C83B0"/>
                </a:solidFill>
                <a:latin typeface="Menlo"/>
              </a:rPr>
              <a:t>데이터로</a:t>
            </a:r>
            <a:r>
              <a:rPr sz="1500" b="0" dirty="0">
                <a:solidFill>
                  <a:srgbClr val="7C83B0"/>
                </a:solidFill>
                <a:latin typeface="Menlo"/>
              </a:rPr>
              <a:t> </a:t>
            </a:r>
            <a:r>
              <a:rPr sz="1500" b="0" dirty="0" err="1">
                <a:solidFill>
                  <a:srgbClr val="7C83B0"/>
                </a:solidFill>
                <a:latin typeface="Menlo"/>
              </a:rPr>
              <a:t>변환</a:t>
            </a:r>
            <a:endParaRPr sz="1500" b="0" dirty="0">
              <a:solidFill>
                <a:srgbClr val="7C83B0"/>
              </a:solidFill>
              <a:latin typeface="Menlo"/>
            </a:endParaRPr>
          </a:p>
          <a:p>
            <a:pPr algn="l"/>
            <a:r>
              <a:rPr sz="1500" b="0" dirty="0">
                <a:solidFill>
                  <a:srgbClr val="CDBFF7"/>
                </a:solidFill>
                <a:latin typeface="Menlo"/>
              </a:rPr>
              <a:t>static </a:t>
            </a:r>
            <a:r>
              <a:rPr sz="1500" b="0" dirty="0" err="1">
                <a:solidFill>
                  <a:srgbClr val="CDBFF7"/>
                </a:solidFill>
                <a:latin typeface="Menlo"/>
              </a:rPr>
              <a:t>ProductDetailResponse</a:t>
            </a:r>
            <a:r>
              <a:rPr sz="1500" b="0" dirty="0">
                <a:solidFill>
                  <a:srgbClr val="CDBFF7"/>
                </a:solidFill>
                <a:latin typeface="Menlo"/>
              </a:rPr>
              <a:t> from(</a:t>
            </a:r>
            <a:r>
              <a:rPr sz="1500" b="0" dirty="0" err="1">
                <a:solidFill>
                  <a:srgbClr val="CDBFF7"/>
                </a:solidFill>
                <a:latin typeface="Menlo"/>
              </a:rPr>
              <a:t>InsuranceProduct</a:t>
            </a:r>
            <a:r>
              <a:rPr sz="1500" b="0" dirty="0">
                <a:solidFill>
                  <a:srgbClr val="CDBFF7"/>
                </a:solidFill>
                <a:latin typeface="Menlo"/>
              </a:rPr>
              <a:t> product) {</a:t>
            </a:r>
          </a:p>
          <a:p>
            <a:pPr algn="l"/>
            <a:r>
              <a:rPr sz="1500" b="0" dirty="0">
                <a:solidFill>
                  <a:srgbClr val="CDBFF7"/>
                </a:solidFill>
                <a:latin typeface="Menlo"/>
              </a:rPr>
              <a:t>  return new </a:t>
            </a:r>
            <a:r>
              <a:rPr sz="1500" b="0" dirty="0" err="1">
                <a:solidFill>
                  <a:srgbClr val="CDBFF7"/>
                </a:solidFill>
                <a:latin typeface="Menlo"/>
              </a:rPr>
              <a:t>ProductDetailResponse</a:t>
            </a:r>
            <a:r>
              <a:rPr sz="1500" b="0" dirty="0">
                <a:solidFill>
                  <a:srgbClr val="CDBFF7"/>
                </a:solidFill>
                <a:latin typeface="Menlo"/>
              </a:rPr>
              <a:t>(</a:t>
            </a:r>
          </a:p>
          <a:p>
            <a:pPr algn="l"/>
            <a:r>
              <a:rPr sz="1500" b="0" dirty="0">
                <a:solidFill>
                  <a:srgbClr val="FFFFFF"/>
                </a:solidFill>
                <a:latin typeface="Menlo"/>
              </a:rPr>
              <a:t>    </a:t>
            </a:r>
            <a:r>
              <a:rPr sz="1500" b="0" dirty="0" err="1">
                <a:solidFill>
                  <a:srgbClr val="FFFFFF"/>
                </a:solidFill>
                <a:latin typeface="Menlo"/>
              </a:rPr>
              <a:t>product.getId</a:t>
            </a:r>
            <a:r>
              <a:rPr sz="1500" b="0" dirty="0">
                <a:solidFill>
                  <a:srgbClr val="FFFFFF"/>
                </a:solidFill>
                <a:latin typeface="Menlo"/>
              </a:rPr>
              <a:t>(), </a:t>
            </a:r>
            <a:r>
              <a:rPr sz="1500" b="0" dirty="0" err="1">
                <a:solidFill>
                  <a:srgbClr val="FFFFFF"/>
                </a:solidFill>
                <a:latin typeface="Menlo"/>
              </a:rPr>
              <a:t>product.getProductName</a:t>
            </a:r>
            <a:r>
              <a:rPr sz="1500" b="0" dirty="0">
                <a:solidFill>
                  <a:srgbClr val="FFFFFF"/>
                </a:solidFill>
                <a:latin typeface="Menlo"/>
              </a:rPr>
              <a:t>(),</a:t>
            </a:r>
          </a:p>
          <a:p>
            <a:pPr algn="l"/>
            <a:r>
              <a:rPr sz="1500" b="0" dirty="0">
                <a:solidFill>
                  <a:srgbClr val="FFFFFF"/>
                </a:solidFill>
                <a:latin typeface="Menlo"/>
              </a:rPr>
              <a:t>    </a:t>
            </a:r>
            <a:r>
              <a:rPr sz="1500" b="0" dirty="0" err="1">
                <a:solidFill>
                  <a:srgbClr val="FFFFFF"/>
                </a:solidFill>
                <a:latin typeface="Menlo"/>
              </a:rPr>
              <a:t>product.getBasePremium</a:t>
            </a:r>
            <a:r>
              <a:rPr sz="1500" b="0" dirty="0">
                <a:solidFill>
                  <a:srgbClr val="FFFFFF"/>
                </a:solidFill>
                <a:latin typeface="Menlo"/>
              </a:rPr>
              <a:t>(),</a:t>
            </a:r>
          </a:p>
          <a:p>
            <a:pPr algn="l"/>
            <a:r>
              <a:rPr sz="1500" b="0" dirty="0">
                <a:solidFill>
                  <a:srgbClr val="FFFFFF"/>
                </a:solidFill>
                <a:latin typeface="Menlo"/>
              </a:rPr>
              <a:t>    </a:t>
            </a:r>
            <a:r>
              <a:rPr sz="1500" b="0" dirty="0" err="1">
                <a:solidFill>
                  <a:srgbClr val="FFFFFF"/>
                </a:solidFill>
                <a:latin typeface="Menlo"/>
              </a:rPr>
              <a:t>product.getCoverageItems</a:t>
            </a:r>
            <a:r>
              <a:rPr sz="1500" b="0" dirty="0">
                <a:solidFill>
                  <a:srgbClr val="FFFFFF"/>
                </a:solidFill>
                <a:latin typeface="Menlo"/>
              </a:rPr>
              <a:t>().stream()</a:t>
            </a:r>
          </a:p>
          <a:p>
            <a:pPr algn="l"/>
            <a:r>
              <a:rPr sz="1500" b="0" dirty="0">
                <a:solidFill>
                  <a:srgbClr val="FFFFFF"/>
                </a:solidFill>
                <a:latin typeface="Menlo"/>
              </a:rPr>
              <a:t>        .map(</a:t>
            </a:r>
            <a:r>
              <a:rPr sz="1500" b="0" dirty="0" err="1">
                <a:solidFill>
                  <a:srgbClr val="FFFFFF"/>
                </a:solidFill>
                <a:latin typeface="Menlo"/>
              </a:rPr>
              <a:t>CoverageItemResponse</a:t>
            </a:r>
            <a:r>
              <a:rPr sz="1500" b="0" dirty="0">
                <a:solidFill>
                  <a:srgbClr val="FFFFFF"/>
                </a:solidFill>
                <a:latin typeface="Menlo"/>
              </a:rPr>
              <a:t>::from).</a:t>
            </a:r>
            <a:r>
              <a:rPr sz="1500" b="0" dirty="0" err="1">
                <a:solidFill>
                  <a:srgbClr val="FFFFFF"/>
                </a:solidFill>
                <a:latin typeface="Menlo"/>
              </a:rPr>
              <a:t>toList</a:t>
            </a:r>
            <a:r>
              <a:rPr sz="1500" b="0" dirty="0">
                <a:solidFill>
                  <a:srgbClr val="FFFFFF"/>
                </a:solidFill>
                <a:latin typeface="Menlo"/>
              </a:rPr>
              <a:t>());</a:t>
            </a:r>
          </a:p>
          <a:p>
            <a:pPr algn="l"/>
            <a:r>
              <a:rPr sz="1500" b="0" dirty="0">
                <a:solidFill>
                  <a:srgbClr val="FFFFFF"/>
                </a:solidFill>
                <a:latin typeface="Menlo"/>
              </a:rP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623560"/>
            <a:ext cx="106070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40">
                <a:solidFill>
                  <a:srgbClr val="1A1A1A"/>
                </a:solidFill>
                <a:latin typeface="Apple SD Gothic Neo"/>
              </a:rPr>
              <a:t>DB 엔티티를 그대로 노출하지 않고 응답 DTO로 변환한다.</a:t>
            </a:r>
          </a:p>
        </p:txBody>
      </p:sp>
      <p:sp>
        <p:nvSpPr>
          <p:cNvPr id="15" name="Oval 14"/>
          <p:cNvSpPr/>
          <p:nvPr/>
        </p:nvSpPr>
        <p:spPr>
          <a:xfrm>
            <a:off x="4983480" y="3050830"/>
            <a:ext cx="3108960" cy="457200"/>
          </a:xfrm>
          <a:prstGeom prst="ellipse">
            <a:avLst/>
          </a:prstGeom>
          <a:noFill/>
          <a:ln w="31750">
            <a:solidFill>
              <a:srgbClr val="E02B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7" name="Connector 16"/>
          <p:cNvCxnSpPr/>
          <p:nvPr/>
        </p:nvCxnSpPr>
        <p:spPr>
          <a:xfrm flipH="1">
            <a:off x="7200900" y="2121408"/>
            <a:ext cx="1554480" cy="896112"/>
          </a:xfrm>
          <a:prstGeom prst="line">
            <a:avLst/>
          </a:prstGeom>
          <a:ln w="25400">
            <a:solidFill>
              <a:srgbClr val="E02B2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/>
          <p:cNvSpPr/>
          <p:nvPr/>
        </p:nvSpPr>
        <p:spPr>
          <a:xfrm>
            <a:off x="937260" y="3429000"/>
            <a:ext cx="7040880" cy="1250108"/>
          </a:xfrm>
          <a:prstGeom prst="ellipse">
            <a:avLst/>
          </a:prstGeom>
          <a:noFill/>
          <a:ln w="31750">
            <a:solidFill>
              <a:srgbClr val="E02B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144000" y="3749039"/>
            <a:ext cx="1371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 dirty="0">
                <a:solidFill>
                  <a:srgbClr val="E02B2B"/>
                </a:solidFill>
                <a:latin typeface="Chalkboard SE"/>
              </a:rPr>
              <a:t>DTO</a:t>
            </a:r>
          </a:p>
        </p:txBody>
      </p:sp>
      <p:cxnSp>
        <p:nvCxnSpPr>
          <p:cNvPr id="20" name="Connector 19"/>
          <p:cNvCxnSpPr/>
          <p:nvPr/>
        </p:nvCxnSpPr>
        <p:spPr>
          <a:xfrm flipH="1">
            <a:off x="8366760" y="3977639"/>
            <a:ext cx="777240" cy="45721"/>
          </a:xfrm>
          <a:prstGeom prst="line">
            <a:avLst/>
          </a:prstGeom>
          <a:ln w="25400">
            <a:solidFill>
              <a:srgbClr val="E02B2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FB5B10DC-565C-EFE0-7B8C-E1DF92422244}"/>
              </a:ext>
            </a:extLst>
          </p:cNvPr>
          <p:cNvSpPr txBox="1"/>
          <p:nvPr/>
        </p:nvSpPr>
        <p:spPr>
          <a:xfrm>
            <a:off x="8092440" y="1499057"/>
            <a:ext cx="2109808" cy="43088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lang="en-US" sz="2200" b="1" dirty="0">
                <a:solidFill>
                  <a:srgbClr val="E02B2B"/>
                </a:solidFill>
                <a:latin typeface="Chalkboard SE"/>
              </a:rPr>
              <a:t>Domain(Entity)</a:t>
            </a:r>
            <a:endParaRPr sz="2200" b="1" dirty="0">
              <a:solidFill>
                <a:srgbClr val="E02B2B"/>
              </a:solidFill>
              <a:latin typeface="Chalkboard SE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 dirty="0">
                <a:solidFill>
                  <a:srgbClr val="1A1A1A"/>
                </a:solidFill>
                <a:latin typeface="Apple SD Gothic Neo"/>
              </a:rPr>
              <a:t>⑥  </a:t>
            </a:r>
            <a:r>
              <a:rPr sz="5200" b="1" spc="-100" dirty="0" err="1">
                <a:solidFill>
                  <a:srgbClr val="1A1A1A"/>
                </a:solidFill>
                <a:latin typeface="Apple SD Gothic Neo"/>
              </a:rPr>
              <a:t>응답이</a:t>
            </a:r>
            <a:r>
              <a:rPr sz="5200" b="1" spc="-100" dirty="0">
                <a:solidFill>
                  <a:srgbClr val="1A1A1A"/>
                </a:solidFill>
                <a:latin typeface="Apple SD Gothic Neo"/>
              </a:rPr>
              <a:t> </a:t>
            </a:r>
            <a:r>
              <a:rPr sz="5200" b="1" spc="-100" dirty="0" err="1">
                <a:solidFill>
                  <a:srgbClr val="1A1A1A"/>
                </a:solidFill>
                <a:latin typeface="Apple SD Gothic Neo"/>
              </a:rPr>
              <a:t>화면에</a:t>
            </a:r>
            <a:r>
              <a:rPr sz="5200" b="1" spc="-100" dirty="0">
                <a:solidFill>
                  <a:srgbClr val="1A1A1A"/>
                </a:solidFill>
                <a:latin typeface="Apple SD Gothic Neo"/>
              </a:rPr>
              <a:t> </a:t>
            </a:r>
            <a:r>
              <a:rPr sz="5200" b="1" spc="-100" dirty="0" err="1">
                <a:solidFill>
                  <a:srgbClr val="1A1A1A"/>
                </a:solidFill>
                <a:latin typeface="Apple SD Gothic Neo"/>
              </a:rPr>
              <a:t>표시된다</a:t>
            </a:r>
            <a:endParaRPr sz="5200" b="1" spc="-100" dirty="0">
              <a:solidFill>
                <a:srgbClr val="1A1A1A"/>
              </a:solidFill>
              <a:latin typeface="Apple SD Gothic Neo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77240" y="1737360"/>
            <a:ext cx="5532120" cy="1828800"/>
          </a:xfrm>
          <a:prstGeom prst="roundRect">
            <a:avLst>
              <a:gd name="adj" fmla="val 4000"/>
            </a:avLst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51560" y="1874519"/>
            <a:ext cx="5029200" cy="1645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7C83B0"/>
                </a:solidFill>
                <a:latin typeface="Menlo"/>
              </a:rPr>
              <a:t>// 백엔드 응답 (JSON)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Menlo"/>
              </a:rPr>
              <a:t>{ "productName": "실손기본",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Menlo"/>
              </a:rPr>
              <a:t>  "monthlyPremium": 12000,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Menlo"/>
              </a:rPr>
              <a:t>  "coverageItems": [</a:t>
            </a:r>
          </a:p>
          <a:p>
            <a:pPr algn="l"/>
            <a:r>
              <a:rPr sz="1300" b="0">
                <a:solidFill>
                  <a:srgbClr val="CDBFF7"/>
                </a:solidFill>
                <a:latin typeface="Menlo"/>
              </a:rPr>
              <a:t>    {"itemName":"통원치료비" …},</a:t>
            </a:r>
          </a:p>
          <a:p>
            <a:pPr algn="l"/>
            <a:r>
              <a:rPr sz="1300" b="0">
                <a:solidFill>
                  <a:srgbClr val="CDBFF7"/>
                </a:solidFill>
                <a:latin typeface="Menlo"/>
              </a:rPr>
              <a:t>    {"itemName":"입원치료비" …} ]}</a:t>
            </a:r>
          </a:p>
        </p:txBody>
      </p:sp>
      <p:pic>
        <p:nvPicPr>
          <p:cNvPr id="6" name="Picture 5" descr="products-after.png"/>
          <p:cNvPicPr>
            <a:picLocks noChangeAspect="1"/>
          </p:cNvPicPr>
          <p:nvPr/>
        </p:nvPicPr>
        <p:blipFill>
          <a:blip r:embed="rId2"/>
          <a:srcRect l="47832"/>
          <a:stretch>
            <a:fillRect/>
          </a:stretch>
        </p:blipFill>
        <p:spPr>
          <a:xfrm>
            <a:off x="7749832" y="411480"/>
            <a:ext cx="4393181" cy="526327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5806440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40">
                <a:solidFill>
                  <a:srgbClr val="1A1A1A"/>
                </a:solidFill>
                <a:latin typeface="Apple SD Gothic Neo"/>
              </a:rPr>
              <a:t>클릭 → 컨트롤러 → 서비스 → DB → DTO → 화면, 한 줄기로 흐른다.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10" name="잉크 9">
                <a:extLst>
                  <a:ext uri="{FF2B5EF4-FFF2-40B4-BE49-F238E27FC236}">
                    <a16:creationId xmlns:a16="http://schemas.microsoft.com/office/drawing/2014/main" id="{D3DEAF2B-5860-BACD-1AE9-09C2ABF53AF6}"/>
                  </a:ext>
                </a:extLst>
              </p14:cNvPr>
              <p14:cNvContentPartPr/>
              <p14:nvPr/>
            </p14:nvContentPartPr>
            <p14:xfrm>
              <a:off x="10219800" y="5216649"/>
              <a:ext cx="3600" cy="3600"/>
            </p14:xfrm>
          </p:contentPart>
        </mc:Choice>
        <mc:Fallback xmlns="">
          <p:pic>
            <p:nvPicPr>
              <p:cNvPr id="10" name="잉크 9">
                <a:extLst>
                  <a:ext uri="{FF2B5EF4-FFF2-40B4-BE49-F238E27FC236}">
                    <a16:creationId xmlns:a16="http://schemas.microsoft.com/office/drawing/2014/main" id="{D3DEAF2B-5860-BACD-1AE9-09C2ABF53AF6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0213680" y="5210529"/>
                <a:ext cx="15840" cy="1584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80021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 spc="-100" dirty="0">
                <a:solidFill>
                  <a:srgbClr val="1A1A1A"/>
                </a:solidFill>
                <a:latin typeface="Apple SD Gothic Neo"/>
              </a:rPr>
              <a:t>AI </a:t>
            </a:r>
            <a:r>
              <a:rPr lang="ko-KR" altLang="en-US" sz="4600" b="1" spc="-100" dirty="0">
                <a:solidFill>
                  <a:srgbClr val="1A1A1A"/>
                </a:solidFill>
                <a:latin typeface="Apple SD Gothic Neo"/>
              </a:rPr>
              <a:t>활용</a:t>
            </a:r>
            <a:endParaRPr sz="4600" b="1" spc="-100" dirty="0">
              <a:solidFill>
                <a:srgbClr val="1A1A1A"/>
              </a:solidFill>
              <a:latin typeface="Apple SD Gothic Neo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822960" y="1554480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822960" y="1783080"/>
            <a:ext cx="10561320" cy="713232"/>
          </a:xfrm>
          <a:prstGeom prst="roundRect">
            <a:avLst>
              <a:gd name="adj" fmla="val 12000"/>
            </a:avLst>
          </a:prstGeom>
          <a:solidFill>
            <a:srgbClr val="F4F4F6"/>
          </a:solidFill>
          <a:ln w="1651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03200" tIns="76200" rIns="177800" bIns="76200" rtlCol="0" anchor="ctr"/>
          <a:lstStyle/>
          <a:p>
            <a:pPr algn="l"/>
            <a:r>
              <a:rPr sz="1900" b="1" dirty="0">
                <a:solidFill>
                  <a:srgbClr val="5B5BD6"/>
                </a:solidFill>
                <a:latin typeface="Menlo"/>
              </a:rPr>
              <a:t>Claude Code</a:t>
            </a:r>
            <a:r>
              <a:rPr lang="ko-KR" altLang="en-US" sz="1900" b="1" dirty="0">
                <a:solidFill>
                  <a:srgbClr val="5B5BD6"/>
                </a:solidFill>
                <a:latin typeface="Menlo"/>
              </a:rPr>
              <a:t> </a:t>
            </a:r>
            <a:r>
              <a:rPr lang="en-US" altLang="ko-KR" sz="1900" b="1" dirty="0">
                <a:solidFill>
                  <a:srgbClr val="5B5BD6"/>
                </a:solidFill>
                <a:latin typeface="Menlo"/>
              </a:rPr>
              <a:t>Opus 4.8</a:t>
            </a:r>
            <a:endParaRPr sz="1800" b="0" dirty="0">
              <a:solidFill>
                <a:srgbClr val="1A1A1A"/>
              </a:solidFill>
              <a:latin typeface="Apple SD Gothic Neo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822960" y="2606040"/>
            <a:ext cx="10561320" cy="713232"/>
          </a:xfrm>
          <a:prstGeom prst="roundRect">
            <a:avLst>
              <a:gd name="adj" fmla="val 12000"/>
            </a:avLst>
          </a:prstGeom>
          <a:solidFill>
            <a:srgbClr val="F4F4F6"/>
          </a:solidFill>
          <a:ln w="1651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03200" tIns="76200" rIns="177800" bIns="76200" rtlCol="0" anchor="ctr"/>
          <a:lstStyle/>
          <a:p>
            <a:pPr algn="l"/>
            <a:r>
              <a:rPr lang="en-US" sz="1900" b="1" dirty="0">
                <a:solidFill>
                  <a:srgbClr val="5B5BD6"/>
                </a:solidFill>
                <a:latin typeface="Menlo"/>
              </a:rPr>
              <a:t>Claude Skill - </a:t>
            </a:r>
            <a:r>
              <a:rPr sz="1900" b="1" dirty="0">
                <a:solidFill>
                  <a:srgbClr val="5B5BD6"/>
                </a:solidFill>
                <a:latin typeface="Menlo"/>
              </a:rPr>
              <a:t>Superpowers · grill-with-docs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3429000"/>
            <a:ext cx="10561320" cy="713232"/>
          </a:xfrm>
          <a:prstGeom prst="roundRect">
            <a:avLst>
              <a:gd name="adj" fmla="val 12000"/>
            </a:avLst>
          </a:prstGeom>
          <a:solidFill>
            <a:srgbClr val="F4F4F6"/>
          </a:solidFill>
          <a:ln w="1651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03200" tIns="76200" rIns="177800" bIns="76200" rtlCol="0" anchor="ctr"/>
          <a:lstStyle/>
          <a:p>
            <a:pPr algn="l"/>
            <a:r>
              <a:rPr lang="en-US" sz="1900" b="1" dirty="0">
                <a:solidFill>
                  <a:srgbClr val="5B5BD6"/>
                </a:solidFill>
                <a:latin typeface="Menlo"/>
              </a:rPr>
              <a:t>Claude Hook</a:t>
            </a:r>
            <a:endParaRPr sz="1800" b="0" dirty="0">
              <a:solidFill>
                <a:srgbClr val="1A1A1A"/>
              </a:solidFill>
              <a:latin typeface="Apple SD Gothic Neo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822960" y="4251960"/>
            <a:ext cx="10561320" cy="713232"/>
          </a:xfrm>
          <a:prstGeom prst="roundRect">
            <a:avLst>
              <a:gd name="adj" fmla="val 12000"/>
            </a:avLst>
          </a:prstGeom>
          <a:solidFill>
            <a:srgbClr val="F4F4F6"/>
          </a:solidFill>
          <a:ln w="1651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03200" tIns="76200" rIns="177800" bIns="76200" rtlCol="0" anchor="ctr"/>
          <a:lstStyle/>
          <a:p>
            <a:pPr algn="l"/>
            <a:r>
              <a:rPr sz="1900" b="1" dirty="0" err="1">
                <a:solidFill>
                  <a:srgbClr val="5B5BD6"/>
                </a:solidFill>
                <a:latin typeface="Menlo"/>
              </a:rPr>
              <a:t>cmux</a:t>
            </a:r>
            <a:endParaRPr sz="1900" b="1" dirty="0">
              <a:solidFill>
                <a:srgbClr val="5B5BD6"/>
              </a:solidFill>
              <a:latin typeface="Menlo"/>
            </a:endParaRPr>
          </a:p>
        </p:txBody>
      </p:sp>
      <p:sp>
        <p:nvSpPr>
          <p:cNvPr id="8" name="Rounded Rectangle 6"/>
          <p:cNvSpPr/>
          <p:nvPr/>
        </p:nvSpPr>
        <p:spPr>
          <a:xfrm>
            <a:off x="822960" y="5074920"/>
            <a:ext cx="10561320" cy="713232"/>
          </a:xfrm>
          <a:prstGeom prst="roundRect">
            <a:avLst>
              <a:gd name="adj" fmla="val 12000"/>
            </a:avLst>
          </a:prstGeom>
          <a:solidFill>
            <a:srgbClr val="F4F4F6"/>
          </a:solidFill>
          <a:ln w="1651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03200" tIns="76200" rIns="177800" bIns="76200" rtlCol="0" anchor="ctr"/>
          <a:lstStyle/>
          <a:p>
            <a:r>
              <a:rPr lang="en" altLang="ko-Kore-KR" sz="1900" b="1" dirty="0">
                <a:solidFill>
                  <a:srgbClr val="5B5BD6"/>
                </a:solidFill>
                <a:latin typeface="Menlo"/>
              </a:rPr>
              <a:t>Codex</a:t>
            </a:r>
            <a:r>
              <a:rPr lang="ko-KR" altLang="en-US" sz="1900" b="1" dirty="0">
                <a:solidFill>
                  <a:srgbClr val="5B5BD6"/>
                </a:solidFill>
                <a:latin typeface="Menlo"/>
              </a:rPr>
              <a:t> </a:t>
            </a:r>
            <a:r>
              <a:rPr lang="en-US" altLang="ko-KR" sz="1900" b="1" dirty="0">
                <a:solidFill>
                  <a:srgbClr val="5B5BD6"/>
                </a:solidFill>
                <a:latin typeface="Menlo"/>
              </a:rPr>
              <a:t>5.5</a:t>
            </a:r>
            <a:r>
              <a:rPr lang="ko-KR" altLang="en-US" sz="1900" b="1" dirty="0">
                <a:solidFill>
                  <a:srgbClr val="5B5BD6"/>
                </a:solidFill>
                <a:latin typeface="Menlo"/>
              </a:rPr>
              <a:t> 코드리뷰</a:t>
            </a:r>
            <a:endParaRPr lang="en" altLang="ko-Kore-KR" dirty="0">
              <a:solidFill>
                <a:srgbClr val="1A1A1A"/>
              </a:solidFill>
              <a:latin typeface="Apple SD Gothic Neo"/>
            </a:endParaRPr>
          </a:p>
        </p:txBody>
      </p:sp>
      <p:sp>
        <p:nvSpPr>
          <p:cNvPr id="9" name="Rounded Rectangle 6"/>
          <p:cNvSpPr/>
          <p:nvPr/>
        </p:nvSpPr>
        <p:spPr>
          <a:xfrm>
            <a:off x="822960" y="5897880"/>
            <a:ext cx="10561320" cy="713232"/>
          </a:xfrm>
          <a:prstGeom prst="roundRect">
            <a:avLst>
              <a:gd name="adj" fmla="val 12000"/>
            </a:avLst>
          </a:prstGeom>
          <a:solidFill>
            <a:srgbClr val="F4F4F6"/>
          </a:solidFill>
          <a:ln w="1651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03200" tIns="76200" rIns="177800" bIns="76200" rtlCol="0" anchor="ctr"/>
          <a:lstStyle/>
          <a:p>
            <a:pPr algn="l"/>
            <a:r>
              <a:rPr sz="1900" b="1">
                <a:solidFill>
                  <a:srgbClr val="5B5BD6"/>
                </a:solidFill>
                <a:latin typeface="Menlo"/>
              </a:rPr>
              <a:t>모노레포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384048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 b="1">
                <a:solidFill>
                  <a:srgbClr val="000000"/>
                </a:solidFill>
                <a:latin typeface="Apple SD Gothic Neo"/>
              </a:rPr>
              <a:t>왜 모노레포?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914400" cy="64008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77240" y="2743200"/>
            <a:ext cx="10607040" cy="1463040"/>
          </a:xfrm>
          <a:prstGeom prst="roundRect">
            <a:avLst/>
          </a:prstGeom>
          <a:solidFill>
            <a:srgbClr val="ECE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200" b="1">
                <a:solidFill>
                  <a:srgbClr val="333333"/>
                </a:solidFill>
                <a:latin typeface="Apple SD Gothic Neo"/>
              </a:rPr>
              <a:t>백엔드에서 만든 </a:t>
            </a:r>
            <a:r>
              <a:rPr sz="2200" b="1">
                <a:solidFill>
                  <a:srgbClr val="5B5BD6"/>
                </a:solidFill>
                <a:latin typeface="Apple SD Gothic Neo"/>
              </a:rPr>
              <a:t>다이어그램·MD 문서</a:t>
            </a:r>
            <a:r>
              <a:rPr sz="2200" b="1">
                <a:solidFill>
                  <a:srgbClr val="333333"/>
                </a:solidFill>
                <a:latin typeface="Apple SD Gothic Neo"/>
              </a:rPr>
              <a:t>를</a:t>
            </a:r>
          </a:p>
          <a:p>
            <a:pPr algn="ctr"/>
            <a:r>
              <a:rPr sz="2200" b="1">
                <a:solidFill>
                  <a:srgbClr val="333333"/>
                </a:solidFill>
                <a:latin typeface="Apple SD Gothic Neo"/>
              </a:rPr>
              <a:t>프론트가 한 레포에서 바로 참고하라고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457200"/>
            <a:ext cx="1088136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400" b="1" spc="-100">
                <a:solidFill>
                  <a:srgbClr val="1A1A1A"/>
                </a:solidFill>
                <a:latin typeface="Apple SD Gothic Neo"/>
              </a:rPr>
              <a:t>cmux — 두 Claude를 붙이다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17320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p5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8994" y="1691640"/>
            <a:ext cx="5483530" cy="35661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5589210"/>
            <a:ext cx="10607040" cy="8002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300" b="1" spc="-40" dirty="0" err="1">
                <a:solidFill>
                  <a:srgbClr val="1A1A1A"/>
                </a:solidFill>
                <a:latin typeface="Apple SD Gothic Neo"/>
              </a:rPr>
              <a:t>프론트·백엔드</a:t>
            </a:r>
            <a:r>
              <a:rPr sz="2300" b="1" spc="-40" dirty="0">
                <a:solidFill>
                  <a:srgbClr val="1A1A1A"/>
                </a:solidFill>
                <a:latin typeface="Apple SD Gothic Neo"/>
              </a:rPr>
              <a:t> </a:t>
            </a:r>
            <a:r>
              <a:rPr sz="2300" b="1" spc="-40" dirty="0" err="1">
                <a:solidFill>
                  <a:srgbClr val="1A1A1A"/>
                </a:solidFill>
                <a:latin typeface="Apple SD Gothic Neo"/>
              </a:rPr>
              <a:t>Claude를</a:t>
            </a:r>
            <a:r>
              <a:rPr sz="2300" b="1" spc="-40" dirty="0">
                <a:solidFill>
                  <a:srgbClr val="1A1A1A"/>
                </a:solidFill>
                <a:latin typeface="Apple SD Gothic Neo"/>
              </a:rPr>
              <a:t> </a:t>
            </a:r>
            <a:r>
              <a:rPr sz="2300" b="1" spc="-40" dirty="0" err="1">
                <a:solidFill>
                  <a:srgbClr val="1A1A1A"/>
                </a:solidFill>
                <a:latin typeface="Apple SD Gothic Neo"/>
              </a:rPr>
              <a:t>한</a:t>
            </a:r>
            <a:r>
              <a:rPr sz="2300" b="1" spc="-40" dirty="0">
                <a:solidFill>
                  <a:srgbClr val="1A1A1A"/>
                </a:solidFill>
                <a:latin typeface="Apple SD Gothic Neo"/>
              </a:rPr>
              <a:t> </a:t>
            </a:r>
            <a:r>
              <a:rPr sz="2300" b="1" spc="-40" dirty="0" err="1">
                <a:solidFill>
                  <a:srgbClr val="1A1A1A"/>
                </a:solidFill>
                <a:latin typeface="Apple SD Gothic Neo"/>
              </a:rPr>
              <a:t>화면에</a:t>
            </a:r>
            <a:r>
              <a:rPr sz="2300" b="1" spc="-40" dirty="0">
                <a:solidFill>
                  <a:srgbClr val="1A1A1A"/>
                </a:solidFill>
                <a:latin typeface="Apple SD Gothic Neo"/>
              </a:rPr>
              <a:t> </a:t>
            </a:r>
            <a:r>
              <a:rPr sz="2300" b="1" spc="-40" dirty="0" err="1">
                <a:solidFill>
                  <a:srgbClr val="1A1A1A"/>
                </a:solidFill>
                <a:latin typeface="Apple SD Gothic Neo"/>
              </a:rPr>
              <a:t>띄우고</a:t>
            </a:r>
            <a:r>
              <a:rPr sz="2300" b="1" spc="-40" dirty="0">
                <a:solidFill>
                  <a:srgbClr val="1A1A1A"/>
                </a:solidFill>
                <a:latin typeface="Apple SD Gothic Neo"/>
              </a:rPr>
              <a:t>, </a:t>
            </a:r>
            <a:r>
              <a:rPr sz="2300" b="1" spc="-40" dirty="0" err="1">
                <a:solidFill>
                  <a:srgbClr val="1A1A1A"/>
                </a:solidFill>
                <a:latin typeface="Apple SD Gothic Neo"/>
              </a:rPr>
              <a:t>cmux로</a:t>
            </a:r>
            <a:r>
              <a:rPr sz="2300" b="1" spc="-40" dirty="0">
                <a:solidFill>
                  <a:srgbClr val="1A1A1A"/>
                </a:solidFill>
                <a:latin typeface="Apple SD Gothic Neo"/>
              </a:rPr>
              <a:t> </a:t>
            </a:r>
            <a:r>
              <a:rPr sz="2300" b="1" spc="-40" dirty="0" err="1">
                <a:solidFill>
                  <a:srgbClr val="1A1A1A"/>
                </a:solidFill>
                <a:latin typeface="Apple SD Gothic Neo"/>
              </a:rPr>
              <a:t>서로</a:t>
            </a:r>
            <a:endParaRPr sz="2300" b="1" spc="-40" dirty="0">
              <a:solidFill>
                <a:srgbClr val="1A1A1A"/>
              </a:solidFill>
              <a:latin typeface="Apple SD Gothic Neo"/>
            </a:endParaRPr>
          </a:p>
          <a:p>
            <a:pPr algn="ctr"/>
            <a:r>
              <a:rPr sz="2300" b="1" spc="-40" dirty="0" err="1">
                <a:solidFill>
                  <a:srgbClr val="1A1A1A"/>
                </a:solidFill>
                <a:latin typeface="Apple SD Gothic Neo"/>
              </a:rPr>
              <a:t>메시지를</a:t>
            </a:r>
            <a:r>
              <a:rPr sz="2300" b="1" spc="-40" dirty="0">
                <a:solidFill>
                  <a:srgbClr val="1A1A1A"/>
                </a:solidFill>
                <a:latin typeface="Apple SD Gothic Neo"/>
              </a:rPr>
              <a:t> </a:t>
            </a:r>
            <a:r>
              <a:rPr sz="2300" b="1" spc="-40" dirty="0" err="1">
                <a:solidFill>
                  <a:srgbClr val="1A1A1A"/>
                </a:solidFill>
                <a:latin typeface="Apple SD Gothic Neo"/>
              </a:rPr>
              <a:t>주고받게</a:t>
            </a:r>
            <a:r>
              <a:rPr sz="2300" b="1" spc="-40" dirty="0">
                <a:solidFill>
                  <a:srgbClr val="1A1A1A"/>
                </a:solidFill>
                <a:latin typeface="Apple SD Gothic Neo"/>
              </a:rPr>
              <a:t> </a:t>
            </a:r>
            <a:r>
              <a:rPr sz="2300" b="1" spc="-40" dirty="0" err="1">
                <a:solidFill>
                  <a:srgbClr val="1A1A1A"/>
                </a:solidFill>
                <a:latin typeface="Apple SD Gothic Neo"/>
              </a:rPr>
              <a:t>했다</a:t>
            </a:r>
            <a:r>
              <a:rPr sz="2300" b="1" spc="-40" dirty="0">
                <a:solidFill>
                  <a:srgbClr val="1A1A1A"/>
                </a:solidFill>
                <a:latin typeface="Apple SD Gothic Neo"/>
              </a:rPr>
              <a:t> — </a:t>
            </a:r>
            <a:r>
              <a:rPr lang="ko-KR" altLang="en-US" sz="2300" b="1" spc="-40" dirty="0" err="1">
                <a:solidFill>
                  <a:srgbClr val="1A1A1A"/>
                </a:solidFill>
                <a:latin typeface="Apple SD Gothic Neo"/>
              </a:rPr>
              <a:t>백엔드</a:t>
            </a:r>
            <a:r>
              <a:rPr sz="2300" b="1" spc="-40" dirty="0">
                <a:solidFill>
                  <a:srgbClr val="1A1A1A"/>
                </a:solidFill>
                <a:latin typeface="Apple SD Gothic Neo"/>
              </a:rPr>
              <a:t> </a:t>
            </a:r>
            <a:r>
              <a:rPr sz="2300" b="1" spc="-40" dirty="0" err="1">
                <a:solidFill>
                  <a:srgbClr val="1A1A1A"/>
                </a:solidFill>
                <a:latin typeface="Apple SD Gothic Neo"/>
              </a:rPr>
              <a:t>API를</a:t>
            </a:r>
            <a:r>
              <a:rPr sz="2300" b="1" spc="-40" dirty="0">
                <a:solidFill>
                  <a:srgbClr val="1A1A1A"/>
                </a:solidFill>
                <a:latin typeface="Apple SD Gothic Neo"/>
              </a:rPr>
              <a:t> </a:t>
            </a:r>
            <a:r>
              <a:rPr sz="2300" b="1" spc="-40" dirty="0" err="1">
                <a:solidFill>
                  <a:srgbClr val="1A1A1A"/>
                </a:solidFill>
                <a:latin typeface="Apple SD Gothic Neo"/>
              </a:rPr>
              <a:t>바꾸면</a:t>
            </a:r>
            <a:r>
              <a:rPr sz="2300" b="1" spc="-40" dirty="0">
                <a:solidFill>
                  <a:srgbClr val="1A1A1A"/>
                </a:solidFill>
                <a:latin typeface="Apple SD Gothic Neo"/>
              </a:rPr>
              <a:t> </a:t>
            </a:r>
            <a:r>
              <a:rPr lang="ko-KR" altLang="en-US" sz="2300" b="1" spc="-40" dirty="0">
                <a:solidFill>
                  <a:srgbClr val="1A1A1A"/>
                </a:solidFill>
                <a:latin typeface="Apple SD Gothic Neo"/>
              </a:rPr>
              <a:t>프론트가 이를 반영함</a:t>
            </a:r>
            <a:r>
              <a:rPr sz="2300" b="1" spc="-40" dirty="0">
                <a:solidFill>
                  <a:srgbClr val="1A1A1A"/>
                </a:solidFill>
                <a:latin typeface="Apple SD Gothic Neo"/>
              </a:rPr>
              <a:t>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384048"/>
            <a:ext cx="2749471" cy="6771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ko-KR" altLang="en-US" sz="3800" b="1" dirty="0" err="1">
                <a:solidFill>
                  <a:srgbClr val="000000"/>
                </a:solidFill>
                <a:latin typeface="Apple SD Gothic Neo"/>
              </a:rPr>
              <a:t>클로드</a:t>
            </a:r>
            <a:r>
              <a:rPr lang="ko-KR" altLang="en-US" sz="3800" b="1" dirty="0">
                <a:solidFill>
                  <a:srgbClr val="000000"/>
                </a:solidFill>
                <a:latin typeface="Apple SD Gothic Neo"/>
              </a:rPr>
              <a:t> 스킬</a:t>
            </a:r>
            <a:endParaRPr sz="3800" b="1" dirty="0">
              <a:solidFill>
                <a:srgbClr val="000000"/>
              </a:solidFill>
              <a:latin typeface="Apple SD Gothic Neo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777240" y="1261872"/>
            <a:ext cx="914400" cy="64008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77240" y="2286000"/>
            <a:ext cx="10607040" cy="1280160"/>
          </a:xfrm>
          <a:prstGeom prst="roundRect">
            <a:avLst/>
          </a:prstGeom>
          <a:solidFill>
            <a:srgbClr val="F1F1F3"/>
          </a:solidFill>
          <a:ln w="12700">
            <a:solidFill>
              <a:srgbClr val="C9C9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20040" rtlCol="0" anchor="ctr"/>
          <a:lstStyle/>
          <a:p>
            <a:pPr algn="l"/>
            <a:r>
              <a:rPr sz="2200" b="1" dirty="0">
                <a:solidFill>
                  <a:srgbClr val="5B5BD6"/>
                </a:solidFill>
                <a:latin typeface="Menlo"/>
              </a:rPr>
              <a:t>Superpowers</a:t>
            </a:r>
          </a:p>
          <a:p>
            <a:r>
              <a:rPr lang="ko-KR" altLang="en-US" sz="1700" dirty="0">
                <a:solidFill>
                  <a:srgbClr val="333333"/>
                </a:solidFill>
                <a:latin typeface="Apple SD Gothic Neo"/>
              </a:rPr>
              <a:t>코드 설계 및 설계된 대로 서브 에이전트를 활용해 </a:t>
            </a:r>
            <a:r>
              <a:rPr lang="en-US" altLang="ko-KR" sz="1700" dirty="0">
                <a:solidFill>
                  <a:srgbClr val="333333"/>
                </a:solidFill>
                <a:latin typeface="Apple SD Gothic Neo"/>
              </a:rPr>
              <a:t>TDD</a:t>
            </a:r>
            <a:r>
              <a:rPr lang="ko-KR" altLang="en-US" sz="1700">
                <a:solidFill>
                  <a:srgbClr val="333333"/>
                </a:solidFill>
                <a:latin typeface="Apple SD Gothic Neo"/>
              </a:rPr>
              <a:t>로 구현 </a:t>
            </a:r>
            <a:r>
              <a:rPr lang="ko-KR" altLang="en-US" sz="1700" dirty="0" err="1">
                <a:solidFill>
                  <a:srgbClr val="333333"/>
                </a:solidFill>
                <a:latin typeface="Apple SD Gothic Neo"/>
              </a:rPr>
              <a:t>해줌</a:t>
            </a:r>
            <a:endParaRPr sz="1700" dirty="0">
              <a:solidFill>
                <a:srgbClr val="333333"/>
              </a:solidFill>
              <a:latin typeface="Apple SD Gothic Neo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777240" y="3931920"/>
            <a:ext cx="10607040" cy="1280160"/>
          </a:xfrm>
          <a:prstGeom prst="roundRect">
            <a:avLst/>
          </a:prstGeom>
          <a:solidFill>
            <a:srgbClr val="F1F1F3"/>
          </a:solidFill>
          <a:ln w="12700">
            <a:solidFill>
              <a:srgbClr val="C9C9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20040" rtlCol="0" anchor="ctr"/>
          <a:lstStyle/>
          <a:p>
            <a:pPr algn="l"/>
            <a:r>
              <a:rPr sz="2200" b="1" dirty="0">
                <a:solidFill>
                  <a:srgbClr val="5B5BD6"/>
                </a:solidFill>
                <a:latin typeface="Menlo"/>
              </a:rPr>
              <a:t>grill-with-docs</a:t>
            </a:r>
          </a:p>
          <a:p>
            <a:pPr algn="l"/>
            <a:r>
              <a:rPr sz="1700" dirty="0" err="1">
                <a:solidFill>
                  <a:srgbClr val="333333"/>
                </a:solidFill>
                <a:latin typeface="Apple SD Gothic Neo"/>
              </a:rPr>
              <a:t>AI가</a:t>
            </a:r>
            <a:r>
              <a:rPr sz="1700" dirty="0">
                <a:solidFill>
                  <a:srgbClr val="333333"/>
                </a:solidFill>
                <a:latin typeface="Apple SD Gothic Neo"/>
              </a:rPr>
              <a:t> </a:t>
            </a:r>
            <a:r>
              <a:rPr sz="1700" dirty="0" err="1">
                <a:solidFill>
                  <a:srgbClr val="333333"/>
                </a:solidFill>
                <a:latin typeface="Apple SD Gothic Neo"/>
              </a:rPr>
              <a:t>만든</a:t>
            </a:r>
            <a:r>
              <a:rPr sz="1700" dirty="0">
                <a:solidFill>
                  <a:srgbClr val="333333"/>
                </a:solidFill>
                <a:latin typeface="Apple SD Gothic Neo"/>
              </a:rPr>
              <a:t> </a:t>
            </a:r>
            <a:r>
              <a:rPr sz="1700" dirty="0" err="1">
                <a:solidFill>
                  <a:srgbClr val="333333"/>
                </a:solidFill>
                <a:latin typeface="Apple SD Gothic Neo"/>
              </a:rPr>
              <a:t>설계를</a:t>
            </a:r>
            <a:r>
              <a:rPr sz="1700" dirty="0">
                <a:solidFill>
                  <a:srgbClr val="333333"/>
                </a:solidFill>
                <a:latin typeface="Apple SD Gothic Neo"/>
              </a:rPr>
              <a:t> </a:t>
            </a:r>
            <a:r>
              <a:rPr sz="1700" dirty="0" err="1">
                <a:solidFill>
                  <a:srgbClr val="333333"/>
                </a:solidFill>
                <a:latin typeface="Apple SD Gothic Neo"/>
              </a:rPr>
              <a:t>도메인</a:t>
            </a:r>
            <a:r>
              <a:rPr sz="1700" dirty="0">
                <a:solidFill>
                  <a:srgbClr val="333333"/>
                </a:solidFill>
                <a:latin typeface="Apple SD Gothic Neo"/>
              </a:rPr>
              <a:t> </a:t>
            </a:r>
            <a:r>
              <a:rPr sz="1700" dirty="0" err="1">
                <a:solidFill>
                  <a:srgbClr val="333333"/>
                </a:solidFill>
                <a:latin typeface="Apple SD Gothic Neo"/>
              </a:rPr>
              <a:t>문서에</a:t>
            </a:r>
            <a:r>
              <a:rPr sz="1700" dirty="0">
                <a:solidFill>
                  <a:srgbClr val="333333"/>
                </a:solidFill>
                <a:latin typeface="Apple SD Gothic Neo"/>
              </a:rPr>
              <a:t> </a:t>
            </a:r>
            <a:r>
              <a:rPr sz="1700" dirty="0" err="1">
                <a:solidFill>
                  <a:srgbClr val="333333"/>
                </a:solidFill>
                <a:latin typeface="Apple SD Gothic Neo"/>
              </a:rPr>
              <a:t>대고</a:t>
            </a:r>
            <a:r>
              <a:rPr sz="1700" dirty="0">
                <a:solidFill>
                  <a:srgbClr val="333333"/>
                </a:solidFill>
                <a:latin typeface="Apple SD Gothic Neo"/>
              </a:rPr>
              <a:t> </a:t>
            </a:r>
            <a:r>
              <a:rPr sz="1700" dirty="0" err="1">
                <a:solidFill>
                  <a:srgbClr val="333333"/>
                </a:solidFill>
                <a:latin typeface="Apple SD Gothic Neo"/>
              </a:rPr>
              <a:t>한</a:t>
            </a:r>
            <a:r>
              <a:rPr sz="1700" dirty="0">
                <a:solidFill>
                  <a:srgbClr val="333333"/>
                </a:solidFill>
                <a:latin typeface="Apple SD Gothic Neo"/>
              </a:rPr>
              <a:t> </a:t>
            </a:r>
            <a:r>
              <a:rPr sz="1700" dirty="0" err="1">
                <a:solidFill>
                  <a:srgbClr val="333333"/>
                </a:solidFill>
                <a:latin typeface="Apple SD Gothic Neo"/>
              </a:rPr>
              <a:t>질문씩</a:t>
            </a:r>
            <a:r>
              <a:rPr sz="1700" dirty="0">
                <a:solidFill>
                  <a:srgbClr val="333333"/>
                </a:solidFill>
                <a:latin typeface="Apple SD Gothic Neo"/>
              </a:rPr>
              <a:t> </a:t>
            </a:r>
            <a:r>
              <a:rPr sz="1700" dirty="0" err="1">
                <a:solidFill>
                  <a:srgbClr val="333333"/>
                </a:solidFill>
                <a:latin typeface="Apple SD Gothic Neo"/>
              </a:rPr>
              <a:t>따져</a:t>
            </a:r>
            <a:r>
              <a:rPr sz="1700" dirty="0">
                <a:solidFill>
                  <a:srgbClr val="333333"/>
                </a:solidFill>
                <a:latin typeface="Apple SD Gothic Neo"/>
              </a:rPr>
              <a:t> </a:t>
            </a:r>
            <a:r>
              <a:rPr sz="1700" dirty="0" err="1">
                <a:solidFill>
                  <a:srgbClr val="333333"/>
                </a:solidFill>
                <a:latin typeface="Apple SD Gothic Neo"/>
              </a:rPr>
              <a:t>검증하는</a:t>
            </a:r>
            <a:r>
              <a:rPr sz="1700" dirty="0">
                <a:solidFill>
                  <a:srgbClr val="333333"/>
                </a:solidFill>
                <a:latin typeface="Apple SD Gothic Neo"/>
              </a:rPr>
              <a:t> </a:t>
            </a:r>
            <a:r>
              <a:rPr sz="1700" dirty="0" err="1">
                <a:solidFill>
                  <a:srgbClr val="333333"/>
                </a:solidFill>
                <a:latin typeface="Apple SD Gothic Neo"/>
              </a:rPr>
              <a:t>스킬</a:t>
            </a:r>
            <a:r>
              <a:rPr sz="1700" dirty="0">
                <a:solidFill>
                  <a:srgbClr val="333333"/>
                </a:solidFill>
                <a:latin typeface="Apple SD Gothic Neo"/>
              </a:rPr>
              <a:t>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76944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ko-KR" altLang="en-US" sz="4400" b="1" spc="-100" dirty="0" err="1">
                <a:solidFill>
                  <a:srgbClr val="1A1A1A"/>
                </a:solidFill>
                <a:latin typeface="Apple SD Gothic Neo"/>
              </a:rPr>
              <a:t>클로드</a:t>
            </a:r>
            <a:r>
              <a:rPr lang="ko-KR" altLang="en-US" sz="4400" b="1" spc="-100" dirty="0">
                <a:solidFill>
                  <a:srgbClr val="1A1A1A"/>
                </a:solidFill>
                <a:latin typeface="Apple SD Gothic Neo"/>
              </a:rPr>
              <a:t> 훅</a:t>
            </a:r>
            <a:r>
              <a:rPr sz="4400" b="1" spc="-100" dirty="0">
                <a:solidFill>
                  <a:srgbClr val="1A1A1A"/>
                </a:solidFill>
                <a:latin typeface="Apple SD Gothic Neo"/>
              </a:rPr>
              <a:t>— </a:t>
            </a:r>
            <a:r>
              <a:rPr sz="4400" b="1" spc="-100" dirty="0" err="1">
                <a:solidFill>
                  <a:srgbClr val="1A1A1A"/>
                </a:solidFill>
                <a:latin typeface="Apple SD Gothic Neo"/>
              </a:rPr>
              <a:t>방법론을</a:t>
            </a:r>
            <a:r>
              <a:rPr sz="4400" b="1" spc="-100" dirty="0">
                <a:solidFill>
                  <a:srgbClr val="1A1A1A"/>
                </a:solidFill>
                <a:latin typeface="Apple SD Gothic Neo"/>
              </a:rPr>
              <a:t> </a:t>
            </a:r>
            <a:r>
              <a:rPr sz="4400" b="1" spc="-100" dirty="0" err="1">
                <a:solidFill>
                  <a:srgbClr val="1A1A1A"/>
                </a:solidFill>
                <a:latin typeface="Apple SD Gothic Neo"/>
              </a:rPr>
              <a:t>매번</a:t>
            </a:r>
            <a:r>
              <a:rPr sz="4400" b="1" spc="-100" dirty="0">
                <a:solidFill>
                  <a:srgbClr val="1A1A1A"/>
                </a:solidFill>
                <a:latin typeface="Apple SD Gothic Neo"/>
              </a:rPr>
              <a:t> </a:t>
            </a:r>
            <a:r>
              <a:rPr sz="4400" b="1" spc="-100" dirty="0" err="1">
                <a:solidFill>
                  <a:srgbClr val="1A1A1A"/>
                </a:solidFill>
                <a:latin typeface="Apple SD Gothic Neo"/>
              </a:rPr>
              <a:t>자동</a:t>
            </a:r>
            <a:r>
              <a:rPr sz="4400" b="1" spc="-100" dirty="0">
                <a:solidFill>
                  <a:srgbClr val="1A1A1A"/>
                </a:solidFill>
                <a:latin typeface="Apple SD Gothic Neo"/>
              </a:rPr>
              <a:t> </a:t>
            </a:r>
            <a:r>
              <a:rPr sz="4400" b="1" spc="-100" dirty="0" err="1">
                <a:solidFill>
                  <a:srgbClr val="1A1A1A"/>
                </a:solidFill>
                <a:latin typeface="Apple SD Gothic Neo"/>
              </a:rPr>
              <a:t>주입</a:t>
            </a:r>
            <a:endParaRPr sz="4400" b="1" spc="-100" dirty="0">
              <a:solidFill>
                <a:srgbClr val="1A1A1A"/>
              </a:solidFill>
              <a:latin typeface="Apple SD Gothic Neo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822960" y="1554480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822960" y="2194560"/>
            <a:ext cx="10561320" cy="2286000"/>
          </a:xfrm>
          <a:prstGeom prst="roundRect">
            <a:avLst>
              <a:gd name="adj" fmla="val 4000"/>
            </a:avLst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88720" y="2423160"/>
            <a:ext cx="9966960" cy="18745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 dirty="0">
                <a:solidFill>
                  <a:srgbClr val="7C83B0"/>
                </a:solidFill>
                <a:latin typeface="Menlo"/>
              </a:rPr>
              <a:t>// .</a:t>
            </a:r>
            <a:r>
              <a:rPr sz="1600" b="0" dirty="0" err="1">
                <a:solidFill>
                  <a:srgbClr val="7C83B0"/>
                </a:solidFill>
                <a:latin typeface="Menlo"/>
              </a:rPr>
              <a:t>claude</a:t>
            </a:r>
            <a:r>
              <a:rPr sz="1600" b="0" dirty="0">
                <a:solidFill>
                  <a:srgbClr val="7C83B0"/>
                </a:solidFill>
                <a:latin typeface="Menlo"/>
              </a:rPr>
              <a:t> </a:t>
            </a:r>
            <a:r>
              <a:rPr sz="1600" b="0" dirty="0" err="1">
                <a:solidFill>
                  <a:srgbClr val="7C83B0"/>
                </a:solidFill>
                <a:latin typeface="Menlo"/>
              </a:rPr>
              <a:t>훅</a:t>
            </a:r>
            <a:r>
              <a:rPr sz="1600" b="0" dirty="0">
                <a:solidFill>
                  <a:srgbClr val="7C83B0"/>
                </a:solidFill>
                <a:latin typeface="Menlo"/>
              </a:rPr>
              <a:t> </a:t>
            </a:r>
            <a:r>
              <a:rPr sz="1600" b="0" dirty="0" err="1">
                <a:solidFill>
                  <a:srgbClr val="7C83B0"/>
                </a:solidFill>
                <a:latin typeface="Menlo"/>
              </a:rPr>
              <a:t>설정</a:t>
            </a:r>
            <a:r>
              <a:rPr sz="1600" b="0" dirty="0">
                <a:solidFill>
                  <a:srgbClr val="7C83B0"/>
                </a:solidFill>
                <a:latin typeface="Menlo"/>
              </a:rPr>
              <a:t> (</a:t>
            </a:r>
            <a:r>
              <a:rPr sz="1600" b="0" dirty="0" err="1">
                <a:solidFill>
                  <a:srgbClr val="7C83B0"/>
                </a:solidFill>
                <a:latin typeface="Menlo"/>
              </a:rPr>
              <a:t>SessionStart</a:t>
            </a:r>
            <a:r>
              <a:rPr sz="1600" b="0" dirty="0">
                <a:solidFill>
                  <a:srgbClr val="7C83B0"/>
                </a:solidFill>
                <a:latin typeface="Menlo"/>
              </a:rPr>
              <a:t>)</a:t>
            </a:r>
          </a:p>
          <a:p>
            <a:pPr algn="l"/>
            <a:r>
              <a:rPr sz="1600" b="0" dirty="0">
                <a:solidFill>
                  <a:srgbClr val="FFFFFF"/>
                </a:solidFill>
                <a:latin typeface="Menlo"/>
              </a:rPr>
              <a:t>"</a:t>
            </a:r>
            <a:r>
              <a:rPr sz="1600" b="0" dirty="0" err="1">
                <a:solidFill>
                  <a:srgbClr val="FFFFFF"/>
                </a:solidFill>
                <a:latin typeface="Menlo"/>
              </a:rPr>
              <a:t>SessionStart</a:t>
            </a:r>
            <a:r>
              <a:rPr sz="1600" b="0" dirty="0">
                <a:solidFill>
                  <a:srgbClr val="FFFFFF"/>
                </a:solidFill>
                <a:latin typeface="Menlo"/>
              </a:rPr>
              <a:t>": startup | clear | compact</a:t>
            </a:r>
          </a:p>
          <a:p>
            <a:pPr algn="l"/>
            <a:r>
              <a:rPr sz="1600" b="0" dirty="0">
                <a:solidFill>
                  <a:srgbClr val="CDBFF7"/>
                </a:solidFill>
                <a:latin typeface="Menlo"/>
              </a:rPr>
              <a:t>    → using-superpowers </a:t>
            </a:r>
            <a:r>
              <a:rPr sz="1600" b="0" dirty="0" err="1">
                <a:solidFill>
                  <a:srgbClr val="CDBFF7"/>
                </a:solidFill>
                <a:latin typeface="Menlo"/>
              </a:rPr>
              <a:t>스킬</a:t>
            </a:r>
            <a:r>
              <a:rPr sz="1600" b="0" dirty="0">
                <a:solidFill>
                  <a:srgbClr val="CDBFF7"/>
                </a:solidFill>
                <a:latin typeface="Menlo"/>
              </a:rPr>
              <a:t> </a:t>
            </a:r>
            <a:r>
              <a:rPr sz="1600" b="0" dirty="0" err="1">
                <a:solidFill>
                  <a:srgbClr val="CDBFF7"/>
                </a:solidFill>
                <a:latin typeface="Menlo"/>
              </a:rPr>
              <a:t>규칙</a:t>
            </a:r>
            <a:r>
              <a:rPr sz="1600" b="0" dirty="0">
                <a:solidFill>
                  <a:srgbClr val="CDBFF7"/>
                </a:solidFill>
                <a:latin typeface="Menlo"/>
              </a:rPr>
              <a:t> </a:t>
            </a:r>
            <a:r>
              <a:rPr sz="1600" b="0" dirty="0" err="1">
                <a:solidFill>
                  <a:srgbClr val="CDBFF7"/>
                </a:solidFill>
                <a:latin typeface="Menlo"/>
              </a:rPr>
              <a:t>자동</a:t>
            </a:r>
            <a:r>
              <a:rPr sz="1600" b="0" dirty="0">
                <a:solidFill>
                  <a:srgbClr val="CDBFF7"/>
                </a:solidFill>
                <a:latin typeface="Menlo"/>
              </a:rPr>
              <a:t> </a:t>
            </a:r>
            <a:r>
              <a:rPr sz="1600" b="0" dirty="0" err="1">
                <a:solidFill>
                  <a:srgbClr val="CDBFF7"/>
                </a:solidFill>
                <a:latin typeface="Menlo"/>
              </a:rPr>
              <a:t>주입</a:t>
            </a:r>
            <a:endParaRPr sz="1600" b="0" dirty="0">
              <a:solidFill>
                <a:srgbClr val="CDBFF7"/>
              </a:solidFill>
              <a:latin typeface="Menlo"/>
            </a:endParaRPr>
          </a:p>
          <a:p>
            <a:pPr algn="l"/>
            <a:endParaRPr sz="1600" b="0" dirty="0">
              <a:solidFill>
                <a:srgbClr val="CDBFF7"/>
              </a:solidFill>
              <a:latin typeface="Menlo"/>
            </a:endParaRPr>
          </a:p>
          <a:p>
            <a:pPr algn="l"/>
            <a:r>
              <a:rPr sz="1600" b="0" dirty="0">
                <a:solidFill>
                  <a:srgbClr val="7C83B0"/>
                </a:solidFill>
                <a:latin typeface="Menlo"/>
              </a:rPr>
              <a:t># </a:t>
            </a:r>
            <a:r>
              <a:rPr sz="1600" b="0" dirty="0" err="1">
                <a:solidFill>
                  <a:srgbClr val="7C83B0"/>
                </a:solidFill>
                <a:latin typeface="Menlo"/>
              </a:rPr>
              <a:t>브레인스토밍</a:t>
            </a:r>
            <a:r>
              <a:rPr sz="1600" b="0" dirty="0">
                <a:solidFill>
                  <a:srgbClr val="7C83B0"/>
                </a:solidFill>
                <a:latin typeface="Menlo"/>
              </a:rPr>
              <a:t> · </a:t>
            </a:r>
            <a:r>
              <a:rPr sz="1600" b="0" dirty="0" err="1">
                <a:solidFill>
                  <a:srgbClr val="7C83B0"/>
                </a:solidFill>
                <a:latin typeface="Menlo"/>
              </a:rPr>
              <a:t>취조</a:t>
            </a:r>
            <a:r>
              <a:rPr sz="1600" b="0" dirty="0">
                <a:solidFill>
                  <a:srgbClr val="7C83B0"/>
                </a:solidFill>
                <a:latin typeface="Menlo"/>
              </a:rPr>
              <a:t> · </a:t>
            </a:r>
            <a:r>
              <a:rPr sz="1600" b="0" dirty="0" err="1">
                <a:solidFill>
                  <a:srgbClr val="7C83B0"/>
                </a:solidFill>
                <a:latin typeface="Menlo"/>
              </a:rPr>
              <a:t>계획</a:t>
            </a:r>
            <a:r>
              <a:rPr sz="1600" b="0" dirty="0">
                <a:solidFill>
                  <a:srgbClr val="7C83B0"/>
                </a:solidFill>
                <a:latin typeface="Menlo"/>
              </a:rPr>
              <a:t> · TDD </a:t>
            </a:r>
            <a:r>
              <a:rPr sz="1600" b="0" dirty="0" err="1">
                <a:solidFill>
                  <a:srgbClr val="7C83B0"/>
                </a:solidFill>
                <a:latin typeface="Menlo"/>
              </a:rPr>
              <a:t>규칙을</a:t>
            </a:r>
            <a:endParaRPr sz="1600" b="0" dirty="0">
              <a:solidFill>
                <a:srgbClr val="7C83B0"/>
              </a:solidFill>
              <a:latin typeface="Menlo"/>
            </a:endParaRPr>
          </a:p>
          <a:p>
            <a:pPr algn="l"/>
            <a:r>
              <a:rPr sz="1600" b="0" dirty="0">
                <a:solidFill>
                  <a:srgbClr val="7C83B0"/>
                </a:solidFill>
                <a:latin typeface="Menlo"/>
              </a:rPr>
              <a:t># </a:t>
            </a:r>
            <a:r>
              <a:rPr sz="1600" b="0" dirty="0" err="1">
                <a:solidFill>
                  <a:srgbClr val="7C83B0"/>
                </a:solidFill>
                <a:latin typeface="Menlo"/>
              </a:rPr>
              <a:t>세션이</a:t>
            </a:r>
            <a:r>
              <a:rPr sz="1600" b="0" dirty="0">
                <a:solidFill>
                  <a:srgbClr val="7C83B0"/>
                </a:solidFill>
                <a:latin typeface="Menlo"/>
              </a:rPr>
              <a:t> </a:t>
            </a:r>
            <a:r>
              <a:rPr sz="1600" b="0" dirty="0" err="1">
                <a:solidFill>
                  <a:srgbClr val="7C83B0"/>
                </a:solidFill>
                <a:latin typeface="Menlo"/>
              </a:rPr>
              <a:t>열릴</a:t>
            </a:r>
            <a:r>
              <a:rPr sz="1600" b="0" dirty="0">
                <a:solidFill>
                  <a:srgbClr val="7C83B0"/>
                </a:solidFill>
                <a:latin typeface="Menlo"/>
              </a:rPr>
              <a:t> </a:t>
            </a:r>
            <a:r>
              <a:rPr sz="1600" b="0" dirty="0" err="1">
                <a:solidFill>
                  <a:srgbClr val="7C83B0"/>
                </a:solidFill>
                <a:latin typeface="Menlo"/>
              </a:rPr>
              <a:t>때마다</a:t>
            </a:r>
            <a:r>
              <a:rPr sz="1600" b="0" dirty="0">
                <a:solidFill>
                  <a:srgbClr val="7C83B0"/>
                </a:solidFill>
                <a:latin typeface="Menlo"/>
              </a:rPr>
              <a:t> </a:t>
            </a:r>
            <a:r>
              <a:rPr sz="1600" b="0" dirty="0" err="1">
                <a:solidFill>
                  <a:srgbClr val="7C83B0"/>
                </a:solidFill>
                <a:latin typeface="Menlo"/>
              </a:rPr>
              <a:t>자동으로</a:t>
            </a:r>
            <a:r>
              <a:rPr sz="1600" b="0" dirty="0">
                <a:solidFill>
                  <a:srgbClr val="7C83B0"/>
                </a:solidFill>
                <a:latin typeface="Menlo"/>
              </a:rPr>
              <a:t> </a:t>
            </a:r>
            <a:r>
              <a:rPr sz="1600" b="0" dirty="0" err="1">
                <a:solidFill>
                  <a:srgbClr val="7C83B0"/>
                </a:solidFill>
                <a:latin typeface="Menlo"/>
              </a:rPr>
              <a:t>불러온다</a:t>
            </a:r>
            <a:endParaRPr sz="1600" b="0" dirty="0">
              <a:solidFill>
                <a:srgbClr val="7C83B0"/>
              </a:solidFill>
              <a:latin typeface="Menlo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22960" y="4754880"/>
            <a:ext cx="106070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 spc="-40">
                <a:solidFill>
                  <a:srgbClr val="1A1A1A"/>
                </a:solidFill>
                <a:latin typeface="Apple SD Gothic Neo"/>
              </a:rPr>
              <a:t>매번 '이렇게 일해'라고 시키지 않아도,</a:t>
            </a:r>
          </a:p>
          <a:p>
            <a:pPr algn="ctr"/>
            <a:r>
              <a:rPr sz="2400" b="1" spc="-40">
                <a:solidFill>
                  <a:srgbClr val="1A1A1A"/>
                </a:solidFill>
                <a:latin typeface="Apple SD Gothic Neo"/>
              </a:rPr>
              <a:t>세션이 열릴 때마다 일하는 방식이 강제됐다.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 spc="-100">
                <a:solidFill>
                  <a:srgbClr val="1A1A1A"/>
                </a:solidFill>
                <a:latin typeface="Apple SD Gothic Neo"/>
              </a:rPr>
              <a:t>개발 파이프라인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554480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824331" y="2834640"/>
            <a:ext cx="1874519" cy="1554480"/>
          </a:xfrm>
          <a:prstGeom prst="roundRect">
            <a:avLst>
              <a:gd name="adj" fmla="val 12000"/>
            </a:avLst>
          </a:prstGeom>
          <a:solidFill>
            <a:srgbClr val="F4F4F6"/>
          </a:solidFill>
          <a:ln w="1651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76200" rIns="127000" bIns="76200" rtlCol="0" anchor="ctr"/>
          <a:lstStyle/>
          <a:p>
            <a:pPr algn="ctr"/>
            <a:r>
              <a:rPr sz="2200" b="1">
                <a:solidFill>
                  <a:srgbClr val="1A1A1A"/>
                </a:solidFill>
                <a:latin typeface="Apple SD Gothic Neo"/>
              </a:rPr>
              <a:t>발산</a:t>
            </a:r>
          </a:p>
          <a:p>
            <a:pPr algn="ctr"/>
            <a:endParaRPr sz="2200" b="1">
              <a:solidFill>
                <a:srgbClr val="1A1A1A"/>
              </a:solidFill>
              <a:latin typeface="Apple SD Gothic Neo"/>
            </a:endParaRPr>
          </a:p>
          <a:p>
            <a:pPr algn="ctr"/>
            <a:r>
              <a:rPr sz="1200" b="0">
                <a:solidFill>
                  <a:srgbClr val="6B7280"/>
                </a:solidFill>
                <a:latin typeface="Menlo"/>
              </a:rPr>
              <a:t>brainstorming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25115" y="3337560"/>
            <a:ext cx="6400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6B7280"/>
                </a:solidFill>
                <a:latin typeface="Apple SD Gothic Neo"/>
              </a:rPr>
              <a:t>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91459" y="2834640"/>
            <a:ext cx="1874519" cy="1554480"/>
          </a:xfrm>
          <a:prstGeom prst="roundRect">
            <a:avLst>
              <a:gd name="adj" fmla="val 12000"/>
            </a:avLst>
          </a:prstGeom>
          <a:solidFill>
            <a:srgbClr val="ECEBFB"/>
          </a:solidFill>
          <a:ln w="1651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76200" rIns="127000" bIns="76200" rtlCol="0" anchor="ctr"/>
          <a:lstStyle/>
          <a:p>
            <a:pPr algn="ctr"/>
            <a:r>
              <a:rPr sz="2200" b="1">
                <a:solidFill>
                  <a:srgbClr val="1A1A1A"/>
                </a:solidFill>
                <a:latin typeface="Apple SD Gothic Neo"/>
              </a:rPr>
              <a:t>취조</a:t>
            </a:r>
          </a:p>
          <a:p>
            <a:pPr algn="ctr"/>
            <a:endParaRPr sz="2200" b="1">
              <a:solidFill>
                <a:srgbClr val="1A1A1A"/>
              </a:solidFill>
              <a:latin typeface="Apple SD Gothic Neo"/>
            </a:endParaRPr>
          </a:p>
          <a:p>
            <a:pPr algn="ctr"/>
            <a:r>
              <a:rPr sz="1200" b="0">
                <a:solidFill>
                  <a:srgbClr val="6B7280"/>
                </a:solidFill>
                <a:latin typeface="Menlo"/>
              </a:rPr>
              <a:t>grill-with-docs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92243" y="3337560"/>
            <a:ext cx="6400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6B7280"/>
                </a:solidFill>
                <a:latin typeface="Apple SD Gothic Neo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158587" y="2834640"/>
            <a:ext cx="1874519" cy="1554480"/>
          </a:xfrm>
          <a:prstGeom prst="roundRect">
            <a:avLst>
              <a:gd name="adj" fmla="val 12000"/>
            </a:avLst>
          </a:prstGeom>
          <a:solidFill>
            <a:srgbClr val="F4F4F6"/>
          </a:solidFill>
          <a:ln w="1651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76200" rIns="127000" bIns="76200" rtlCol="0" anchor="ctr"/>
          <a:lstStyle/>
          <a:p>
            <a:pPr algn="ctr"/>
            <a:r>
              <a:rPr sz="2200" b="1">
                <a:solidFill>
                  <a:srgbClr val="1A1A1A"/>
                </a:solidFill>
                <a:latin typeface="Apple SD Gothic Neo"/>
              </a:rPr>
              <a:t>계획</a:t>
            </a:r>
          </a:p>
          <a:p>
            <a:pPr algn="ctr"/>
            <a:endParaRPr sz="2200" b="1">
              <a:solidFill>
                <a:srgbClr val="1A1A1A"/>
              </a:solidFill>
              <a:latin typeface="Apple SD Gothic Neo"/>
            </a:endParaRPr>
          </a:p>
          <a:p>
            <a:pPr algn="ctr"/>
            <a:r>
              <a:rPr sz="1200" b="0">
                <a:solidFill>
                  <a:srgbClr val="6B7280"/>
                </a:solidFill>
                <a:latin typeface="Menlo"/>
              </a:rPr>
              <a:t>writing-plans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9371" y="3337560"/>
            <a:ext cx="6400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6B7280"/>
                </a:solidFill>
                <a:latin typeface="Apple SD Gothic Neo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25715" y="2834640"/>
            <a:ext cx="1874519" cy="1554480"/>
          </a:xfrm>
          <a:prstGeom prst="roundRect">
            <a:avLst>
              <a:gd name="adj" fmla="val 12000"/>
            </a:avLst>
          </a:prstGeom>
          <a:solidFill>
            <a:srgbClr val="ECEBFB"/>
          </a:solidFill>
          <a:ln w="1651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76200" rIns="127000" bIns="76200" rtlCol="0" anchor="ctr"/>
          <a:lstStyle/>
          <a:p>
            <a:pPr algn="ctr"/>
            <a:r>
              <a:rPr sz="2200" b="1">
                <a:solidFill>
                  <a:srgbClr val="1A1A1A"/>
                </a:solidFill>
                <a:latin typeface="Apple SD Gothic Neo"/>
              </a:rPr>
              <a:t>구현</a:t>
            </a:r>
          </a:p>
          <a:p>
            <a:pPr algn="ctr"/>
            <a:endParaRPr sz="2200" b="1">
              <a:solidFill>
                <a:srgbClr val="1A1A1A"/>
              </a:solidFill>
              <a:latin typeface="Apple SD Gothic Neo"/>
            </a:endParaRPr>
          </a:p>
          <a:p>
            <a:pPr algn="ctr"/>
            <a:r>
              <a:rPr sz="1200" b="0">
                <a:solidFill>
                  <a:srgbClr val="6B7280"/>
                </a:solidFill>
                <a:latin typeface="Menlo"/>
              </a:rPr>
              <a:t>executing-plans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26499" y="3337560"/>
            <a:ext cx="6400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6B7280"/>
                </a:solidFill>
                <a:latin typeface="Apple SD Gothic Neo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492843" y="2834640"/>
            <a:ext cx="1874519" cy="1554480"/>
          </a:xfrm>
          <a:prstGeom prst="roundRect">
            <a:avLst>
              <a:gd name="adj" fmla="val 12000"/>
            </a:avLst>
          </a:prstGeom>
          <a:solidFill>
            <a:srgbClr val="F4F4F6"/>
          </a:solidFill>
          <a:ln w="1651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76200" rIns="127000" bIns="76200" rtlCol="0" anchor="ctr"/>
          <a:lstStyle/>
          <a:p>
            <a:pPr algn="ctr"/>
            <a:r>
              <a:rPr sz="2200" b="1">
                <a:solidFill>
                  <a:srgbClr val="1A1A1A"/>
                </a:solidFill>
                <a:latin typeface="Apple SD Gothic Neo"/>
              </a:rPr>
              <a:t>검증</a:t>
            </a:r>
          </a:p>
          <a:p>
            <a:pPr algn="ctr"/>
            <a:endParaRPr sz="2200" b="1">
              <a:solidFill>
                <a:srgbClr val="1A1A1A"/>
              </a:solidFill>
              <a:latin typeface="Apple SD Gothic Neo"/>
            </a:endParaRPr>
          </a:p>
          <a:p>
            <a:pPr algn="ctr"/>
            <a:r>
              <a:rPr sz="1200" b="0">
                <a:solidFill>
                  <a:srgbClr val="6B7280"/>
                </a:solidFill>
                <a:latin typeface="Menlo"/>
              </a:rPr>
              <a:t>Codex 리뷰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 spc="-100">
                <a:solidFill>
                  <a:srgbClr val="1A1A1A"/>
                </a:solidFill>
                <a:latin typeface="Apple SD Gothic Neo"/>
              </a:rPr>
              <a:t>Red → Green → Refactor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554480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1295247" y="2743200"/>
            <a:ext cx="2834640" cy="1737360"/>
          </a:xfrm>
          <a:prstGeom prst="roundRect">
            <a:avLst>
              <a:gd name="adj" fmla="val 12000"/>
            </a:avLst>
          </a:prstGeom>
          <a:solidFill>
            <a:srgbClr val="D8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76200" rIns="127000" bIns="7620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Menlo"/>
              </a:rPr>
              <a:t>RED</a:t>
            </a:r>
          </a:p>
          <a:p>
            <a:pPr algn="ctr"/>
            <a:endParaRPr sz="2200" b="1">
              <a:solidFill>
                <a:srgbClr val="FFFFFF"/>
              </a:solidFill>
              <a:latin typeface="Menlo"/>
            </a:endParaRPr>
          </a:p>
          <a:p>
            <a:pPr algn="ctr"/>
            <a:r>
              <a:rPr sz="1700" b="1">
                <a:solidFill>
                  <a:srgbClr val="FFFFFF"/>
                </a:solidFill>
                <a:latin typeface="Apple SD Gothic Neo"/>
              </a:rPr>
              <a:t>실패 테스트를</a:t>
            </a:r>
          </a:p>
          <a:p>
            <a:pPr algn="ctr"/>
            <a:r>
              <a:rPr sz="1700" b="1">
                <a:solidFill>
                  <a:srgbClr val="FFFFFF"/>
                </a:solidFill>
                <a:latin typeface="Apple SD Gothic Neo"/>
              </a:rPr>
              <a:t>먼저 작성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84167" y="3383280"/>
            <a:ext cx="6400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8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78527" y="2743200"/>
            <a:ext cx="2834640" cy="1737360"/>
          </a:xfrm>
          <a:prstGeom prst="roundRect">
            <a:avLst>
              <a:gd name="adj" fmla="val 12000"/>
            </a:avLst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76200" rIns="127000" bIns="7620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Menlo"/>
              </a:rPr>
              <a:t>GREEN</a:t>
            </a:r>
          </a:p>
          <a:p>
            <a:pPr algn="ctr"/>
            <a:endParaRPr sz="2200" b="1">
              <a:solidFill>
                <a:srgbClr val="FFFFFF"/>
              </a:solidFill>
              <a:latin typeface="Menlo"/>
            </a:endParaRPr>
          </a:p>
          <a:p>
            <a:pPr algn="ctr"/>
            <a:r>
              <a:rPr sz="1700" b="1">
                <a:solidFill>
                  <a:srgbClr val="FFFFFF"/>
                </a:solidFill>
                <a:latin typeface="Apple SD Gothic Neo"/>
              </a:rPr>
              <a:t>통과시킬</a:t>
            </a:r>
          </a:p>
          <a:p>
            <a:pPr algn="ctr"/>
            <a:r>
              <a:rPr sz="1700" b="1">
                <a:solidFill>
                  <a:srgbClr val="FFFFFF"/>
                </a:solidFill>
                <a:latin typeface="Apple SD Gothic Neo"/>
              </a:rPr>
              <a:t>최소한만 구현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67447" y="3383280"/>
            <a:ext cx="6400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8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61807" y="2743200"/>
            <a:ext cx="2834640" cy="1737360"/>
          </a:xfrm>
          <a:prstGeom prst="roundRect">
            <a:avLst>
              <a:gd name="adj" fmla="val 12000"/>
            </a:avLst>
          </a:prstGeom>
          <a:solidFill>
            <a:srgbClr val="2F6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76200" rIns="127000" bIns="7620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Menlo"/>
              </a:rPr>
              <a:t>REFACTOR</a:t>
            </a:r>
          </a:p>
          <a:p>
            <a:pPr algn="ctr"/>
            <a:endParaRPr sz="2200" b="1">
              <a:solidFill>
                <a:srgbClr val="FFFFFF"/>
              </a:solidFill>
              <a:latin typeface="Menlo"/>
            </a:endParaRPr>
          </a:p>
          <a:p>
            <a:pPr algn="ctr"/>
            <a:r>
              <a:rPr sz="1700" b="1">
                <a:solidFill>
                  <a:srgbClr val="FFFFFF"/>
                </a:solidFill>
                <a:latin typeface="Apple SD Gothic Neo"/>
              </a:rPr>
              <a:t>녹색 유지한 채</a:t>
            </a:r>
          </a:p>
          <a:p>
            <a:pPr algn="ctr"/>
            <a:r>
              <a:rPr sz="1700" b="1">
                <a:solidFill>
                  <a:srgbClr val="FFFFFF"/>
                </a:solidFill>
                <a:latin typeface="Apple SD Gothic Neo"/>
              </a:rPr>
              <a:t>정리·중복 제거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02920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40">
                <a:solidFill>
                  <a:srgbClr val="1A1A1A"/>
                </a:solidFill>
                <a:latin typeface="Apple SD Gothic Neo"/>
              </a:rPr>
              <a:t>AI가 짠 코드도 이 사이클을 강제했다.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80021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 spc="-100" dirty="0">
                <a:solidFill>
                  <a:srgbClr val="1A1A1A"/>
                </a:solidFill>
                <a:latin typeface="Apple SD Gothic Neo"/>
              </a:rPr>
              <a:t>A</a:t>
            </a:r>
            <a:r>
              <a:rPr lang="en-US" sz="4600" b="1" spc="-100" dirty="0">
                <a:solidFill>
                  <a:srgbClr val="1A1A1A"/>
                </a:solidFill>
                <a:latin typeface="Apple SD Gothic Neo"/>
              </a:rPr>
              <a:t>I </a:t>
            </a:r>
            <a:r>
              <a:rPr lang="ko-KR" altLang="en-US" sz="4600" b="1" spc="-100" dirty="0">
                <a:solidFill>
                  <a:srgbClr val="1A1A1A"/>
                </a:solidFill>
                <a:latin typeface="Apple SD Gothic Neo"/>
              </a:rPr>
              <a:t>통제 방법</a:t>
            </a:r>
            <a:endParaRPr sz="4600" b="1" spc="-100" dirty="0">
              <a:solidFill>
                <a:srgbClr val="1A1A1A"/>
              </a:solidFill>
              <a:latin typeface="Apple SD Gothic Neo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822960" y="1554480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2890391"/>
            <a:ext cx="10607040" cy="107721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200" b="1" spc="-60" dirty="0" err="1">
                <a:solidFill>
                  <a:srgbClr val="1A1A1A"/>
                </a:solidFill>
                <a:latin typeface="Apple SD Gothic Neo"/>
              </a:rPr>
              <a:t>AI가</a:t>
            </a:r>
            <a:r>
              <a:rPr sz="3200" b="1" spc="-60" dirty="0">
                <a:solidFill>
                  <a:srgbClr val="1A1A1A"/>
                </a:solidFill>
                <a:latin typeface="Apple SD Gothic Neo"/>
              </a:rPr>
              <a:t> </a:t>
            </a:r>
            <a:r>
              <a:rPr sz="3200" b="1" spc="-60" dirty="0" err="1">
                <a:solidFill>
                  <a:srgbClr val="1A1A1A"/>
                </a:solidFill>
                <a:latin typeface="Apple SD Gothic Neo"/>
              </a:rPr>
              <a:t>짠</a:t>
            </a:r>
            <a:r>
              <a:rPr sz="3200" b="1" spc="-60" dirty="0">
                <a:solidFill>
                  <a:srgbClr val="1A1A1A"/>
                </a:solidFill>
                <a:latin typeface="Apple SD Gothic Neo"/>
              </a:rPr>
              <a:t> </a:t>
            </a:r>
            <a:r>
              <a:rPr sz="3200" b="1" spc="-60" dirty="0" err="1">
                <a:solidFill>
                  <a:srgbClr val="1A1A1A"/>
                </a:solidFill>
                <a:latin typeface="Apple SD Gothic Neo"/>
              </a:rPr>
              <a:t>설계를</a:t>
            </a:r>
            <a:r>
              <a:rPr sz="3200" b="1" spc="-60" dirty="0">
                <a:solidFill>
                  <a:srgbClr val="1A1A1A"/>
                </a:solidFill>
                <a:latin typeface="Apple SD Gothic Neo"/>
              </a:rPr>
              <a:t> </a:t>
            </a:r>
            <a:r>
              <a:rPr lang="en-US" sz="3200" b="1" spc="-60" dirty="0">
                <a:solidFill>
                  <a:srgbClr val="1A1A1A"/>
                </a:solidFill>
                <a:latin typeface="Apple SD Gothic Neo"/>
              </a:rPr>
              <a:t>grill-with-docs </a:t>
            </a:r>
            <a:r>
              <a:rPr lang="ko-KR" altLang="en-US" sz="3200" b="1" spc="-60" dirty="0">
                <a:solidFill>
                  <a:srgbClr val="1A1A1A"/>
                </a:solidFill>
                <a:latin typeface="Apple SD Gothic Neo"/>
              </a:rPr>
              <a:t>스킬을 통해</a:t>
            </a:r>
            <a:endParaRPr lang="en-US" altLang="ko-KR" sz="3200" b="1" spc="-60" dirty="0">
              <a:solidFill>
                <a:srgbClr val="1A1A1A"/>
              </a:solidFill>
              <a:latin typeface="Apple SD Gothic Neo"/>
            </a:endParaRPr>
          </a:p>
          <a:p>
            <a:pPr algn="ctr"/>
            <a:r>
              <a:rPr sz="3200" b="1" spc="-60" dirty="0" err="1">
                <a:solidFill>
                  <a:srgbClr val="1A1A1A"/>
                </a:solidFill>
                <a:latin typeface="Apple SD Gothic Neo"/>
              </a:rPr>
              <a:t>다이어그램·유스케이스</a:t>
            </a:r>
            <a:r>
              <a:rPr lang="ko-KR" altLang="en-US" sz="3200" b="1" spc="-60" dirty="0">
                <a:solidFill>
                  <a:srgbClr val="1A1A1A"/>
                </a:solidFill>
                <a:latin typeface="Apple SD Gothic Neo"/>
              </a:rPr>
              <a:t>과 일치하는지 취조</a:t>
            </a:r>
            <a:r>
              <a:rPr sz="3200" b="1" spc="-60" dirty="0">
                <a:solidFill>
                  <a:srgbClr val="1A1A1A"/>
                </a:solidFill>
                <a:latin typeface="Apple SD Gothic Neo"/>
              </a:rPr>
              <a:t>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80021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 spc="-100" dirty="0" err="1">
                <a:solidFill>
                  <a:srgbClr val="1A1A1A"/>
                </a:solidFill>
                <a:latin typeface="Apple SD Gothic Neo"/>
              </a:rPr>
              <a:t>취조</a:t>
            </a:r>
            <a:r>
              <a:rPr sz="4600" b="1" spc="-100" dirty="0">
                <a:solidFill>
                  <a:srgbClr val="1A1A1A"/>
                </a:solidFill>
                <a:latin typeface="Apple SD Gothic Neo"/>
              </a:rPr>
              <a:t> </a:t>
            </a:r>
            <a:r>
              <a:rPr lang="en-US" altLang="ko-Kore-KR" sz="4600" b="1" spc="-100" dirty="0">
                <a:solidFill>
                  <a:srgbClr val="1A1A1A"/>
                </a:solidFill>
                <a:latin typeface="Apple SD Gothic Neo"/>
              </a:rPr>
              <a:t>—</a:t>
            </a:r>
            <a:r>
              <a:rPr lang="ko-Kore-KR" altLang="en-US" sz="4600" b="1" spc="-100" dirty="0">
                <a:solidFill>
                  <a:srgbClr val="1A1A1A"/>
                </a:solidFill>
                <a:latin typeface="Apple SD Gothic Neo"/>
              </a:rPr>
              <a:t> </a:t>
            </a:r>
            <a:r>
              <a:rPr sz="4600" b="1" spc="-100" dirty="0" err="1">
                <a:solidFill>
                  <a:srgbClr val="1A1A1A"/>
                </a:solidFill>
                <a:latin typeface="Apple SD Gothic Neo"/>
              </a:rPr>
              <a:t>흔들리는</a:t>
            </a:r>
            <a:r>
              <a:rPr sz="4600" b="1" spc="-100" dirty="0">
                <a:solidFill>
                  <a:srgbClr val="1A1A1A"/>
                </a:solidFill>
                <a:latin typeface="Apple SD Gothic Neo"/>
              </a:rPr>
              <a:t> </a:t>
            </a:r>
            <a:r>
              <a:rPr sz="4600" b="1" spc="-100" dirty="0" err="1">
                <a:solidFill>
                  <a:srgbClr val="1A1A1A"/>
                </a:solidFill>
                <a:latin typeface="Apple SD Gothic Neo"/>
              </a:rPr>
              <a:t>용어를</a:t>
            </a:r>
            <a:r>
              <a:rPr sz="4600" b="1" spc="-100" dirty="0">
                <a:solidFill>
                  <a:srgbClr val="1A1A1A"/>
                </a:solidFill>
                <a:latin typeface="Apple SD Gothic Neo"/>
              </a:rPr>
              <a:t> </a:t>
            </a:r>
            <a:r>
              <a:rPr sz="4600" b="1" spc="-100" dirty="0" err="1">
                <a:solidFill>
                  <a:srgbClr val="1A1A1A"/>
                </a:solidFill>
                <a:latin typeface="Apple SD Gothic Neo"/>
              </a:rPr>
              <a:t>잡다</a:t>
            </a:r>
            <a:endParaRPr sz="4600" b="1" spc="-100" dirty="0">
              <a:solidFill>
                <a:srgbClr val="1A1A1A"/>
              </a:solidFill>
              <a:latin typeface="Apple SD Gothic Neo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822960" y="1554480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77240" y="2743200"/>
            <a:ext cx="4800600" cy="1920240"/>
          </a:xfrm>
          <a:prstGeom prst="roundRect">
            <a:avLst>
              <a:gd name="adj" fmla="val 12000"/>
            </a:avLst>
          </a:prstGeom>
          <a:solidFill>
            <a:srgbClr val="F4F4F6"/>
          </a:solidFill>
          <a:ln w="1651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3200" tIns="101600" rIns="203200" bIns="101600" rtlCol="0" anchor="ctr"/>
          <a:lstStyle/>
          <a:p>
            <a:pPr algn="l"/>
            <a:r>
              <a:rPr sz="1600" b="1">
                <a:solidFill>
                  <a:srgbClr val="6B7280"/>
                </a:solidFill>
                <a:latin typeface="Apple SD Gothic Neo"/>
              </a:rPr>
              <a:t>AI가 한 것</a:t>
            </a:r>
          </a:p>
          <a:p>
            <a:pPr algn="l"/>
            <a:endParaRPr sz="1600" b="1">
              <a:solidFill>
                <a:srgbClr val="6B7280"/>
              </a:solidFill>
              <a:latin typeface="Apple SD Gothic Neo"/>
            </a:endParaRPr>
          </a:p>
          <a:p>
            <a:pPr algn="l"/>
            <a:r>
              <a:rPr sz="2100" b="1">
                <a:solidFill>
                  <a:srgbClr val="1A1A1A"/>
                </a:solidFill>
                <a:latin typeface="Apple SD Gothic Neo"/>
              </a:rPr>
              <a:t>같은 사람을 Policyholder·
account·user로 섞어 부름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33288" y="3383280"/>
            <a:ext cx="7315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4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29400" y="2743200"/>
            <a:ext cx="4800600" cy="1920240"/>
          </a:xfrm>
          <a:prstGeom prst="roundRect">
            <a:avLst>
              <a:gd name="adj" fmla="val 12000"/>
            </a:avLst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3200" tIns="101600" rIns="203200" bIns="101600" rtlCol="0" anchor="ctr"/>
          <a:lstStyle/>
          <a:p>
            <a:pPr algn="l"/>
            <a:r>
              <a:rPr sz="1600" b="1">
                <a:solidFill>
                  <a:srgbClr val="5B5BD6"/>
                </a:solidFill>
                <a:latin typeface="Apple SD Gothic Neo"/>
              </a:rPr>
              <a:t>내가 통제</a:t>
            </a:r>
          </a:p>
          <a:p>
            <a:pPr algn="l"/>
            <a:endParaRPr sz="1600" b="1">
              <a:solidFill>
                <a:srgbClr val="5B5BD6"/>
              </a:solidFill>
              <a:latin typeface="Apple SD Gothic Neo"/>
            </a:endParaRPr>
          </a:p>
          <a:p>
            <a:pPr algn="l"/>
            <a:r>
              <a:rPr sz="2100" b="1">
                <a:solidFill>
                  <a:srgbClr val="1A1A1A"/>
                </a:solidFill>
                <a:latin typeface="Apple SD Gothic Neo"/>
              </a:rPr>
              <a:t>CONTEXT.md에
표준어 하나로 못박음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80021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 spc="-100" dirty="0" err="1">
                <a:solidFill>
                  <a:srgbClr val="1A1A1A"/>
                </a:solidFill>
                <a:latin typeface="Apple SD Gothic Neo"/>
              </a:rPr>
              <a:t>취조</a:t>
            </a:r>
            <a:r>
              <a:rPr sz="4600" b="1" spc="-100" dirty="0">
                <a:solidFill>
                  <a:srgbClr val="1A1A1A"/>
                </a:solidFill>
                <a:latin typeface="Apple SD Gothic Neo"/>
              </a:rPr>
              <a:t> — </a:t>
            </a:r>
            <a:r>
              <a:rPr sz="4600" b="1" spc="-100" dirty="0" err="1">
                <a:solidFill>
                  <a:srgbClr val="1A1A1A"/>
                </a:solidFill>
                <a:latin typeface="Apple SD Gothic Neo"/>
              </a:rPr>
              <a:t>과한</a:t>
            </a:r>
            <a:r>
              <a:rPr sz="4600" b="1" spc="-100" dirty="0">
                <a:solidFill>
                  <a:srgbClr val="1A1A1A"/>
                </a:solidFill>
                <a:latin typeface="Apple SD Gothic Neo"/>
              </a:rPr>
              <a:t> </a:t>
            </a:r>
            <a:r>
              <a:rPr sz="4600" b="1" spc="-100" dirty="0" err="1">
                <a:solidFill>
                  <a:srgbClr val="1A1A1A"/>
                </a:solidFill>
                <a:latin typeface="Apple SD Gothic Neo"/>
              </a:rPr>
              <a:t>구현을</a:t>
            </a:r>
            <a:r>
              <a:rPr sz="4600" b="1" spc="-100" dirty="0">
                <a:solidFill>
                  <a:srgbClr val="1A1A1A"/>
                </a:solidFill>
                <a:latin typeface="Apple SD Gothic Neo"/>
              </a:rPr>
              <a:t> </a:t>
            </a:r>
            <a:r>
              <a:rPr sz="4600" b="1" spc="-100" dirty="0" err="1">
                <a:solidFill>
                  <a:srgbClr val="1A1A1A"/>
                </a:solidFill>
                <a:latin typeface="Apple SD Gothic Neo"/>
              </a:rPr>
              <a:t>막다</a:t>
            </a:r>
            <a:endParaRPr sz="4600" b="1" spc="-100" dirty="0">
              <a:solidFill>
                <a:srgbClr val="1A1A1A"/>
              </a:solidFill>
              <a:latin typeface="Apple SD Gothic Neo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822960" y="1554480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77240" y="2743200"/>
            <a:ext cx="4800600" cy="1920240"/>
          </a:xfrm>
          <a:prstGeom prst="roundRect">
            <a:avLst>
              <a:gd name="adj" fmla="val 12000"/>
            </a:avLst>
          </a:prstGeom>
          <a:solidFill>
            <a:srgbClr val="F4F4F6"/>
          </a:solidFill>
          <a:ln w="1651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3200" tIns="101600" rIns="203200" bIns="101600" rtlCol="0" anchor="ctr"/>
          <a:lstStyle/>
          <a:p>
            <a:pPr algn="l"/>
            <a:r>
              <a:rPr sz="1600" b="1" dirty="0" err="1">
                <a:solidFill>
                  <a:srgbClr val="6B7280"/>
                </a:solidFill>
                <a:latin typeface="Apple SD Gothic Neo"/>
              </a:rPr>
              <a:t>AI가</a:t>
            </a:r>
            <a:r>
              <a:rPr sz="1600" b="1" dirty="0">
                <a:solidFill>
                  <a:srgbClr val="6B7280"/>
                </a:solidFill>
                <a:latin typeface="Apple SD Gothic Neo"/>
              </a:rPr>
              <a:t> </a:t>
            </a:r>
            <a:r>
              <a:rPr sz="1600" b="1" dirty="0" err="1">
                <a:solidFill>
                  <a:srgbClr val="6B7280"/>
                </a:solidFill>
                <a:latin typeface="Apple SD Gothic Neo"/>
              </a:rPr>
              <a:t>한</a:t>
            </a:r>
            <a:r>
              <a:rPr sz="1600" b="1" dirty="0">
                <a:solidFill>
                  <a:srgbClr val="6B7280"/>
                </a:solidFill>
                <a:latin typeface="Apple SD Gothic Neo"/>
              </a:rPr>
              <a:t> </a:t>
            </a:r>
            <a:r>
              <a:rPr sz="1600" b="1" dirty="0" err="1">
                <a:solidFill>
                  <a:srgbClr val="6B7280"/>
                </a:solidFill>
                <a:latin typeface="Apple SD Gothic Neo"/>
              </a:rPr>
              <a:t>것</a:t>
            </a:r>
            <a:endParaRPr sz="1600" b="1" dirty="0">
              <a:solidFill>
                <a:srgbClr val="6B7280"/>
              </a:solidFill>
              <a:latin typeface="Apple SD Gothic Neo"/>
            </a:endParaRPr>
          </a:p>
          <a:p>
            <a:pPr algn="l"/>
            <a:endParaRPr sz="1600" b="1" dirty="0">
              <a:solidFill>
                <a:srgbClr val="6B7280"/>
              </a:solidFill>
              <a:latin typeface="Apple SD Gothic Neo"/>
            </a:endParaRPr>
          </a:p>
          <a:p>
            <a:pPr algn="l"/>
            <a:r>
              <a:rPr sz="2100" b="1" dirty="0" err="1">
                <a:solidFill>
                  <a:srgbClr val="1A1A1A"/>
                </a:solidFill>
                <a:latin typeface="Apple SD Gothic Neo"/>
              </a:rPr>
              <a:t>보험료를</a:t>
            </a:r>
            <a:r>
              <a:rPr sz="2100" b="1" dirty="0">
                <a:solidFill>
                  <a:srgbClr val="1A1A1A"/>
                </a:solidFill>
                <a:latin typeface="Apple SD Gothic Neo"/>
              </a:rPr>
              <a:t> '</a:t>
            </a:r>
            <a:r>
              <a:rPr sz="2100" b="1" dirty="0" err="1">
                <a:solidFill>
                  <a:srgbClr val="1A1A1A"/>
                </a:solidFill>
                <a:latin typeface="Apple SD Gothic Neo"/>
              </a:rPr>
              <a:t>맞춤</a:t>
            </a:r>
            <a:r>
              <a:rPr sz="2100" b="1" dirty="0">
                <a:solidFill>
                  <a:srgbClr val="1A1A1A"/>
                </a:solidFill>
                <a:latin typeface="Apple SD Gothic Neo"/>
              </a:rPr>
              <a:t> </a:t>
            </a:r>
            <a:r>
              <a:rPr sz="2100" b="1" dirty="0" err="1">
                <a:solidFill>
                  <a:srgbClr val="1A1A1A"/>
                </a:solidFill>
                <a:latin typeface="Apple SD Gothic Neo"/>
              </a:rPr>
              <a:t>계산'까지</a:t>
            </a:r>
            <a:r>
              <a:rPr sz="2100" b="1" dirty="0">
                <a:solidFill>
                  <a:srgbClr val="1A1A1A"/>
                </a:solidFill>
                <a:latin typeface="Apple SD Gothic Neo"/>
              </a:rPr>
              <a:t>
</a:t>
            </a:r>
            <a:r>
              <a:rPr sz="2100" b="1" dirty="0" err="1">
                <a:solidFill>
                  <a:srgbClr val="1A1A1A"/>
                </a:solidFill>
                <a:latin typeface="Apple SD Gothic Neo"/>
              </a:rPr>
              <a:t>만들려</a:t>
            </a:r>
            <a:r>
              <a:rPr sz="2100" b="1" dirty="0">
                <a:solidFill>
                  <a:srgbClr val="1A1A1A"/>
                </a:solidFill>
                <a:latin typeface="Apple SD Gothic Neo"/>
              </a:rPr>
              <a:t> </a:t>
            </a:r>
            <a:r>
              <a:rPr sz="2100" b="1" dirty="0" err="1">
                <a:solidFill>
                  <a:srgbClr val="1A1A1A"/>
                </a:solidFill>
                <a:latin typeface="Apple SD Gothic Neo"/>
              </a:rPr>
              <a:t>함</a:t>
            </a:r>
            <a:endParaRPr sz="2100" b="1" dirty="0">
              <a:solidFill>
                <a:srgbClr val="1A1A1A"/>
              </a:solidFill>
              <a:latin typeface="Apple SD Gothic Neo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733288" y="3383280"/>
            <a:ext cx="7315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4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29400" y="2743200"/>
            <a:ext cx="4800600" cy="1920240"/>
          </a:xfrm>
          <a:prstGeom prst="roundRect">
            <a:avLst>
              <a:gd name="adj" fmla="val 12000"/>
            </a:avLst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3200" tIns="101600" rIns="203200" bIns="101600" rtlCol="0" anchor="ctr"/>
          <a:lstStyle/>
          <a:p>
            <a:pPr algn="l"/>
            <a:r>
              <a:rPr sz="1600" b="1">
                <a:solidFill>
                  <a:srgbClr val="5B5BD6"/>
                </a:solidFill>
                <a:latin typeface="Apple SD Gothic Neo"/>
              </a:rPr>
              <a:t>내가 통제</a:t>
            </a:r>
          </a:p>
          <a:p>
            <a:pPr algn="l"/>
            <a:endParaRPr sz="1600" b="1">
              <a:solidFill>
                <a:srgbClr val="5B5BD6"/>
              </a:solidFill>
              <a:latin typeface="Apple SD Gothic Neo"/>
            </a:endParaRPr>
          </a:p>
          <a:p>
            <a:pPr algn="l"/>
            <a:r>
              <a:rPr sz="2100" b="1">
                <a:solidFill>
                  <a:srgbClr val="1A1A1A"/>
                </a:solidFill>
                <a:latin typeface="Apple SD Gothic Neo"/>
              </a:rPr>
              <a:t>유스케이스 범위(예시만)로
되돌림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365760"/>
            <a:ext cx="4031873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sz="3600" b="1" dirty="0">
                <a:solidFill>
                  <a:srgbClr val="000000"/>
                </a:solidFill>
                <a:latin typeface="Apple SD Gothic Neo"/>
              </a:rPr>
              <a:t>Epic(</a:t>
            </a:r>
            <a:r>
              <a:rPr lang="ko-KR" altLang="en-US" sz="3600" b="1" dirty="0">
                <a:solidFill>
                  <a:srgbClr val="000000"/>
                </a:solidFill>
                <a:latin typeface="Apple SD Gothic Neo"/>
              </a:rPr>
              <a:t>스프린트</a:t>
            </a:r>
            <a:r>
              <a:rPr lang="en-US" altLang="ko-KR" sz="3600" b="1" dirty="0">
                <a:solidFill>
                  <a:srgbClr val="000000"/>
                </a:solidFill>
                <a:latin typeface="Apple SD Gothic Neo"/>
              </a:rPr>
              <a:t>)</a:t>
            </a:r>
            <a:r>
              <a:rPr lang="ko-KR" altLang="en-US" sz="3600" b="1" dirty="0">
                <a:solidFill>
                  <a:srgbClr val="000000"/>
                </a:solidFill>
                <a:latin typeface="Apple SD Gothic Neo"/>
              </a:rPr>
              <a:t> </a:t>
            </a:r>
            <a:r>
              <a:rPr lang="en-US" altLang="ko-KR" sz="3600" b="1" dirty="0">
                <a:solidFill>
                  <a:srgbClr val="000000"/>
                </a:solidFill>
                <a:latin typeface="Apple SD Gothic Neo"/>
              </a:rPr>
              <a:t>5</a:t>
            </a:r>
            <a:r>
              <a:rPr lang="ko-KR" altLang="en-US" sz="3600" b="1" dirty="0">
                <a:solidFill>
                  <a:srgbClr val="000000"/>
                </a:solidFill>
                <a:latin typeface="Apple SD Gothic Neo"/>
              </a:rPr>
              <a:t>개</a:t>
            </a:r>
            <a:endParaRPr sz="3600" b="1" dirty="0">
              <a:solidFill>
                <a:srgbClr val="000000"/>
              </a:solidFill>
              <a:latin typeface="Apple SD Gothic Neo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777240" y="1207008"/>
            <a:ext cx="914400" cy="64008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mileston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3767" y="1600200"/>
            <a:ext cx="10424160" cy="487251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640080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>
                <a:solidFill>
                  <a:srgbClr val="888890"/>
                </a:solidFill>
                <a:latin typeface="Apple SD Gothic Neo"/>
              </a:rPr>
              <a:t>GitHub 마일스톤 = Epic, 이슈 = 작업 단위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457200"/>
            <a:ext cx="1088136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400" b="1" spc="-100">
                <a:solidFill>
                  <a:srgbClr val="1A1A1A"/>
                </a:solidFill>
                <a:latin typeface="Apple SD Gothic Neo"/>
              </a:rPr>
              <a:t>AI는 공짜가 아니다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17320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2480697"/>
            <a:ext cx="10607040" cy="70788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 spc="-60" dirty="0" err="1">
                <a:solidFill>
                  <a:srgbClr val="1A1A1A"/>
                </a:solidFill>
                <a:latin typeface="Apple SD Gothic Neo"/>
              </a:rPr>
              <a:t>한</a:t>
            </a:r>
            <a:r>
              <a:rPr sz="4000" b="1" spc="-60" dirty="0">
                <a:solidFill>
                  <a:srgbClr val="1A1A1A"/>
                </a:solidFill>
                <a:latin typeface="Apple SD Gothic Neo"/>
              </a:rPr>
              <a:t> </a:t>
            </a:r>
            <a:r>
              <a:rPr lang="en-US" sz="4000" b="1" spc="-60" dirty="0" err="1">
                <a:solidFill>
                  <a:srgbClr val="1A1A1A"/>
                </a:solidFill>
                <a:latin typeface="Apple SD Gothic Neo"/>
              </a:rPr>
              <a:t>Sprint</a:t>
            </a:r>
            <a:r>
              <a:rPr sz="4000" b="1" spc="-60" dirty="0" err="1">
                <a:solidFill>
                  <a:srgbClr val="1A1A1A"/>
                </a:solidFill>
                <a:latin typeface="Apple SD Gothic Neo"/>
              </a:rPr>
              <a:t>에</a:t>
            </a:r>
            <a:r>
              <a:rPr sz="4000" b="1" spc="-60" dirty="0">
                <a:solidFill>
                  <a:srgbClr val="1A1A1A"/>
                </a:solidFill>
                <a:latin typeface="Apple SD Gothic Neo"/>
              </a:rPr>
              <a:t>  $39.63  ·  </a:t>
            </a:r>
            <a:r>
              <a:rPr sz="4000" b="1" spc="-60" dirty="0" err="1">
                <a:solidFill>
                  <a:srgbClr val="1A1A1A"/>
                </a:solidFill>
                <a:latin typeface="Apple SD Gothic Neo"/>
              </a:rPr>
              <a:t>토큰</a:t>
            </a:r>
            <a:r>
              <a:rPr sz="4000" b="1" spc="-60" dirty="0">
                <a:solidFill>
                  <a:srgbClr val="1A1A1A"/>
                </a:solidFill>
                <a:latin typeface="Apple SD Gothic Neo"/>
              </a:rPr>
              <a:t> 5,100만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94560" y="3931920"/>
            <a:ext cx="3566160" cy="1280160"/>
          </a:xfrm>
          <a:prstGeom prst="roundRect">
            <a:avLst>
              <a:gd name="adj" fmla="val 12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3200" tIns="76200" rIns="177800" bIns="7620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Apple SD Gothic Neo"/>
              </a:rPr>
              <a:t>5시간 한도</a:t>
            </a:r>
          </a:p>
          <a:p>
            <a:pPr algn="ctr"/>
            <a:r>
              <a:rPr sz="3000" b="1">
                <a:solidFill>
                  <a:srgbClr val="FFFFFF"/>
                </a:solidFill>
                <a:latin typeface="Apple SD Gothic Neo"/>
              </a:rPr>
              <a:t>96% 소진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3931920"/>
            <a:ext cx="3566160" cy="1280160"/>
          </a:xfrm>
          <a:prstGeom prst="roundRect">
            <a:avLst>
              <a:gd name="adj" fmla="val 12000"/>
            </a:avLst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3200" tIns="76200" rIns="177800" bIns="76200" rtlCol="0" anchor="ctr"/>
          <a:lstStyle/>
          <a:p>
            <a:pPr algn="ctr"/>
            <a:r>
              <a:rPr sz="1600" b="1">
                <a:solidFill>
                  <a:srgbClr val="5B5BD6"/>
                </a:solidFill>
                <a:latin typeface="Apple SD Gothic Neo"/>
              </a:rPr>
              <a:t>주간 한도</a:t>
            </a:r>
          </a:p>
          <a:p>
            <a:pPr algn="ctr"/>
            <a:r>
              <a:rPr sz="3000" b="1">
                <a:solidFill>
                  <a:srgbClr val="1A1A1A"/>
                </a:solidFill>
                <a:latin typeface="Apple SD Gothic Neo"/>
              </a:rPr>
              <a:t>27% 소진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486400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 spc="-30">
                <a:solidFill>
                  <a:srgbClr val="6B7280"/>
                </a:solidFill>
                <a:latin typeface="Apple SD Gothic Neo"/>
              </a:rPr>
              <a:t>Claude Code 한 세션이 5시간 토큰 한도를 거의 다 먹었다.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 spc="-100">
                <a:solidFill>
                  <a:srgbClr val="1A1A1A"/>
                </a:solidFill>
                <a:latin typeface="Apple SD Gothic Neo"/>
              </a:rPr>
              <a:t>돈 먹은 범인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554480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2651760"/>
            <a:ext cx="1060704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400" b="1" spc="-60">
                <a:solidFill>
                  <a:srgbClr val="1A1A1A"/>
                </a:solidFill>
                <a:latin typeface="Apple SD Gothic Neo"/>
              </a:rPr>
              <a:t>코드 생성이 아니라
'긴 컨텍스트 재읽기'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434840"/>
            <a:ext cx="10607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 spc="-30">
                <a:solidFill>
                  <a:srgbClr val="6B7280"/>
                </a:solidFill>
                <a:latin typeface="Apple SD Gothic Neo"/>
              </a:rPr>
              <a:t>캐시 읽기만 4,580만 토큰 — 전체 비용의 90%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80021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ko-KR" altLang="en-US" sz="4600" b="1" spc="-100" dirty="0">
                <a:solidFill>
                  <a:srgbClr val="1A1A1A"/>
                </a:solidFill>
                <a:latin typeface="Apple SD Gothic Neo"/>
              </a:rPr>
              <a:t>해결책</a:t>
            </a:r>
            <a:endParaRPr sz="4600" b="1" spc="-100" dirty="0">
              <a:solidFill>
                <a:srgbClr val="1A1A1A"/>
              </a:solidFill>
              <a:latin typeface="Apple SD Gothic Neo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822960" y="1554480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1066647" y="3566160"/>
            <a:ext cx="3108960" cy="1371600"/>
          </a:xfrm>
          <a:prstGeom prst="roundRect">
            <a:avLst>
              <a:gd name="adj" fmla="val 12000"/>
            </a:avLst>
          </a:prstGeom>
          <a:solidFill>
            <a:srgbClr val="F4F4F6"/>
          </a:solidFill>
          <a:ln w="1651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3200" tIns="101600" rIns="203200" bIns="101600" rtlCol="0" anchor="ctr"/>
          <a:lstStyle/>
          <a:p>
            <a:pPr algn="ctr"/>
            <a:r>
              <a:rPr sz="2100" b="1">
                <a:solidFill>
                  <a:srgbClr val="1A1A1A"/>
                </a:solidFill>
                <a:latin typeface="Apple SD Gothic Neo"/>
              </a:rPr>
              <a:t>Epic 끝나면
/clear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41367" y="3566160"/>
            <a:ext cx="3108960" cy="1371600"/>
          </a:xfrm>
          <a:prstGeom prst="roundRect">
            <a:avLst>
              <a:gd name="adj" fmla="val 12000"/>
            </a:avLst>
          </a:prstGeom>
          <a:solidFill>
            <a:srgbClr val="F4F4F6"/>
          </a:solidFill>
          <a:ln w="1651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3200" tIns="101600" rIns="203200" bIns="101600" rtlCol="0" anchor="ctr"/>
          <a:lstStyle/>
          <a:p>
            <a:pPr algn="ctr"/>
            <a:r>
              <a:rPr lang="ko-KR" altLang="en-US" sz="2100" b="1" dirty="0">
                <a:solidFill>
                  <a:srgbClr val="1A1A1A"/>
                </a:solidFill>
                <a:latin typeface="Apple SD Gothic Neo"/>
              </a:rPr>
              <a:t>구현은</a:t>
            </a:r>
            <a:r>
              <a:rPr sz="2100" b="1" dirty="0">
                <a:solidFill>
                  <a:srgbClr val="1A1A1A"/>
                </a:solidFill>
                <a:latin typeface="Apple SD Gothic Neo"/>
              </a:rPr>
              <a:t>
Sonnet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6087" y="3566160"/>
            <a:ext cx="3108960" cy="1371600"/>
          </a:xfrm>
          <a:prstGeom prst="roundRect">
            <a:avLst>
              <a:gd name="adj" fmla="val 12000"/>
            </a:avLst>
          </a:prstGeom>
          <a:solidFill>
            <a:srgbClr val="F4F4F6"/>
          </a:solidFill>
          <a:ln w="1651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3200" tIns="101600" rIns="203200" bIns="101600" rtlCol="0" anchor="ctr"/>
          <a:lstStyle/>
          <a:p>
            <a:pPr algn="ctr"/>
            <a:r>
              <a:rPr lang="en-US" sz="2100" b="1" dirty="0">
                <a:solidFill>
                  <a:srgbClr val="1A1A1A"/>
                </a:solidFill>
                <a:latin typeface="Apple SD Gothic Neo"/>
              </a:rPr>
              <a:t>Codex</a:t>
            </a:r>
            <a:r>
              <a:rPr lang="ko-KR" altLang="en-US" sz="2100" b="1" dirty="0">
                <a:solidFill>
                  <a:srgbClr val="1A1A1A"/>
                </a:solidFill>
                <a:latin typeface="Apple SD Gothic Neo"/>
              </a:rPr>
              <a:t>로 리뷰</a:t>
            </a:r>
            <a:endParaRPr sz="2100" b="1" dirty="0">
              <a:solidFill>
                <a:srgbClr val="1A1A1A"/>
              </a:solidFill>
              <a:latin typeface="Apple SD Gothic Neo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457200"/>
            <a:ext cx="1088136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400" b="1" spc="-100">
                <a:solidFill>
                  <a:srgbClr val="1A1A1A"/>
                </a:solidFill>
                <a:latin typeface="Apple SD Gothic Neo"/>
              </a:rPr>
              <a:t>AI가 선을 넘다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17320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77240" y="2651760"/>
            <a:ext cx="4800600" cy="2011680"/>
          </a:xfrm>
          <a:prstGeom prst="roundRect">
            <a:avLst>
              <a:gd name="adj" fmla="val 12000"/>
            </a:avLst>
          </a:prstGeom>
          <a:solidFill>
            <a:srgbClr val="F4F4F6"/>
          </a:solidFill>
          <a:ln w="1651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3200" tIns="76200" rIns="177800" bIns="76200" rtlCol="0" anchor="ctr"/>
          <a:lstStyle/>
          <a:p>
            <a:r>
              <a:rPr sz="1600" b="1">
                <a:solidFill>
                  <a:srgbClr val="6B7280"/>
                </a:solidFill>
                <a:latin typeface="Apple SD Gothic Neo"/>
              </a:rPr>
              <a:t>AI가 한 것</a:t>
            </a:r>
          </a:p>
          <a:p>
            <a:endParaRPr sz="1600" b="1">
              <a:solidFill>
                <a:srgbClr val="6B7280"/>
              </a:solidFill>
              <a:latin typeface="Apple SD Gothic Neo"/>
            </a:endParaRPr>
          </a:p>
          <a:p>
            <a:r>
              <a:rPr sz="1900" b="1">
                <a:solidFill>
                  <a:srgbClr val="1A1A1A"/>
                </a:solidFill>
                <a:latin typeface="Apple SD Gothic Neo"/>
              </a:rPr>
              <a:t>모노레포라 git add를 넓게 잡아</a:t>
            </a:r>
          </a:p>
          <a:p>
            <a:r>
              <a:rPr sz="1900" b="1">
                <a:solidFill>
                  <a:srgbClr val="1A1A1A"/>
                </a:solidFill>
                <a:latin typeface="Apple SD Gothic Neo"/>
              </a:rPr>
              <a:t>백엔드 PR에 프론트까지 섞임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33288" y="3383280"/>
            <a:ext cx="7315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4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29400" y="2651760"/>
            <a:ext cx="4800600" cy="2011680"/>
          </a:xfrm>
          <a:prstGeom prst="roundRect">
            <a:avLst>
              <a:gd name="adj" fmla="val 12000"/>
            </a:avLst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3200" tIns="76200" rIns="177800" bIns="76200" rtlCol="0" anchor="ctr"/>
          <a:lstStyle/>
          <a:p>
            <a:r>
              <a:rPr sz="1600" b="1">
                <a:solidFill>
                  <a:srgbClr val="5B5BD6"/>
                </a:solidFill>
                <a:latin typeface="Apple SD Gothic Neo"/>
              </a:rPr>
              <a:t>내가 통제</a:t>
            </a:r>
            <a:endParaRPr sz="1600" b="1" dirty="0">
              <a:solidFill>
                <a:srgbClr val="5B5BD6"/>
              </a:solidFill>
              <a:latin typeface="Apple SD Gothic Neo"/>
            </a:endParaRPr>
          </a:p>
          <a:p>
            <a:endParaRPr sz="1600" b="1" dirty="0">
              <a:solidFill>
                <a:srgbClr val="5B5BD6"/>
              </a:solidFill>
              <a:latin typeface="Apple SD Gothic Neo"/>
            </a:endParaRPr>
          </a:p>
          <a:p>
            <a:r>
              <a:rPr sz="1900" b="1">
                <a:solidFill>
                  <a:srgbClr val="1A1A1A"/>
                </a:solidFill>
                <a:latin typeface="Apple SD Gothic Neo"/>
              </a:rPr>
              <a:t>영역마다 worktree로 분리</a:t>
            </a:r>
          </a:p>
          <a:p>
            <a:r>
              <a:rPr sz="1900" b="1">
                <a:solidFill>
                  <a:srgbClr val="1A1A1A"/>
                </a:solidFill>
                <a:latin typeface="Apple SD Gothic Neo"/>
              </a:rPr>
              <a:t>+ hook으로 “git add .” 차단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1D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68680" y="2514600"/>
            <a:ext cx="10607040" cy="83099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ko-KR" altLang="en-US" sz="4800" b="1" spc="-100" dirty="0">
                <a:solidFill>
                  <a:srgbClr val="FFFFFF"/>
                </a:solidFill>
                <a:latin typeface="Apple SD Gothic Neo"/>
              </a:rPr>
              <a:t>감사합니다</a:t>
            </a:r>
            <a:r>
              <a:rPr lang="en-US" altLang="ko-KR" sz="4800" b="1" spc="-100" dirty="0">
                <a:solidFill>
                  <a:srgbClr val="FFFFFF"/>
                </a:solidFill>
                <a:latin typeface="Apple SD Gothic Neo"/>
              </a:rPr>
              <a:t>.</a:t>
            </a:r>
            <a:endParaRPr sz="4800" b="1" spc="-100" dirty="0">
              <a:solidFill>
                <a:srgbClr val="FFFFFF"/>
              </a:solidFill>
              <a:latin typeface="Apple SD Gothic Neo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115</TotalTime>
  <Words>1375</Words>
  <Application>Microsoft Macintosh PowerPoint</Application>
  <PresentationFormat>와이드스크린</PresentationFormat>
  <Paragraphs>328</Paragraphs>
  <Slides>45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45</vt:i4>
      </vt:variant>
    </vt:vector>
  </HeadingPairs>
  <TitlesOfParts>
    <vt:vector size="51" baseType="lpstr">
      <vt:lpstr>Apple SD Gothic Neo</vt:lpstr>
      <vt:lpstr>Arial</vt:lpstr>
      <vt:lpstr>Calibri</vt:lpstr>
      <vt:lpstr>Chalkboard SE</vt:lpstr>
      <vt:lpstr>Menlo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김희윤</cp:lastModifiedBy>
  <cp:revision>98</cp:revision>
  <dcterms:created xsi:type="dcterms:W3CDTF">2013-01-27T09:14:16Z</dcterms:created>
  <dcterms:modified xsi:type="dcterms:W3CDTF">2026-06-09T03:26:09Z</dcterms:modified>
  <cp:category/>
</cp:coreProperties>
</file>
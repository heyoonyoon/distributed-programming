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4" r:id="rId34"/>
    <p:sldId id="300" r:id="rId48"/>
    <p:sldId id="301" r:id="rId49"/>
    <p:sldId id="297" r:id="rId28"/>
    <p:sldId id="298" r:id="rId27"/>
    <p:sldId id="299" r:id="rId47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302" r:id="rId50"/>
    <p:sldId id="303" r:id="rId51"/>
    <p:sldId id="294" r:id="rId44"/>
    <p:sldId id="295" r:id="rId45"/>
    <p:sldId id="296" r:id="rId46"/>
    <p:sldId id="283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9"/>
  </p:normalViewPr>
  <p:slideViewPr>
    <p:cSldViewPr snapToGrid="0" snapToObjects="1">
      <p:cViewPr varScale="1">
        <p:scale>
          <a:sx n="114" d="100"/>
          <a:sy n="114" d="100"/>
        </p:scale>
        <p:origin x="49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30.xml"/><Relationship Id="rId28" Type="http://schemas.openxmlformats.org/officeDocument/2006/relationships/slide" Target="slides/slide29.xml"/><Relationship Id="rId29" Type="http://schemas.openxmlformats.org/officeDocument/2006/relationships/slide" Target="slides/slide45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openxmlformats.org/officeDocument/2006/relationships/slide" Target="slides/slide26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slide" Target="slides/slide44.xml"/><Relationship Id="rId47" Type="http://schemas.openxmlformats.org/officeDocument/2006/relationships/slide" Target="slides/slide31.xml"/><Relationship Id="rId48" Type="http://schemas.openxmlformats.org/officeDocument/2006/relationships/slide" Target="slides/slide27.xml"/><Relationship Id="rId49" Type="http://schemas.openxmlformats.org/officeDocument/2006/relationships/slide" Target="slides/slide28.xml"/><Relationship Id="rId50" Type="http://schemas.openxmlformats.org/officeDocument/2006/relationships/slide" Target="slides/slide41.xml"/><Relationship Id="rId51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68680" y="214884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00" b="1" spc="-120">
                <a:solidFill>
                  <a:srgbClr val="FFFFFF"/>
                </a:solidFill>
                <a:latin typeface="Apple SD Gothic Neo"/>
              </a:rPr>
              <a:t>설계대로 구현하고,</a:t>
            </a:r>
          </a:p>
          <a:p>
            <a:pPr algn="l"/>
            <a:r>
              <a:rPr sz="5600" b="1" spc="-120">
                <a:solidFill>
                  <a:srgbClr val="FFFFFF"/>
                </a:solidFill>
                <a:latin typeface="Apple SD Gothic Neo"/>
              </a:rPr>
              <a:t>AI를 통제하다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3484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0" spc="-30">
                <a:solidFill>
                  <a:srgbClr val="CDBFF7"/>
                </a:solidFill>
                <a:latin typeface="Apple SD Gothic Neo"/>
              </a:rPr>
              <a:t>의료·자동차 보험 시스템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누가 사용하나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417320" y="2331720"/>
            <a:ext cx="2286000" cy="228600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3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가입·청구·납부</a:t>
            </a:r>
          </a:p>
        </p:txBody>
      </p:sp>
      <p:sp>
        <p:nvSpPr>
          <p:cNvPr id="6" name="Oval 5"/>
          <p:cNvSpPr/>
          <p:nvPr/>
        </p:nvSpPr>
        <p:spPr>
          <a:xfrm>
            <a:off x="4956048" y="2331720"/>
            <a:ext cx="2286000" cy="228600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3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41648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가입·지급 심사</a:t>
            </a:r>
          </a:p>
        </p:txBody>
      </p:sp>
      <p:sp>
        <p:nvSpPr>
          <p:cNvPr id="8" name="Oval 7"/>
          <p:cNvSpPr/>
          <p:nvPr/>
        </p:nvSpPr>
        <p:spPr>
          <a:xfrm>
            <a:off x="8494776" y="2331720"/>
            <a:ext cx="2286000" cy="228600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3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0375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계약·고지서·지급 자동화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두 가지 보험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325880" y="2377440"/>
            <a:ext cx="4480560" cy="28346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25880" y="310896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spc="-60">
                <a:solidFill>
                  <a:srgbClr val="1A1A1A"/>
                </a:solidFill>
                <a:latin typeface="Apple SD Gothic Neo"/>
              </a:rPr>
              <a:t>의료보험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377440"/>
            <a:ext cx="4480560" cy="283464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310896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spc="-60">
                <a:solidFill>
                  <a:srgbClr val="1A1A1A"/>
                </a:solidFill>
                <a:latin typeface="Apple SD Gothic Neo"/>
              </a:rPr>
              <a:t>자동차보험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병원비를 보험금으로 돌려준다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2960" y="3611880"/>
            <a:ext cx="2834640" cy="128016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Apple SD Gothic Neo"/>
              </a:rPr>
              <a:t>병원비 청구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86200" y="28803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86200" y="47091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2514600"/>
            <a:ext cx="6766560" cy="137160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100만 원 미만 → 바로 입금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4297680"/>
            <a:ext cx="6766560" cy="137160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100만 원 이상 → 직원 확인 후 입금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사고 피해를 보상한다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8658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사고 접수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6402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694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직원이 맡음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438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730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보상액 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2474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2766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계좌 입금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가입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9806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상품 조회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116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387842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552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가입 신청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152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6758787" y="2286000"/>
            <a:ext cx="1554480" cy="155448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1588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가입 심사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0188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3" name="Oval 12"/>
          <p:cNvSpPr/>
          <p:nvPr/>
        </p:nvSpPr>
        <p:spPr>
          <a:xfrm>
            <a:off x="963914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962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계약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승인되면 계약이 바로 생깁니다.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납부와 미납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43824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보험료 납부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134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31860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미납 감지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170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9896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고지서 발송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납부가 밀리면 미납으로 잡히고, 매일 아침 고지서가 나갑니다 (30일 초과 시 해지 예고).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보상과 지급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43824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청구·접수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134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318607" y="2286000"/>
            <a:ext cx="1554480" cy="155448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보상 심사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170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9896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보험금 지급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병원비는 100만 원 미만이면 즉시, 이상이거나 자동차 사고는 직원 심사 후 지급.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도메인 여섯 개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52247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사용자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73071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상품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93895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계약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4719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청구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35543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심사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6367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사고이력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사용자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user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5099" y="2286000"/>
            <a:ext cx="2862041" cy="3063240"/>
          </a:xfrm>
          <a:prstGeom prst="rect">
            <a:avLst/>
          </a:prstGeom>
        </p:spPr>
      </p:pic>
      <p:pic>
        <p:nvPicPr>
          <p:cNvPr id="7" name="Picture 6" descr="user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436" y="2286000"/>
            <a:ext cx="3385366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글자로 된 번호를 숫자로 바꾸고, 날짜 표기만 손봤다.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상품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produ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379" y="2286000"/>
            <a:ext cx="3943481" cy="3063240"/>
          </a:xfrm>
          <a:prstGeom prst="rect">
            <a:avLst/>
          </a:prstGeom>
        </p:spPr>
      </p:pic>
      <p:pic>
        <p:nvPicPr>
          <p:cNvPr id="7" name="Picture 6" descr="produ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1195" y="2286000"/>
            <a:ext cx="4539849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연결 구조(계약·보장 항목·하위 상품)는 그대로 4개. 번호를 숫자로 바꾸고, 보험료 계산은 아직 뼈대만 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계약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contra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16" y="2286000"/>
            <a:ext cx="4911206" cy="3063240"/>
          </a:xfrm>
          <a:prstGeom prst="rect">
            <a:avLst/>
          </a:prstGeom>
        </p:spPr>
      </p:pic>
      <p:pic>
        <p:nvPicPr>
          <p:cNvPr id="7" name="Picture 6" descr="contra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544108"/>
            <a:ext cx="5577840" cy="254702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자동이체 정보를 더했다.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청구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claim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049" y="2286000"/>
            <a:ext cx="3770141" cy="3063240"/>
          </a:xfrm>
          <a:prstGeom prst="rect">
            <a:avLst/>
          </a:prstGeom>
        </p:spPr>
      </p:pic>
      <p:pic>
        <p:nvPicPr>
          <p:cNvPr id="7" name="Picture 6" descr="claim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7975" y="2286000"/>
            <a:ext cx="3326288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첨부파일을 더하고, 상태를 4개 → 6개로 늘려 송금 결과까지 추적한다.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청구 상태값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8680" y="2377440"/>
            <a:ext cx="10424160" cy="1920240"/>
          </a:xfrm>
          <a:prstGeom prst="roundRect">
            <a:avLst>
              <a:gd name="adj" fmla="val 4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2560320"/>
            <a:ext cx="987552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public enum ClaimStatus {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    PENDING, IN_REVIEW, APPROVED, REJECTED,   // 설계 4개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    COMPLETED, FAILED                         // 구현에서 추가: 송금 성공·실패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61772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돈을 실제로 보냈는지까지 따라가려고 상태 두 개를 더했다.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심사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review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40946"/>
            <a:ext cx="5577840" cy="2753347"/>
          </a:xfrm>
          <a:prstGeom prst="rect">
            <a:avLst/>
          </a:prstGeom>
        </p:spPr>
      </p:pic>
      <p:pic>
        <p:nvPicPr>
          <p:cNvPr id="7" name="Picture 6" descr="review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732644"/>
            <a:ext cx="5577840" cy="21699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지급 심사가 의료뿐 아니라 자동차 사고까지 맡도록 넓혔다.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사고이력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acciden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4338" y="2286000"/>
            <a:ext cx="1623562" cy="3063240"/>
          </a:xfrm>
          <a:prstGeom prst="rect">
            <a:avLst/>
          </a:prstGeom>
        </p:spPr>
      </p:pic>
      <p:pic>
        <p:nvPicPr>
          <p:cNvPr id="7" name="Picture 6" descr="acciden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8020" y="2286000"/>
            <a:ext cx="2766198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외부 연동이 아직 가짜라, 사고 한 건 클래스는 빼고 단순화했다.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892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 dirty="0" err="1">
                <a:solidFill>
                  <a:srgbClr val="1A1A1A"/>
                </a:solidFill>
                <a:latin typeface="Apple SD Gothic Neo"/>
              </a:rPr>
              <a:t>전체</a:t>
            </a:r>
            <a:r>
              <a:rPr sz="52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5200" b="1" spc="-100" dirty="0" err="1">
                <a:solidFill>
                  <a:srgbClr val="1A1A1A"/>
                </a:solidFill>
                <a:latin typeface="Apple SD Gothic Neo"/>
              </a:rPr>
              <a:t>중</a:t>
            </a:r>
            <a:r>
              <a:rPr lang="ko-KR" altLang="en-US" sz="52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5200" b="1" spc="-100" dirty="0" err="1">
                <a:solidFill>
                  <a:srgbClr val="1A1A1A"/>
                </a:solidFill>
                <a:latin typeface="Apple SD Gothic Neo"/>
              </a:rPr>
              <a:t>시연하는</a:t>
            </a:r>
            <a:r>
              <a:rPr sz="52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5200" b="1" spc="-100" dirty="0" err="1">
                <a:solidFill>
                  <a:srgbClr val="1A1A1A"/>
                </a:solidFill>
                <a:latin typeface="Apple SD Gothic Neo"/>
              </a:rPr>
              <a:t>부분</a:t>
            </a:r>
            <a:endParaRPr sz="5200" b="1" spc="-100" dirty="0">
              <a:solidFill>
                <a:srgbClr val="1A1A1A"/>
              </a:solidFill>
              <a:latin typeface="Apple SD Gothic Neo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uc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0867" y="1828800"/>
            <a:ext cx="3119784" cy="374903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" y="2103120"/>
            <a:ext cx="3108960" cy="7315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pple SD Gothic Neo"/>
              </a:rPr>
              <a:t>파란 박스 = 직접 시연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017520"/>
            <a:ext cx="3108960" cy="731520"/>
          </a:xfrm>
          <a:prstGeom prst="roundRect">
            <a:avLst>
              <a:gd name="adj" fmla="val 16000"/>
            </a:avLst>
          </a:prstGeom>
          <a:solidFill>
            <a:srgbClr val="F1F1F3"/>
          </a:solidFill>
          <a:ln w="15240">
            <a:solidFill>
              <a:srgbClr val="C9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1700" b="1">
                <a:solidFill>
                  <a:srgbClr val="6B7280"/>
                </a:solidFill>
                <a:latin typeface="Apple SD Gothic Neo"/>
              </a:rPr>
              <a:t>회색 = 시연 외(코드엔 있음)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0644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spc="-40">
                <a:solidFill>
                  <a:srgbClr val="1A1A1A"/>
                </a:solidFill>
                <a:latin typeface="Apple SD Gothic Neo"/>
              </a:rPr>
              <a:t>전체 흐름 중 파란 부분만 라이브로 시연한다.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프로젝트 구조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spc="-30">
                <a:solidFill>
                  <a:srgbClr val="B5793A"/>
                </a:solidFill>
                <a:latin typeface="Apple SD Gothic Neo"/>
              </a:rPr>
              <a:t>프론트 · React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514600"/>
            <a:ext cx="3017520" cy="64008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l"/>
            <a:r>
              <a:rPr sz="1700" b="1">
                <a:solidFill>
                  <a:srgbClr val="1A1A1A"/>
                </a:solidFill>
                <a:latin typeface="Menlo"/>
              </a:rPr>
              <a:t>화면  </a:t>
            </a:r>
            <a:r>
              <a:rPr sz="1300" b="0">
                <a:solidFill>
                  <a:srgbClr val="6B7280"/>
                </a:solidFill>
                <a:latin typeface="Apple SD Gothic Neo"/>
              </a:rPr>
              <a:t>보이는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099816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355848"/>
            <a:ext cx="3017520" cy="64008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l"/>
            <a:r>
              <a:rPr sz="1700" b="1">
                <a:solidFill>
                  <a:srgbClr val="1A1A1A"/>
                </a:solidFill>
                <a:latin typeface="Menlo"/>
              </a:rPr>
              <a:t>hook  </a:t>
            </a:r>
            <a:r>
              <a:rPr sz="1300" b="0">
                <a:solidFill>
                  <a:srgbClr val="6B7280"/>
                </a:solidFill>
                <a:latin typeface="Apple SD Gothic Neo"/>
              </a:rPr>
              <a:t>호출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941063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197096"/>
            <a:ext cx="3017520" cy="64008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l"/>
            <a:r>
              <a:rPr sz="1700" b="1">
                <a:solidFill>
                  <a:srgbClr val="1A1A1A"/>
                </a:solidFill>
                <a:latin typeface="Menlo"/>
              </a:rPr>
              <a:t>api  </a:t>
            </a:r>
            <a:r>
              <a:rPr sz="1300" b="0">
                <a:solidFill>
                  <a:srgbClr val="6B7280"/>
                </a:solidFill>
                <a:latin typeface="Apple SD Gothic Neo"/>
              </a:rPr>
              <a:t>서버 요청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82880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spc="-30">
                <a:solidFill>
                  <a:srgbClr val="5B5BD6"/>
                </a:solidFill>
                <a:latin typeface="Apple SD Gothic Neo"/>
              </a:rPr>
              <a:t>백엔드 · Spring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2514600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ctr"/>
            <a:r>
              <a:rPr sz="1600" b="1">
                <a:solidFill>
                  <a:srgbClr val="1A1A1A"/>
                </a:solidFill>
                <a:latin typeface="Menlo"/>
              </a:rPr>
              <a:t>controller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3026664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3191256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ctr"/>
            <a:r>
              <a:rPr sz="1600" b="1">
                <a:solidFill>
                  <a:srgbClr val="1A1A1A"/>
                </a:solidFill>
                <a:latin typeface="Menlo"/>
              </a:rPr>
              <a:t>service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3703320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3867912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ctr"/>
            <a:r>
              <a:rPr sz="1600" b="1">
                <a:solidFill>
                  <a:srgbClr val="1A1A1A"/>
                </a:solidFill>
                <a:latin typeface="Menlo"/>
              </a:rPr>
              <a:t>domain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4379976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66760" y="4544568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ctr"/>
            <a:r>
              <a:rPr sz="1600" b="1">
                <a:solidFill>
                  <a:srgbClr val="1A1A1A"/>
                </a:solidFill>
                <a:latin typeface="Menlo"/>
              </a:rPr>
              <a:t>repository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5056632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60" y="5221224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Menlo"/>
              </a:rPr>
              <a:t>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69080" y="2788920"/>
            <a:ext cx="4069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spc="0">
                <a:solidFill>
                  <a:srgbClr val="5B5BD6"/>
                </a:solidFill>
                <a:latin typeface="Menlo"/>
              </a:rPr>
              <a:t>DTO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3383280"/>
            <a:ext cx="4434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spc="-20">
                <a:solidFill>
                  <a:srgbClr val="1A1A1A"/>
                </a:solidFill>
                <a:latin typeface="Apple SD Gothic Neo"/>
              </a:rPr>
              <a:t>요청 DTO  ───────▶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86200" y="4160520"/>
            <a:ext cx="4434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spc="-20">
                <a:solidFill>
                  <a:srgbClr val="1A1A1A"/>
                </a:solidFill>
                <a:latin typeface="Apple SD Gothic Neo"/>
              </a:rPr>
              <a:t>◀───────  응답 DTO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39" y="4754880"/>
            <a:ext cx="4251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spc="-20">
                <a:solidFill>
                  <a:srgbClr val="6B7280"/>
                </a:solidFill>
                <a:latin typeface="Apple SD Gothic Neo"/>
              </a:rPr>
              <a:t>화면과 서버가 주고받는</a:t>
            </a:r>
          </a:p>
          <a:p>
            <a:pPr algn="ctr"/>
            <a:r>
              <a:rPr sz="1400" b="0" spc="-20">
                <a:solidFill>
                  <a:srgbClr val="6B7280"/>
                </a:solidFill>
                <a:latin typeface="Apple SD Gothic Neo"/>
              </a:rPr>
              <a:t>데이터 형식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9436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프론트와 백엔드는 DTO로 데이터를 주고받는다.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따라가 볼 한 번의 클릭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spc="-30">
                <a:solidFill>
                  <a:srgbClr val="1A1A1A"/>
                </a:solidFill>
                <a:latin typeface="Apple SD Gothic Neo"/>
              </a:rPr>
              <a:t>고객이 상품 목록에서 </a:t>
            </a:r>
            <a:r>
              <a:rPr sz="2000" b="1" spc="-30">
                <a:solidFill>
                  <a:srgbClr val="5B5BD6"/>
                </a:solidFill>
                <a:latin typeface="Apple SD Gothic Neo"/>
              </a:rPr>
              <a:t>'실손기본'</a:t>
            </a:r>
            <a:r>
              <a:rPr sz="2000" b="1" spc="-30">
                <a:solidFill>
                  <a:srgbClr val="1A1A1A"/>
                </a:solidFill>
                <a:latin typeface="Apple SD Gothic Neo"/>
              </a:rPr>
              <a:t>을 클릭한다.</a:t>
            </a:r>
          </a:p>
        </p:txBody>
      </p:sp>
      <p:pic>
        <p:nvPicPr>
          <p:cNvPr id="5" name="Picture 4" descr="products-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39" y="2286000"/>
            <a:ext cx="512064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66928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이 클릭 하나가 코드로 어떻게 흘러 화면까지 오는지 따라가 본다.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프론트 — 화면과 hook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①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ProductsView.tsx (화면)  +  useCustomerContracts.ts (hook)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ProductsView.tsx — 화면: hook에서 받아와 버튼에 연결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const { selectProduct } = state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&lt;button onClick={() =&gt; selectProduct(product.id)}&gt;…&lt;/button&gt;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/>
            </a: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useCustomerContracts.ts — hook: 상태 보관 + 호출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async function selectProduct(id)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setSelectedProduct(await contractsApi.getProduct(id))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화면의 버튼이 hook의 selectProduct를 호출한다.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프론트 — API 호출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②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contracts/api.ts · lib/api/httpClient.ts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api.ts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getProduct(id)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return request(`/products/${id}`)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  <a:p>
            <a:pPr algn="l"/>
            <a:endParaRPr sz="1500" b="0">
              <a:solidFill>
                <a:srgbClr val="FFFFFF"/>
              </a:solidFill>
              <a:latin typeface="Menlo"/>
            </a:endParaRP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httpClient.ts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fetch(`${baseUrl}${path}`)  // baseUrl = http://localhost:8080</a:t>
            </a: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→ GET http://localhost:8080/products/2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프론트가 백엔드의 /products/2 로 GET 요청을 보낸다.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백엔드 — 컨트롤러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③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web/controller/ProductController.java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@RestController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class ProductController {</a:t>
            </a:r>
          </a:p>
          <a:p>
            <a:pPr algn="l"/>
            <a:endParaRPr sz="1500" b="0">
              <a:solidFill>
                <a:srgbClr val="CDBFF7"/>
              </a:solidFill>
              <a:latin typeface="Menlo"/>
            </a:endParaRP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@GetMapping("/products/{id}")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ProductDetailResponse detail(@PathVariable Long id)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  return productService.detail(id);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}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컨트롤러가 요청을 받아 서비스로 넘긴다.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백엔드 — 서비스 · 저장소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④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service/ProductService.java · repository/ProductRepository.java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@Transactional(readOnly = true)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ProductDetailResponse detail(Long id)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return productRepository.findById(id)        // DB 조회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  .map(ProductDetailResponse::from)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  .orElseThrow(() -&gt; new IllegalArgumentException("상품을 찾을 수 없습니다."));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  <a:p>
            <a:pPr algn="l"/>
            <a:endParaRPr sz="1500" b="0">
              <a:solidFill>
                <a:srgbClr val="FFFFFF"/>
              </a:solidFill>
              <a:latin typeface="Menlo"/>
            </a:endParaRP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ProductRepository extends JpaRepository&lt;InsuranceProduct, Long&gt;</a:t>
            </a: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findById → SELECT * FROM insurance_product WHERE id =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서비스가 저장소로 DB에서 상품을 꺼낸다.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백엔드 — 엔티티 → 응답 DTO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⑤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web/dto/ProductDetailResponse.java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DB 엔티티를 화면용 데이터로 변환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static ProductDetailResponse from(InsuranceProduct product)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return new ProductDetailResponse(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product.getId(), product.getProductName(),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product.getBasePremium(),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product.getCoverageItems().stream()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    .map(CoverageItemResponse::from).toList());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DB 엔티티를 그대로 노출하지 않고 응답 DTO로 변환한다.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⑥  응답이 화면에 표시된다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77240" y="1737360"/>
            <a:ext cx="5532120" cy="182880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1560" y="1874519"/>
            <a:ext cx="502920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7C83B0"/>
                </a:solidFill>
                <a:latin typeface="Menlo"/>
              </a:rPr>
              <a:t>// 백엔드 응답 (JSON)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{ "productName": "실손기본",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  "monthlyPremium": 12000,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  "coverageItems": [</a:t>
            </a:r>
          </a:p>
          <a:p>
            <a:pPr algn="l"/>
            <a:r>
              <a:rPr sz="1300" b="0">
                <a:solidFill>
                  <a:srgbClr val="CDBFF7"/>
                </a:solidFill>
                <a:latin typeface="Menlo"/>
              </a:rPr>
              <a:t>    {"itemName":"통원치료비" …},</a:t>
            </a:r>
          </a:p>
          <a:p>
            <a:pPr algn="l"/>
            <a:r>
              <a:rPr sz="1300" b="0">
                <a:solidFill>
                  <a:srgbClr val="CDBFF7"/>
                </a:solidFill>
                <a:latin typeface="Menlo"/>
              </a:rPr>
              <a:t>    {"itemName":"입원치료비" …} ]}</a:t>
            </a:r>
          </a:p>
        </p:txBody>
      </p:sp>
      <p:pic>
        <p:nvPicPr>
          <p:cNvPr id="6" name="Picture 5" descr="products-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994535"/>
            <a:ext cx="5029200" cy="3143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4617720"/>
            <a:ext cx="5532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Apple SD Gothic Neo"/>
              </a:rPr>
              <a:t>받은 데이터를 그대로 화면에</a:t>
            </a:r>
          </a:p>
          <a:p>
            <a:pPr algn="l"/>
            <a:r>
              <a:rPr sz="1700" b="1">
                <a:solidFill>
                  <a:srgbClr val="1A1A1A"/>
                </a:solidFill>
                <a:latin typeface="Apple SD Gothic Neo"/>
              </a:rPr>
              <a:t>상세·보장항목으로 렌더한다.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클릭 → 컨트롤러 → 서비스 → DB → DTO → 화면, 한 줄기로 흐른다.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사람과 AI의 분업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800" b="1">
                <a:solidFill>
                  <a:srgbClr val="5B5BD6"/>
                </a:solidFill>
                <a:latin typeface="Apple SD Gothic Neo"/>
              </a:rPr>
              <a:t>사람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설계 · 결정 · 취조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2940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800" b="1">
                <a:solidFill>
                  <a:srgbClr val="B5793A"/>
                </a:solidFill>
                <a:latin typeface="Apple SD Gothic Neo"/>
              </a:rPr>
              <a:t>AI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구현 · 테스트 · 리팩토링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내가 쓴 AI 도구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2103120"/>
            <a:ext cx="10561320" cy="8686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203200" rIns="177800" wrap="none"/>
          <a:lstStyle/>
          <a:p>
            <a:pPr algn="l"/>
            <a:r>
              <a:rPr sz="1900" b="1">
                <a:solidFill>
                  <a:srgbClr val="5B5BD6"/>
                </a:solidFill>
                <a:latin typeface="Menlo"/>
              </a:rPr>
              <a:t>Claude Code     </a:t>
            </a:r>
            <a:r>
              <a:rPr sz="1800" b="0">
                <a:solidFill>
                  <a:srgbClr val="1A1A1A"/>
                </a:solidFill>
                <a:latin typeface="Apple SD Gothic Neo"/>
              </a:rPr>
              <a:t>설계·조율은 Opus, 구현은 Sonnet 서브에이전트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127248"/>
            <a:ext cx="10561320" cy="8686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203200" rIns="177800" wrap="none"/>
          <a:lstStyle/>
          <a:p>
            <a:pPr algn="l"/>
            <a:r>
              <a:rPr sz="1900" b="1">
                <a:solidFill>
                  <a:srgbClr val="5B5BD6"/>
                </a:solidFill>
                <a:latin typeface="Menlo"/>
              </a:rPr>
              <a:t>Superpowers 스킬     </a:t>
            </a:r>
            <a:r>
              <a:rPr sz="1800" b="0">
                <a:solidFill>
                  <a:srgbClr val="1A1A1A"/>
                </a:solidFill>
                <a:latin typeface="Apple SD Gothic Neo"/>
              </a:rPr>
              <a:t>brainstorming · grill-with-docs · writing/executing-plans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151376"/>
            <a:ext cx="10561320" cy="8686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203200" rIns="177800" wrap="none"/>
          <a:lstStyle/>
          <a:p>
            <a:pPr algn="l"/>
            <a:r>
              <a:rPr sz="1900" b="1">
                <a:solidFill>
                  <a:srgbClr val="5B5BD6"/>
                </a:solidFill>
                <a:latin typeface="Menlo"/>
              </a:rPr>
              <a:t>Codex     </a:t>
            </a:r>
            <a:r>
              <a:rPr sz="1800" b="0">
                <a:solidFill>
                  <a:srgbClr val="1A1A1A"/>
                </a:solidFill>
                <a:latin typeface="Apple SD Gothic Neo"/>
              </a:rPr>
              <a:t>다른 모델로 교차 리뷰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175504"/>
            <a:ext cx="10561320" cy="8686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203200" rIns="177800" wrap="none"/>
          <a:lstStyle/>
          <a:p>
            <a:pPr algn="l"/>
            <a:r>
              <a:rPr sz="1900" b="1">
                <a:solidFill>
                  <a:srgbClr val="5B5BD6"/>
                </a:solidFill>
                <a:latin typeface="Menlo"/>
              </a:rPr>
              <a:t>cmux     </a:t>
            </a:r>
            <a:r>
              <a:rPr sz="1800" b="0">
                <a:solidFill>
                  <a:srgbClr val="1A1A1A"/>
                </a:solidFill>
                <a:latin typeface="Apple SD Gothic Neo"/>
              </a:rPr>
              <a:t>프론트·백엔드 Claude를 메시지로 연결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45720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spc="-100">
                <a:solidFill>
                  <a:srgbClr val="1A1A1A"/>
                </a:solidFill>
                <a:latin typeface="Apple SD Gothic Neo"/>
              </a:rPr>
              <a:t>cmux — 두 Claude를 붙이다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1732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5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8994" y="1691640"/>
            <a:ext cx="5483530" cy="3566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486400"/>
            <a:ext cx="106070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 spc="-40">
                <a:solidFill>
                  <a:srgbClr val="1A1A1A"/>
                </a:solidFill>
                <a:latin typeface="Apple SD Gothic Neo"/>
              </a:rPr>
              <a:t>프론트·백엔드 Claude를 한 화면에 띄우고, cmux로 서로</a:t>
            </a:r>
          </a:p>
          <a:p>
            <a:pPr algn="ctr"/>
            <a:r>
              <a:rPr sz="2300" b="1" spc="-40">
                <a:solidFill>
                  <a:srgbClr val="1A1A1A"/>
                </a:solidFill>
                <a:latin typeface="Apple SD Gothic Neo"/>
              </a:rPr>
              <a:t>메시지를 주고받게 했다 — 한쪽이 API를 바꾸면 다른 쪽이 맞췄다.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개발 파이프라인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4331" y="2834640"/>
            <a:ext cx="1874519" cy="15544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27000" rIns="127000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Apple SD Gothic Neo"/>
              </a:rPr>
              <a:t>발산</a:t>
            </a:r>
          </a:p>
          <a:p>
            <a:pPr algn="ctr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Menlo"/>
              </a:rPr>
              <a:t>brainstorming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25115" y="333756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6B7280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91459" y="2834640"/>
            <a:ext cx="1874519" cy="155448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27000" rIns="127000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Apple SD Gothic Neo"/>
              </a:rPr>
              <a:t>취조</a:t>
            </a:r>
          </a:p>
          <a:p>
            <a:pPr algn="ctr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Menlo"/>
              </a:rPr>
              <a:t>grill-with-docs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2243" y="333756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6B7280"/>
                </a:solidFill>
                <a:latin typeface="Apple SD Gothic Neo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58587" y="2834640"/>
            <a:ext cx="1874519" cy="15544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27000" rIns="127000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Apple SD Gothic Neo"/>
              </a:rPr>
              <a:t>계획</a:t>
            </a:r>
          </a:p>
          <a:p>
            <a:pPr algn="ctr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Menlo"/>
              </a:rPr>
              <a:t>writing-plans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9371" y="333756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6B7280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25715" y="2834640"/>
            <a:ext cx="1874519" cy="155448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27000" rIns="127000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Apple SD Gothic Neo"/>
              </a:rPr>
              <a:t>구현</a:t>
            </a:r>
          </a:p>
          <a:p>
            <a:pPr algn="ctr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Menlo"/>
              </a:rPr>
              <a:t>executing-plans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26499" y="333756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6B7280"/>
                </a:solidFill>
                <a:latin typeface="Apple SD Gothic Neo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92843" y="2834640"/>
            <a:ext cx="1874519" cy="15544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27000" rIns="127000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Apple SD Gothic Neo"/>
              </a:rPr>
              <a:t>검증</a:t>
            </a:r>
          </a:p>
          <a:p>
            <a:pPr algn="ctr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Menlo"/>
              </a:rPr>
              <a:t>Codex 리뷰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02920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각 단계가 산출물을 남긴다 — 설계 · 용어 · 계획 · 코드 · 리뷰.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테스트 주도 개발 (TDD)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6070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spc="-60">
                <a:solidFill>
                  <a:srgbClr val="1A1A1A"/>
                </a:solidFill>
                <a:latin typeface="Apple SD Gothic Neo"/>
              </a:rPr>
              <a:t>실패하는 테스트 없이는</a:t>
            </a:r>
          </a:p>
          <a:p>
            <a:pPr algn="ctr"/>
            <a:r>
              <a:rPr sz="3600" b="1" spc="-60">
                <a:solidFill>
                  <a:srgbClr val="5B5BD6"/>
                </a:solidFill>
                <a:latin typeface="Apple SD Gothic Neo"/>
              </a:rPr>
              <a:t>프로덕션 코드를 쓰지 않는다.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spc="-30">
                <a:solidFill>
                  <a:srgbClr val="6B7280"/>
                </a:solidFill>
                <a:latin typeface="Apple SD Gothic Neo"/>
              </a:rPr>
              <a:t>AI가 쏟아내는 코드를 검증 없이 통과시키지 않는 장치.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Red → Green → Refactor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295247" y="2743200"/>
            <a:ext cx="2834640" cy="1737360"/>
          </a:xfrm>
          <a:prstGeom prst="roundRect">
            <a:avLst>
              <a:gd name="adj" fmla="val 12000"/>
            </a:avLst>
          </a:prstGeom>
          <a:solidFill>
            <a:srgbClr val="D8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27000" rIns="127000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Menlo"/>
              </a:rPr>
              <a:t>RED</a:t>
            </a:r>
          </a:p>
          <a:p>
            <a:pPr algn="ctr"/>
            <a:r>
              <a:rPr sz="600" b="0">
                <a:solidFill>
                  <a:srgbClr val="FFFFFF"/>
                </a:solidFill>
                <a:latin typeface="Apple SD Gothic Neo"/>
              </a:rPr>
              <a:t/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실패 테스트를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먼저 작성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84167" y="338328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78527" y="2743200"/>
            <a:ext cx="2834640" cy="1737360"/>
          </a:xfrm>
          <a:prstGeom prst="roundRect">
            <a:avLst>
              <a:gd name="adj" fmla="val 12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27000" rIns="127000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Menlo"/>
              </a:rPr>
              <a:t>GREEN</a:t>
            </a:r>
          </a:p>
          <a:p>
            <a:pPr algn="ctr"/>
            <a:r>
              <a:rPr sz="600" b="0">
                <a:solidFill>
                  <a:srgbClr val="FFFFFF"/>
                </a:solidFill>
                <a:latin typeface="Apple SD Gothic Neo"/>
              </a:rPr>
              <a:t/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통과시킬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최소한만 구현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67447" y="338328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1807" y="2743200"/>
            <a:ext cx="2834640" cy="1737360"/>
          </a:xfrm>
          <a:prstGeom prst="roundRect">
            <a:avLst>
              <a:gd name="adj" fmla="val 12000"/>
            </a:avLst>
          </a:prstGeom>
          <a:solidFill>
            <a:srgbClr val="2F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27000" rIns="127000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Menlo"/>
              </a:rPr>
              <a:t>REFACTOR</a:t>
            </a:r>
          </a:p>
          <a:p>
            <a:pPr algn="ctr"/>
            <a:r>
              <a:rPr sz="600" b="0">
                <a:solidFill>
                  <a:srgbClr val="FFFFFF"/>
                </a:solidFill>
                <a:latin typeface="Apple SD Gothic Neo"/>
              </a:rPr>
              <a:t/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녹색 유지한 채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정리·중복 제거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2920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AI가 짠 코드도 이 사이클을 강제했다.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AI를 어떻게 통제했나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6070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 spc="-60">
                <a:solidFill>
                  <a:srgbClr val="1A1A1A"/>
                </a:solidFill>
                <a:latin typeface="Apple SD Gothic Neo"/>
              </a:rPr>
              <a:t>AI가 짠 설계를 다이어그램·유스케이스에
대고 한 질문씩 캐물었다.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spc="-30">
                <a:solidFill>
                  <a:srgbClr val="6B7280"/>
                </a:solidFill>
                <a:latin typeface="Apple SD Gothic Neo"/>
              </a:rPr>
              <a:t>결정은 전부 사람이 내렸다.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취조 ① — 빠뜨린 걸 잡다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600" b="1">
                <a:solidFill>
                  <a:srgbClr val="6B7280"/>
                </a:solidFill>
                <a:latin typeface="Apple SD Gothic Neo"/>
              </a:rPr>
              <a:t>AI가 한 것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유스케이스 17개에
'회원가입'이 없었다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33288" y="3383280"/>
            <a:ext cx="731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600" b="1">
                <a:solidFill>
                  <a:srgbClr val="5B5BD6"/>
                </a:solidFill>
                <a:latin typeface="Apple SD Gothic Neo"/>
              </a:rPr>
              <a:t>내가 통제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회원가입을 명시적으로
추가하기로 결정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취조 ② — 흔들리는 용어를 잡다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600" b="1">
                <a:solidFill>
                  <a:srgbClr val="6B7280"/>
                </a:solidFill>
                <a:latin typeface="Apple SD Gothic Neo"/>
              </a:rPr>
              <a:t>AI가 한 것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같은 사람을 Policyholder·
account·user로 섞어 부름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33288" y="3383280"/>
            <a:ext cx="731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600" b="1">
                <a:solidFill>
                  <a:srgbClr val="5B5BD6"/>
                </a:solidFill>
                <a:latin typeface="Apple SD Gothic Neo"/>
              </a:rPr>
              <a:t>내가 통제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CONTEXT.md에
표준어 하나로 못박음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취조 ③ — 과한 구현을 막다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600" b="1">
                <a:solidFill>
                  <a:srgbClr val="6B7280"/>
                </a:solidFill>
                <a:latin typeface="Apple SD Gothic Neo"/>
              </a:rPr>
              <a:t>AI가 한 것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보험료를 '맞춤 계산'까지
만들려 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33288" y="3383280"/>
            <a:ext cx="731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600" b="1">
                <a:solidFill>
                  <a:srgbClr val="5B5BD6"/>
                </a:solidFill>
                <a:latin typeface="Apple SD Gothic Neo"/>
              </a:rPr>
              <a:t>내가 통제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유스케이스 범위(예시만)로
되돌림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취조 ④ — 멋대로 늘린 걸 막다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600" b="1">
                <a:solidFill>
                  <a:srgbClr val="6B7280"/>
                </a:solidFill>
                <a:latin typeface="Apple SD Gothic Neo"/>
              </a:rPr>
              <a:t>AI가 한 것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상태값에 CONDITIONAL을
임의로 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33288" y="3383280"/>
            <a:ext cx="731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600" b="1">
                <a:solidFill>
                  <a:srgbClr val="5B5BD6"/>
                </a:solidFill>
                <a:latin typeface="Apple SD Gothic Neo"/>
              </a:rPr>
              <a:t>내가 통제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다이어그램 3값 유지,
조건부는 심사가 책임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45720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spc="-100">
                <a:solidFill>
                  <a:srgbClr val="1A1A1A"/>
                </a:solidFill>
                <a:latin typeface="Apple SD Gothic Neo"/>
              </a:rPr>
              <a:t>AI는 공짜가 아니다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1732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6070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 spc="-60">
                <a:solidFill>
                  <a:srgbClr val="1A1A1A"/>
                </a:solidFill>
                <a:latin typeface="Apple SD Gothic Neo"/>
              </a:rPr>
              <a:t>한 Epic에  $39.63  ·  토큰 5,100만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3931920"/>
            <a:ext cx="3566160" cy="1280160"/>
          </a:xfrm>
          <a:prstGeom prst="roundRect">
            <a:avLst>
              <a:gd name="adj" fmla="val 12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203200" rIns="1778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pple SD Gothic Neo"/>
              </a:rPr>
              <a:t>5시간 한도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Apple SD Gothic Neo"/>
              </a:rPr>
              <a:t>96% 소진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3931920"/>
            <a:ext cx="3566160" cy="128016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203200" rIns="177800" wrap="square"/>
          <a:lstStyle/>
          <a:p>
            <a:pPr algn="ctr"/>
            <a:r>
              <a:rPr sz="1600" b="1">
                <a:solidFill>
                  <a:srgbClr val="5B5BD6"/>
                </a:solidFill>
                <a:latin typeface="Apple SD Gothic Neo"/>
              </a:rPr>
              <a:t>주간 한도</a:t>
            </a:r>
          </a:p>
          <a:p>
            <a:pPr algn="ctr"/>
            <a:r>
              <a:rPr sz="3000" b="1">
                <a:solidFill>
                  <a:srgbClr val="1A1A1A"/>
                </a:solidFill>
                <a:latin typeface="Apple SD Gothic Neo"/>
              </a:rPr>
              <a:t>27% 소진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spc="-30">
                <a:solidFill>
                  <a:srgbClr val="6B7280"/>
                </a:solidFill>
                <a:latin typeface="Apple SD Gothic Neo"/>
              </a:rPr>
              <a:t>Claude Code 한 세션이 5시간 토큰 한도를 거의 다 먹었다.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돈 먹은 범인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6070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spc="-60">
                <a:solidFill>
                  <a:srgbClr val="1A1A1A"/>
                </a:solidFill>
                <a:latin typeface="Apple SD Gothic Neo"/>
              </a:rPr>
              <a:t>코드 생성이 아니라
'긴 컨텍스트 재읽기'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spc="-30">
                <a:solidFill>
                  <a:srgbClr val="6B7280"/>
                </a:solidFill>
                <a:latin typeface="Apple SD Gothic Neo"/>
              </a:rPr>
              <a:t>캐시 읽기만 4,580만 토큰 — 전체 비용의 90%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그래서 바꾼 것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spc="-40">
                <a:solidFill>
                  <a:srgbClr val="1A1A1A"/>
                </a:solidFill>
                <a:latin typeface="Apple SD Gothic Neo"/>
              </a:rPr>
              <a:t>비용을 줄이려고 습관을 바꿨다.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6647" y="3566160"/>
            <a:ext cx="3108960" cy="137160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Epic 끝나면
/clear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41367" y="3566160"/>
            <a:ext cx="3108960" cy="137160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단순 작업은
Sonnet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087" y="3566160"/>
            <a:ext cx="3108960" cy="137160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리뷰 횟수
최소화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다중 리뷰의 두 얼굴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800" b="1">
                <a:solidFill>
                  <a:srgbClr val="5B5BD6"/>
                </a:solidFill>
                <a:latin typeface="Apple SD Gothic Neo"/>
              </a:rPr>
              <a:t>좋은 점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버그 6개를 미리 발견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2940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800" b="1">
                <a:solidFill>
                  <a:srgbClr val="6B7280"/>
                </a:solidFill>
                <a:latin typeface="Apple SD Gothic Neo"/>
              </a:rPr>
              <a:t>아쉬운 점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단순 작업까지 3중 리뷰
→ 비용 과다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왜 Codex로 교차 리뷰했나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203200" rIns="177800" wrap="square"/>
          <a:lstStyle/>
          <a:p>
            <a:pPr algn="l"/>
            <a:r>
              <a:rPr sz="1800" b="1">
                <a:solidFill>
                  <a:srgbClr val="6B7280"/>
                </a:solidFill>
                <a:latin typeface="Apple SD Gothic Neo"/>
              </a:rPr>
              <a:t>같은 모델끼리 리뷰하면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같은 맹점을 똑같이 놓친다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33288" y="3383280"/>
            <a:ext cx="731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203200" rIns="177800" wrap="square"/>
          <a:lstStyle/>
          <a:p>
            <a:pPr algn="l"/>
            <a:r>
              <a:rPr sz="1800" b="1">
                <a:solidFill>
                  <a:srgbClr val="5B5BD6"/>
                </a:solidFill>
                <a:latin typeface="Apple SD Gothic Neo"/>
              </a:rPr>
              <a:t>그래서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다른 모델(Codex)로 교차 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12064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spc="-30">
                <a:solidFill>
                  <a:srgbClr val="6B7280"/>
                </a:solidFill>
                <a:latin typeface="Apple SD Gothic Neo"/>
              </a:rPr>
              <a:t>마지막에 Codex로 한 번 더 봐서 Claude가 놓친 것을 잡았다.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가장 큰 실수 — 발견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6070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300" b="1" spc="-60">
                <a:solidFill>
                  <a:srgbClr val="1A1A1A"/>
                </a:solidFill>
                <a:latin typeface="Apple SD Gothic Neo"/>
              </a:rPr>
              <a:t>자동차 사고가 직원 '심사 목록'에
끝까지 안 떴다.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왜? — 설계대로였다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6070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spc="-60">
                <a:solidFill>
                  <a:srgbClr val="1A1A1A"/>
                </a:solidFill>
                <a:latin typeface="Apple SD Gothic Neo"/>
              </a:rPr>
              <a:t>유스케이스(UC09): 자동차 사고는
'접수만', 심사 큐엔 안 들어감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spc="-30">
                <a:solidFill>
                  <a:srgbClr val="6B7280"/>
                </a:solidFill>
                <a:latin typeface="Apple SD Gothic Neo"/>
              </a:rPr>
              <a:t>버그가 아니라, 내가 그렇게 설계한 것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어떻게 데모를 살렸나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6070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spc="-60">
                <a:solidFill>
                  <a:srgbClr val="1A1A1A"/>
                </a:solidFill>
                <a:latin typeface="Apple SD Gothic Neo"/>
              </a:rPr>
              <a:t>동작하는 병원비 청구로 시연하고,
자동차의 한계는 정직하게 설명했다.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68680" y="251460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 spc="-100">
                <a:solidFill>
                  <a:srgbClr val="FFFFFF"/>
                </a:solidFill>
                <a:latin typeface="Apple SD Gothic Neo"/>
              </a:rPr>
              <a:t>설계한 그대로 구현했고,</a:t>
            </a:r>
          </a:p>
          <a:p>
            <a:pPr algn="l"/>
            <a:r>
              <a:rPr sz="4800" b="1" spc="-100">
                <a:solidFill>
                  <a:srgbClr val="FFFFFF"/>
                </a:solidFill>
                <a:latin typeface="Apple SD Gothic Neo"/>
              </a:rPr>
              <a:t>그 과정에서 AI를 통제했다.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45720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spc="-100">
                <a:solidFill>
                  <a:srgbClr val="1A1A1A"/>
                </a:solidFill>
                <a:latin typeface="Apple SD Gothic Neo"/>
              </a:rPr>
              <a:t>AI가 선을 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1732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651760"/>
            <a:ext cx="4800600" cy="20116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203200" rIns="177800" wrap="square"/>
          <a:lstStyle/>
          <a:p>
            <a:pPr algn="l"/>
            <a:r>
              <a:rPr sz="1600" b="1">
                <a:solidFill>
                  <a:srgbClr val="6B7280"/>
                </a:solidFill>
                <a:latin typeface="Apple SD Gothic Neo"/>
              </a:rPr>
              <a:t>AI가 한 것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1900" b="1">
                <a:solidFill>
                  <a:srgbClr val="1A1A1A"/>
                </a:solidFill>
                <a:latin typeface="Apple SD Gothic Neo"/>
              </a:rPr>
              <a:t>git add를 넓게 잡아 frontend 전체를</a:t>
            </a:r>
          </a:p>
          <a:p>
            <a:pPr algn="l"/>
            <a:r>
              <a:rPr sz="1900" b="1">
                <a:solidFill>
                  <a:srgbClr val="1A1A1A"/>
                </a:solidFill>
                <a:latin typeface="Apple SD Gothic Neo"/>
              </a:rPr>
              <a:t>엉뚱한 PR에 섞어 커밋했다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33288" y="3383280"/>
            <a:ext cx="731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2651760"/>
            <a:ext cx="4800600" cy="201168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203200" rIns="177800" wrap="square"/>
          <a:lstStyle/>
          <a:p>
            <a:pPr algn="l"/>
            <a:r>
              <a:rPr sz="1600" b="1">
                <a:solidFill>
                  <a:srgbClr val="5B5BD6"/>
                </a:solidFill>
                <a:latin typeface="Apple SD Gothic Neo"/>
              </a:rPr>
              <a:t>내가 통제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1900" b="1">
                <a:solidFill>
                  <a:srgbClr val="1A1A1A"/>
                </a:solidFill>
                <a:latin typeface="Apple SD Gothic Neo"/>
              </a:rPr>
              <a:t>점검으로 발견 + '커밋은 사용자',</a:t>
            </a:r>
          </a:p>
          <a:p>
            <a:pPr algn="l"/>
            <a:r>
              <a:rPr sz="1900" b="1">
                <a:solidFill>
                  <a:srgbClr val="1A1A1A"/>
                </a:solidFill>
                <a:latin typeface="Apple SD Gothic Neo"/>
              </a:rPr>
              <a:t>요청 시에만' 규칙으로 경계 관리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spc="-30">
                <a:solidFill>
                  <a:srgbClr val="6B7280"/>
                </a:solidFill>
                <a:latin typeface="Apple SD Gothic Neo"/>
              </a:rPr>
              <a:t>AI는 시키지 않은 범위까지 건드린다 — 권한 경계를 사람이 정해야 한다.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986</Words>
  <Application>Microsoft Macintosh PowerPoint</Application>
  <PresentationFormat>와이드스크린</PresentationFormat>
  <Paragraphs>225</Paragraphs>
  <Slides>28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3" baseType="lpstr">
      <vt:lpstr>Apple SD Gothic Neo</vt:lpstr>
      <vt:lpstr>Arial</vt:lpstr>
      <vt:lpstr>Calibri</vt:lpstr>
      <vt:lpstr>Menlo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김희윤</cp:lastModifiedBy>
  <cp:revision>5</cp:revision>
  <dcterms:created xsi:type="dcterms:W3CDTF">2013-01-27T09:14:16Z</dcterms:created>
  <dcterms:modified xsi:type="dcterms:W3CDTF">2026-06-08T15:15:41Z</dcterms:modified>
  <cp:category/>
</cp:coreProperties>
</file>
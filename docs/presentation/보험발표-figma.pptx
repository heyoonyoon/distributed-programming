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1488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설계대로 구현하고,</a:t>
            </a:r>
          </a:p>
          <a:p>
            <a:pPr algn="l"/>
            <a:r>
              <a:rPr sz="5600" b="1" spc="-120">
                <a:solidFill>
                  <a:srgbClr val="FFFFFF"/>
                </a:solidFill>
                <a:latin typeface="Apple SD Gothic Neo"/>
              </a:rPr>
              <a:t>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43484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0" spc="-30">
                <a:solidFill>
                  <a:srgbClr val="CDBFF7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누가 사용하나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417320" y="2331720"/>
            <a:ext cx="2286000" cy="228600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가입·청구·납부</a:t>
            </a:r>
          </a:p>
        </p:txBody>
      </p:sp>
      <p:sp>
        <p:nvSpPr>
          <p:cNvPr id="6" name="Oval 5"/>
          <p:cNvSpPr/>
          <p:nvPr/>
        </p:nvSpPr>
        <p:spPr>
          <a:xfrm>
            <a:off x="4956048" y="2331720"/>
            <a:ext cx="2286000" cy="228600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1648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가입·지급 심사</a:t>
            </a:r>
          </a:p>
        </p:txBody>
      </p:sp>
      <p:sp>
        <p:nvSpPr>
          <p:cNvPr id="8" name="Oval 7"/>
          <p:cNvSpPr/>
          <p:nvPr/>
        </p:nvSpPr>
        <p:spPr>
          <a:xfrm>
            <a:off x="8494776" y="2331720"/>
            <a:ext cx="2286000" cy="228600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3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0375" y="4846320"/>
            <a:ext cx="4114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30">
                <a:solidFill>
                  <a:srgbClr val="1A1A1A"/>
                </a:solidFill>
                <a:latin typeface="Apple SD Gothic Neo"/>
              </a:rPr>
              <a:t>계약·고지서·지급 자동화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2588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의료보험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4251960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spc="-30">
                <a:solidFill>
                  <a:srgbClr val="6B7280"/>
                </a:solidFill>
                <a:latin typeface="Apple SD Gothic Neo"/>
              </a:rPr>
              <a:t>아플 때 — 병원비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377440"/>
            <a:ext cx="4480560" cy="283464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3108960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1" spc="-60">
                <a:solidFill>
                  <a:srgbClr val="1A1A1A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251960"/>
            <a:ext cx="4480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spc="-30">
                <a:solidFill>
                  <a:srgbClr val="6B7280"/>
                </a:solidFill>
                <a:latin typeface="Apple SD Gothic Neo"/>
              </a:rPr>
              <a:t>사고 났을 때 — 수리·치료비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병원비를 보험금으로 돌려준다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3611880"/>
            <a:ext cx="2834640" cy="128016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8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28803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86200" y="4709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2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51460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미만 → 바로 입금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4297680"/>
            <a:ext cx="6766560" cy="1371600"/>
          </a:xfrm>
          <a:prstGeom prst="roundRect">
            <a:avLst>
              <a:gd name="adj" fmla="val 16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100만 원 이상 →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 피해를 보상한다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8658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6402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694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438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730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보상액 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24747" y="361188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27667" y="3383280"/>
            <a:ext cx="2377440" cy="13716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806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116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387842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152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75878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188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63914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계약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고지서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납부가 밀리면 미납으로 잡히고, 매일 아침 고지서가 나갑니다 (30일 초과 시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8247" y="2286000"/>
            <a:ext cx="1554480" cy="1554480"/>
          </a:xfrm>
          <a:prstGeom prst="ellipse">
            <a:avLst/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1A1A1A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1A1A1A"/>
                </a:solidFill>
                <a:latin typeface="Apple SD Gothic Neo"/>
              </a:rPr>
              <a:t>청구·접수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134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318607" y="2286000"/>
            <a:ext cx="1554480" cy="1554480"/>
          </a:xfrm>
          <a:prstGeom prst="ellipse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1707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198967" y="2286000"/>
            <a:ext cx="1554480" cy="1554480"/>
          </a:xfrm>
          <a:prstGeom prst="ellipse">
            <a:avLst/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4114800"/>
            <a:ext cx="2240280" cy="1188720"/>
          </a:xfrm>
          <a:prstGeom prst="roundRect">
            <a:avLst>
              <a:gd name="adj" fmla="val 16000"/>
            </a:avLst>
          </a:prstGeom>
          <a:solidFill>
            <a:srgbClr val="1F1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6235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700" b="1" spc="-40">
                <a:solidFill>
                  <a:srgbClr val="1A1A1A"/>
                </a:solidFill>
                <a:latin typeface="Apple SD Gothic Neo"/>
              </a:rPr>
              <a:t>병원비는 100만 원 미만이면 즉시, 이상이거나 자동차 사고는 직원 심사 후 지급.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224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73071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3895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4719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6367" y="2971800"/>
            <a:ext cx="1783080" cy="13258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none"/>
          <a:lstStyle/>
          <a:p>
            <a:pPr algn="ctr"/>
            <a:r>
              <a:rPr sz="2700" b="1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099" y="2286000"/>
            <a:ext cx="2862041" cy="306324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2554" y="2286000"/>
            <a:ext cx="2877131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글자로 된 번호를 숫자로 바꾸고, 날짜 표기만 손봤다.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79" y="2286000"/>
            <a:ext cx="3943481" cy="306324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9379" y="2286000"/>
            <a:ext cx="3943481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연결 구조(계약·보장 항목·하위 상품)는 그대로 4개. 번호를 숫자로 바꾸고, 보험료 계산은 아직 뼈대만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16" y="2286000"/>
            <a:ext cx="4911206" cy="306324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52014"/>
            <a:ext cx="5577840" cy="293121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자동이체 정보를 더했다.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049" y="2286000"/>
            <a:ext cx="3770141" cy="306324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7757" y="2286000"/>
            <a:ext cx="2946724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첨부파일을 더하고, 상태를 4개 → 6개로 늘려 송금 결과까지 추적한다.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청구 상태값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2377440"/>
            <a:ext cx="10424160" cy="192024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560320"/>
            <a:ext cx="987552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public enum ClaimStatus {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PENDING, IN_REVIEW, APPROVED, REJECTED,   // 설계 4개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    COMPLETED, FAILED                         // 구현에서 추가: 송금 성공·실패</a:t>
            </a:r>
          </a:p>
          <a:p>
            <a:pPr algn="l"/>
            <a:r>
              <a:rPr sz="1900" b="0">
                <a:solidFill>
                  <a:srgbClr val="1A1A1A"/>
                </a:solidFill>
                <a:latin typeface="Menlo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61772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돈을 실제로 보냈는지까지 따라가려고 상태 두 개를 더했다.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40946"/>
            <a:ext cx="5577840" cy="2753347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90352"/>
            <a:ext cx="5577840" cy="245453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지급 심사가 의료뿐 아니라 자동차 사고까지 맡도록 넓혔다.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5B5BD6"/>
                </a:solidFill>
                <a:latin typeface="Apple SD Gothic Neo"/>
              </a:rPr>
              <a:t>내가 그린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783080"/>
            <a:ext cx="5577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spc="-30">
                <a:solidFill>
                  <a:srgbClr val="B5793A"/>
                </a:solidFill>
                <a:latin typeface="Apple SD Gothic Neo"/>
              </a:rPr>
              <a:t>실제 코드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338" y="2286000"/>
            <a:ext cx="1623562" cy="306324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9751" y="2286000"/>
            <a:ext cx="2442737" cy="30632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57200" y="5532120"/>
            <a:ext cx="11292840" cy="1051560"/>
          </a:xfrm>
          <a:prstGeom prst="roundRect">
            <a:avLst>
              <a:gd name="adj" fmla="val 12000"/>
            </a:avLst>
          </a:prstGeom>
          <a:solidFill>
            <a:srgbClr val="F7E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l"/>
            <a:r>
              <a:rPr sz="1900" b="1">
                <a:solidFill>
                  <a:srgbClr val="B5793A"/>
                </a:solidFill>
                <a:latin typeface="Apple SD Gothic Neo"/>
              </a:rPr>
              <a:t>다른 점   </a:t>
            </a:r>
            <a:r>
              <a:rPr sz="1900" b="1">
                <a:solidFill>
                  <a:srgbClr val="1A1A1A"/>
                </a:solidFill>
                <a:latin typeface="Apple SD Gothic Neo"/>
              </a:rPr>
              <a:t>외부 연동이 아직 가짜라, 사고 한 건 클래스는 빼고 단순화했다.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실제 동작하는 경로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4149" y="1874519"/>
            <a:ext cx="3693220" cy="3566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5778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노란 경로가 데모에서 실제로 동작한다.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AI를 어떻게 썼나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5B5BD6"/>
                </a:solidFill>
                <a:latin typeface="Apple SD Gothic Neo"/>
              </a:rPr>
              <a:t>사람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설계 · 결정 · 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011680"/>
            <a:ext cx="5212080" cy="1554480"/>
          </a:xfrm>
          <a:prstGeom prst="roundRect">
            <a:avLst>
              <a:gd name="adj" fmla="val 12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194560"/>
            <a:ext cx="466344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Apple SD Gothic Neo"/>
              </a:rPr>
              <a:t>AI</a:t>
            </a:r>
          </a:p>
          <a:p>
            <a:pPr algn="l"/>
            <a:r>
              <a:rPr sz="2200" b="1">
                <a:solidFill>
                  <a:srgbClr val="1A1A1A"/>
                </a:solidFill>
                <a:latin typeface="Apple SD Gothic Neo"/>
              </a:rPr>
              <a:t>구현 · 테스트 · 정리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2851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설계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8811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2859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따져묻기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8819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12867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계획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78827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62875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테스트 먼저 구현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8835" y="42062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5B5BD6"/>
                </a:solidFill>
                <a:latin typeface="Apple SD Gothic Neo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2883" y="3977639"/>
            <a:ext cx="1965960" cy="1097280"/>
          </a:xfrm>
          <a:prstGeom prst="roundRect">
            <a:avLst>
              <a:gd name="adj" fmla="val 16000"/>
            </a:avLst>
          </a:prstGeom>
          <a:solidFill>
            <a:srgbClr val="F4F4F6"/>
          </a:solidFill>
          <a:ln w="1524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76200" bIns="76200" lIns="177800" rIns="177800" wrap="square"/>
          <a:lstStyle/>
          <a:p>
            <a:pPr algn="ctr"/>
            <a:r>
              <a:rPr sz="2100" b="1">
                <a:solidFill>
                  <a:srgbClr val="1A1A1A"/>
                </a:solidFill>
                <a:latin typeface="Apple SD Gothic Neo"/>
              </a:rPr>
              <a:t>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440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설계와 결정은 사람이, 구현은 AI가 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56692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200" b="1" spc="-100">
                <a:solidFill>
                  <a:srgbClr val="1A1A1A"/>
                </a:solidFill>
                <a:latin typeface="Apple SD Gothic Neo"/>
              </a:rPr>
              <a:t>AI가 삑사리 난 곳, 어떻게 잡았나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27632"/>
            <a:ext cx="868680" cy="82296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성급하게 쪼갬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쓸모없는 계층 분리 → 되돌림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05740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72200" y="228600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5856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시킨 것과 다름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자동 배정 → 수동 배정으로 정정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정해둔 틀에서 이탈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점검으로 찾아내 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212080" cy="1554480"/>
          </a:xfrm>
          <a:prstGeom prst="roundRect">
            <a:avLst>
              <a:gd name="adj" fmla="val 10000"/>
            </a:avLst>
          </a:prstGeom>
          <a:solidFill>
            <a:srgbClr val="F4F4F6"/>
          </a:solidFill>
          <a:ln w="12700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4023360"/>
            <a:ext cx="109728" cy="109728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995928"/>
            <a:ext cx="45720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spc="-30">
                <a:solidFill>
                  <a:srgbClr val="1A1A1A"/>
                </a:solidFill>
                <a:latin typeface="Apple SD Gothic Neo"/>
              </a:rPr>
              <a:t>용어를 섞어 씀</a:t>
            </a:r>
          </a:p>
          <a:p>
            <a:pPr algn="l"/>
            <a:r>
              <a:rPr sz="1900" b="1" spc="-30">
                <a:solidFill>
                  <a:srgbClr val="6B7280"/>
                </a:solidFill>
                <a:latin typeface="Apple SD Gothic Neo"/>
              </a:rPr>
              <a:t>용어집으로 미리 차단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spc="-40">
                <a:solidFill>
                  <a:srgbClr val="1A1A1A"/>
                </a:solidFill>
                <a:latin typeface="Apple SD Gothic Neo"/>
              </a:rPr>
              <a:t>AI는 빠르지만, 방향은 사람이 잡았다.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1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251460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설계한 그대로 구현했고,</a:t>
            </a:r>
          </a:p>
          <a:p>
            <a:pPr algn="l"/>
            <a:r>
              <a:rPr sz="4800" b="1" spc="-100">
                <a:solidFill>
                  <a:srgbClr val="FFFFFF"/>
                </a:solidFill>
                <a:latin typeface="Apple SD Gothic Neo"/>
              </a:rPr>
              <a:t>그 과정에서 AI를 통제했다.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
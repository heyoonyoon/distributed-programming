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>
        <p:scale>
          <a:sx n="101" d="100"/>
          <a:sy n="101" d="100"/>
        </p:scale>
        <p:origin x="1024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14884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 spc="-120">
                <a:solidFill>
                  <a:srgbClr val="FFFFFF"/>
                </a:solidFill>
                <a:latin typeface="Apple SD Gothic Neo"/>
              </a:rPr>
              <a:t>설계대로 구현하고,</a:t>
            </a:r>
          </a:p>
          <a:p>
            <a:pPr algn="l"/>
            <a:r>
              <a:rPr sz="5600" b="1" spc="-120">
                <a:solidFill>
                  <a:srgbClr val="FFFFFF"/>
                </a:solidFill>
                <a:latin typeface="Apple SD Gothic Neo"/>
              </a:rPr>
              <a:t>AI를 통제하다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4348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 spc="-30">
                <a:solidFill>
                  <a:srgbClr val="CDBFF7"/>
                </a:solidFill>
                <a:latin typeface="Apple SD Gothic Neo"/>
              </a:rPr>
              <a:t>의료·자동차 보험 시스템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누가 사용하나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417320" y="2331720"/>
            <a:ext cx="2286000" cy="228600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3400" b="1">
                <a:solidFill>
                  <a:srgbClr val="1A1A1A"/>
                </a:solidFill>
                <a:latin typeface="Apple SD Gothic Neo"/>
              </a:rPr>
              <a:t>고객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4632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spc="-30">
                <a:solidFill>
                  <a:srgbClr val="1A1A1A"/>
                </a:solidFill>
                <a:latin typeface="Apple SD Gothic Neo"/>
              </a:rPr>
              <a:t>가입·청구·납부</a:t>
            </a:r>
          </a:p>
        </p:txBody>
      </p:sp>
      <p:sp>
        <p:nvSpPr>
          <p:cNvPr id="6" name="Oval 5"/>
          <p:cNvSpPr/>
          <p:nvPr/>
        </p:nvSpPr>
        <p:spPr>
          <a:xfrm>
            <a:off x="4956048" y="2331720"/>
            <a:ext cx="2286000" cy="2286000"/>
          </a:xfrm>
          <a:prstGeom prst="ellipse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Apple SD Gothic Neo"/>
              </a:rPr>
              <a:t>직원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484632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spc="-30">
                <a:solidFill>
                  <a:srgbClr val="1A1A1A"/>
                </a:solidFill>
                <a:latin typeface="Apple SD Gothic Neo"/>
              </a:rPr>
              <a:t>가입·지급 심사</a:t>
            </a:r>
          </a:p>
        </p:txBody>
      </p:sp>
      <p:sp>
        <p:nvSpPr>
          <p:cNvPr id="8" name="Oval 7"/>
          <p:cNvSpPr/>
          <p:nvPr/>
        </p:nvSpPr>
        <p:spPr>
          <a:xfrm>
            <a:off x="8494776" y="2331720"/>
            <a:ext cx="2286000" cy="2286000"/>
          </a:xfrm>
          <a:prstGeom prst="ellipse">
            <a:avLst/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Apple SD Gothic Neo"/>
              </a:rPr>
              <a:t>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0375" y="484632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spc="-30">
                <a:solidFill>
                  <a:srgbClr val="1A1A1A"/>
                </a:solidFill>
                <a:latin typeface="Apple SD Gothic Neo"/>
              </a:rPr>
              <a:t>계약·고지서·지급 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두 가지 보험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25880" y="2377440"/>
            <a:ext cx="4480560" cy="2834640"/>
          </a:xfrm>
          <a:prstGeom prst="roundRect">
            <a:avLst>
              <a:gd name="adj" fmla="val 12000"/>
            </a:avLst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310896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 spc="-60">
                <a:solidFill>
                  <a:srgbClr val="1A1A1A"/>
                </a:solidFill>
                <a:latin typeface="Apple SD Gothic Neo"/>
              </a:rPr>
              <a:t>의료보험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4480560" cy="2834640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310896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 spc="-60">
                <a:solidFill>
                  <a:srgbClr val="1A1A1A"/>
                </a:solidFill>
                <a:latin typeface="Apple SD Gothic Neo"/>
              </a:rPr>
              <a:t>자동차보험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병원비를 보험금으로 돌려준다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3611880"/>
            <a:ext cx="2834640" cy="128016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pple SD Gothic Neo"/>
              </a:rPr>
              <a:t>병원비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2880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47091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514600"/>
            <a:ext cx="6766560" cy="137160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700" b="1">
                <a:solidFill>
                  <a:srgbClr val="1A1A1A"/>
                </a:solidFill>
                <a:latin typeface="Apple SD Gothic Neo"/>
              </a:rPr>
              <a:t>100만 원 미만 → 바로 입금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297680"/>
            <a:ext cx="6766560" cy="1371600"/>
          </a:xfrm>
          <a:prstGeom prst="roundRect">
            <a:avLst>
              <a:gd name="adj" fmla="val 16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700" b="1">
                <a:solidFill>
                  <a:srgbClr val="1A1A1A"/>
                </a:solidFill>
                <a:latin typeface="Apple SD Gothic Neo"/>
              </a:rPr>
              <a:t>100만 원 이상 → 직원 확인 후 입금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사고 피해를 보상한다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6587" y="3383280"/>
            <a:ext cx="2377440" cy="137160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1A1A1A"/>
                </a:solidFill>
                <a:latin typeface="Apple SD Gothic Neo"/>
              </a:rPr>
              <a:t>사고 접수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4027" y="3611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6947" y="3383280"/>
            <a:ext cx="2377440" cy="137160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1A1A1A"/>
                </a:solidFill>
                <a:latin typeface="Apple SD Gothic Neo"/>
              </a:rPr>
              <a:t>직원이 맡음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4387" y="3611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7307" y="3383280"/>
            <a:ext cx="2377440" cy="137160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1A1A1A"/>
                </a:solidFill>
                <a:latin typeface="Apple SD Gothic Neo"/>
              </a:rPr>
              <a:t>보상액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4747" y="3611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27667" y="3383280"/>
            <a:ext cx="2377440" cy="137160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1A1A1A"/>
                </a:solidFill>
                <a:latin typeface="Apple SD Gothic Neo"/>
              </a:rPr>
              <a:t>계좌 입금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가입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8067" y="2286000"/>
            <a:ext cx="1554480" cy="155448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1A1A1A"/>
                </a:solidFill>
                <a:latin typeface="Apple SD Gothic Neo"/>
              </a:rPr>
              <a:t>고객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1A1A1A"/>
                </a:solidFill>
                <a:latin typeface="Apple SD Gothic Neo"/>
              </a:rPr>
              <a:t>상품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1167" y="4343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3878427" y="2286000"/>
            <a:ext cx="1554480" cy="155448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1A1A1A"/>
                </a:solidFill>
                <a:latin typeface="Apple SD Gothic Neo"/>
              </a:rPr>
              <a:t>고객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552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1A1A1A"/>
                </a:solidFill>
                <a:latin typeface="Apple SD Gothic Neo"/>
              </a:rPr>
              <a:t>가입 신청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527" y="4343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6758787" y="2286000"/>
            <a:ext cx="1554480" cy="1554480"/>
          </a:xfrm>
          <a:prstGeom prst="ellipse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직원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588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</a:rPr>
              <a:t>가입 심사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1887" y="4343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9639147" y="2286000"/>
            <a:ext cx="1554480" cy="1554480"/>
          </a:xfrm>
          <a:prstGeom prst="ellipse">
            <a:avLst/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시스템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624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</a:rPr>
              <a:t>계약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spc="-40">
                <a:solidFill>
                  <a:srgbClr val="1A1A1A"/>
                </a:solidFill>
                <a:latin typeface="Apple SD Gothic Neo"/>
              </a:rPr>
              <a:t>승인되면 계약이 바로 생깁니다.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납부와 미납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438247" y="2286000"/>
            <a:ext cx="1554480" cy="155448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1A1A1A"/>
                </a:solidFill>
                <a:latin typeface="Apple SD Gothic Neo"/>
              </a:rPr>
              <a:t>고객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534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1A1A1A"/>
                </a:solidFill>
                <a:latin typeface="Apple SD Gothic Neo"/>
              </a:rPr>
              <a:t>보험료 납부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347" y="4343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5318607" y="2286000"/>
            <a:ext cx="1554480" cy="1554480"/>
          </a:xfrm>
          <a:prstGeom prst="ellipse">
            <a:avLst/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570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</a:rPr>
              <a:t>미납 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1707" y="4343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8198967" y="2286000"/>
            <a:ext cx="1554480" cy="1554480"/>
          </a:xfrm>
          <a:prstGeom prst="ellipse">
            <a:avLst/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5606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</a:rPr>
              <a:t>고지서 발송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spc="-40">
                <a:solidFill>
                  <a:srgbClr val="1A1A1A"/>
                </a:solidFill>
                <a:latin typeface="Apple SD Gothic Neo"/>
              </a:rPr>
              <a:t>납부가 밀리면 미납으로 잡히고, 매일 아침 고지서가 나갑니다 (30일 초과 시 해지 예고).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보상과 지급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438247" y="2286000"/>
            <a:ext cx="1554480" cy="1554480"/>
          </a:xfrm>
          <a:prstGeom prst="ellipse">
            <a:avLst/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1A1A1A"/>
                </a:solidFill>
                <a:latin typeface="Apple SD Gothic Neo"/>
              </a:rPr>
              <a:t>고객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9534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1A1A1A"/>
                </a:solidFill>
                <a:latin typeface="Apple SD Gothic Neo"/>
              </a:rPr>
              <a:t>청구·접수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347" y="4343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5318607" y="2286000"/>
            <a:ext cx="1554480" cy="1554480"/>
          </a:xfrm>
          <a:prstGeom prst="ellipse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직원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7570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</a:rPr>
              <a:t>보상 심사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1707" y="43434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8198967" y="2286000"/>
            <a:ext cx="1554480" cy="1554480"/>
          </a:xfrm>
          <a:prstGeom prst="ellipse">
            <a:avLst/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ple SD Gothic Neo"/>
              </a:rPr>
              <a:t>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56067" y="4114800"/>
            <a:ext cx="2240280" cy="1188720"/>
          </a:xfrm>
          <a:prstGeom prst="roundRect">
            <a:avLst>
              <a:gd name="adj" fmla="val 16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</a:rPr>
              <a:t>보험금 지급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spc="-40">
                <a:solidFill>
                  <a:srgbClr val="1A1A1A"/>
                </a:solidFill>
                <a:latin typeface="Apple SD Gothic Neo"/>
              </a:rPr>
              <a:t>병원비는 100만 원 미만이면 즉시, 이상이거나 자동차 사고는 직원 심사 후 지급.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도메인 여섯 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52247" y="2971800"/>
            <a:ext cx="1783080" cy="13258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700" b="1">
                <a:solidFill>
                  <a:srgbClr val="1A1A1A"/>
                </a:solidFill>
                <a:latin typeface="Apple SD Gothic Neo"/>
              </a:rPr>
              <a:t>사용자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3071" y="2971800"/>
            <a:ext cx="1783080" cy="13258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700" b="1">
                <a:solidFill>
                  <a:srgbClr val="1A1A1A"/>
                </a:solidFill>
                <a:latin typeface="Apple SD Gothic Neo"/>
              </a:rPr>
              <a:t>상품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3895" y="2971800"/>
            <a:ext cx="1783080" cy="13258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700" b="1">
                <a:solidFill>
                  <a:srgbClr val="1A1A1A"/>
                </a:solidFill>
                <a:latin typeface="Apple SD Gothic Neo"/>
              </a:rPr>
              <a:t>계약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4719" y="2971800"/>
            <a:ext cx="1783080" cy="13258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700" b="1">
                <a:solidFill>
                  <a:srgbClr val="1A1A1A"/>
                </a:solidFill>
                <a:latin typeface="Apple SD Gothic Neo"/>
              </a:rPr>
              <a:t>청구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5543" y="2971800"/>
            <a:ext cx="1783080" cy="13258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700" b="1">
                <a:solidFill>
                  <a:srgbClr val="1A1A1A"/>
                </a:solidFill>
                <a:latin typeface="Apple SD Gothic Neo"/>
              </a:rPr>
              <a:t>심사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56367" y="2971800"/>
            <a:ext cx="1783080" cy="13258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2700" b="1">
                <a:solidFill>
                  <a:srgbClr val="1A1A1A"/>
                </a:solidFill>
                <a:latin typeface="Apple SD Gothic Neo"/>
              </a:rPr>
              <a:t>사고이력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사용자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5B5BD6"/>
                </a:solidFill>
                <a:latin typeface="Apple SD Gothic Neo"/>
              </a:rPr>
              <a:t>내가 그린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B5793A"/>
                </a:solidFill>
                <a:latin typeface="Apple SD Gothic Neo"/>
              </a:rPr>
              <a:t>실제 코드</a:t>
            </a:r>
          </a:p>
        </p:txBody>
      </p:sp>
      <p:pic>
        <p:nvPicPr>
          <p:cNvPr id="6" name="Picture 5" descr="user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99" y="2286000"/>
            <a:ext cx="2862041" cy="3063240"/>
          </a:xfrm>
          <a:prstGeom prst="rect">
            <a:avLst/>
          </a:prstGeom>
        </p:spPr>
      </p:pic>
      <p:pic>
        <p:nvPicPr>
          <p:cNvPr id="7" name="Picture 6" descr="user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436" y="2286000"/>
            <a:ext cx="3385366" cy="3063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32120"/>
            <a:ext cx="11292840" cy="1051560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/>
            <a:r>
              <a:rPr sz="1900" b="1">
                <a:solidFill>
                  <a:srgbClr val="B5793A"/>
                </a:solidFill>
                <a:latin typeface="Apple SD Gothic Neo"/>
              </a:rPr>
              <a:t>다른 점   </a:t>
            </a:r>
            <a:r>
              <a:rPr sz="1900" b="1">
                <a:solidFill>
                  <a:srgbClr val="1A1A1A"/>
                </a:solidFill>
                <a:latin typeface="Apple SD Gothic Neo"/>
              </a:rPr>
              <a:t>글자로 된 번호를 숫자로 바꾸고, 날짜 표기만 손봤다.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상품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5B5BD6"/>
                </a:solidFill>
                <a:latin typeface="Apple SD Gothic Neo"/>
              </a:rPr>
              <a:t>내가 그린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B5793A"/>
                </a:solidFill>
                <a:latin typeface="Apple SD Gothic Neo"/>
              </a:rPr>
              <a:t>실제 코드</a:t>
            </a:r>
          </a:p>
        </p:txBody>
      </p:sp>
      <p:pic>
        <p:nvPicPr>
          <p:cNvPr id="6" name="Picture 5" descr="product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79" y="2286000"/>
            <a:ext cx="3943481" cy="3063240"/>
          </a:xfrm>
          <a:prstGeom prst="rect">
            <a:avLst/>
          </a:prstGeom>
        </p:spPr>
      </p:pic>
      <p:pic>
        <p:nvPicPr>
          <p:cNvPr id="7" name="Picture 6" descr="product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195" y="2286000"/>
            <a:ext cx="4539849" cy="3063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32120"/>
            <a:ext cx="11292840" cy="1051560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/>
            <a:r>
              <a:rPr sz="1900" b="1">
                <a:solidFill>
                  <a:srgbClr val="B5793A"/>
                </a:solidFill>
                <a:latin typeface="Apple SD Gothic Neo"/>
              </a:rPr>
              <a:t>다른 점   </a:t>
            </a:r>
            <a:r>
              <a:rPr sz="1900" b="1">
                <a:solidFill>
                  <a:srgbClr val="1A1A1A"/>
                </a:solidFill>
                <a:latin typeface="Apple SD Gothic Neo"/>
              </a:rPr>
              <a:t>연결 구조(계약·보장 항목·하위 상품)는 그대로 4개. 번호를 숫자로 바꾸고, 보험료 계산은 아직 뼈대만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계약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5B5BD6"/>
                </a:solidFill>
                <a:latin typeface="Apple SD Gothic Neo"/>
              </a:rPr>
              <a:t>내가 그린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B5793A"/>
                </a:solidFill>
                <a:latin typeface="Apple SD Gothic Neo"/>
              </a:rPr>
              <a:t>실제 코드</a:t>
            </a:r>
          </a:p>
        </p:txBody>
      </p:sp>
      <p:pic>
        <p:nvPicPr>
          <p:cNvPr id="6" name="Picture 5" descr="contract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16" y="2286000"/>
            <a:ext cx="4911206" cy="3063240"/>
          </a:xfrm>
          <a:prstGeom prst="rect">
            <a:avLst/>
          </a:prstGeom>
        </p:spPr>
      </p:pic>
      <p:pic>
        <p:nvPicPr>
          <p:cNvPr id="7" name="Picture 6" descr="contract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544108"/>
            <a:ext cx="5577840" cy="25470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32120"/>
            <a:ext cx="11292840" cy="1051560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/>
            <a:r>
              <a:rPr sz="1900" b="1">
                <a:solidFill>
                  <a:srgbClr val="B5793A"/>
                </a:solidFill>
                <a:latin typeface="Apple SD Gothic Neo"/>
              </a:rPr>
              <a:t>다른 점   </a:t>
            </a:r>
            <a:r>
              <a:rPr sz="1900" b="1">
                <a:solidFill>
                  <a:srgbClr val="1A1A1A"/>
                </a:solidFill>
                <a:latin typeface="Apple SD Gothic Neo"/>
              </a:rPr>
              <a:t>자동이체 정보를 더했다.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청구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5B5BD6"/>
                </a:solidFill>
                <a:latin typeface="Apple SD Gothic Neo"/>
              </a:rPr>
              <a:t>내가 그린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B5793A"/>
                </a:solidFill>
                <a:latin typeface="Apple SD Gothic Neo"/>
              </a:rPr>
              <a:t>실제 코드</a:t>
            </a:r>
          </a:p>
        </p:txBody>
      </p:sp>
      <p:pic>
        <p:nvPicPr>
          <p:cNvPr id="6" name="Picture 5" descr="claim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049" y="2286000"/>
            <a:ext cx="3770141" cy="3063240"/>
          </a:xfrm>
          <a:prstGeom prst="rect">
            <a:avLst/>
          </a:prstGeom>
        </p:spPr>
      </p:pic>
      <p:pic>
        <p:nvPicPr>
          <p:cNvPr id="7" name="Picture 6" descr="claim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975" y="2286000"/>
            <a:ext cx="3326288" cy="3063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32120"/>
            <a:ext cx="11292840" cy="1051560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/>
            <a:r>
              <a:rPr sz="1900" b="1">
                <a:solidFill>
                  <a:srgbClr val="B5793A"/>
                </a:solidFill>
                <a:latin typeface="Apple SD Gothic Neo"/>
              </a:rPr>
              <a:t>다른 점   </a:t>
            </a:r>
            <a:r>
              <a:rPr sz="1900" b="1">
                <a:solidFill>
                  <a:srgbClr val="1A1A1A"/>
                </a:solidFill>
                <a:latin typeface="Apple SD Gothic Neo"/>
              </a:rPr>
              <a:t>첨부파일을 더하고, 상태를 4개 → 6개로 늘려 송금 결과까지 추적한다.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청구 상태값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8680" y="2377440"/>
            <a:ext cx="10424160" cy="1920240"/>
          </a:xfrm>
          <a:prstGeom prst="roundRect">
            <a:avLst>
              <a:gd name="adj" fmla="val 4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98755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Menlo"/>
              </a:rPr>
              <a:t>public enum ClaimStatus {</a:t>
            </a:r>
          </a:p>
          <a:p>
            <a:pPr algn="l"/>
            <a:r>
              <a:rPr sz="1900" b="0">
                <a:solidFill>
                  <a:srgbClr val="1A1A1A"/>
                </a:solidFill>
                <a:latin typeface="Menlo"/>
              </a:rPr>
              <a:t>    PENDING, IN_REVIEW, APPROVED, REJECTED,   // 설계 4개</a:t>
            </a:r>
          </a:p>
          <a:p>
            <a:pPr algn="l"/>
            <a:r>
              <a:rPr sz="1900" b="0">
                <a:solidFill>
                  <a:srgbClr val="1A1A1A"/>
                </a:solidFill>
                <a:latin typeface="Menlo"/>
              </a:rPr>
              <a:t>    COMPLETED, FAILED                         // 구현에서 추가: 송금 성공·실패</a:t>
            </a:r>
          </a:p>
          <a:p>
            <a:pPr algn="l"/>
            <a:r>
              <a:rPr sz="1900" b="0">
                <a:solidFill>
                  <a:srgbClr val="1A1A1A"/>
                </a:solidFill>
                <a:latin typeface="Menl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spc="-40">
                <a:solidFill>
                  <a:srgbClr val="1A1A1A"/>
                </a:solidFill>
                <a:latin typeface="Apple SD Gothic Neo"/>
              </a:rPr>
              <a:t>돈을 실제로 보냈는지까지 따라가려고 상태 두 개를 더했다.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심사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5B5BD6"/>
                </a:solidFill>
                <a:latin typeface="Apple SD Gothic Neo"/>
              </a:rPr>
              <a:t>내가 그린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B5793A"/>
                </a:solidFill>
                <a:latin typeface="Apple SD Gothic Neo"/>
              </a:rPr>
              <a:t>실제 코드</a:t>
            </a:r>
          </a:p>
        </p:txBody>
      </p:sp>
      <p:pic>
        <p:nvPicPr>
          <p:cNvPr id="6" name="Picture 5" descr="review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40946"/>
            <a:ext cx="5577840" cy="2753347"/>
          </a:xfrm>
          <a:prstGeom prst="rect">
            <a:avLst/>
          </a:prstGeom>
        </p:spPr>
      </p:pic>
      <p:pic>
        <p:nvPicPr>
          <p:cNvPr id="7" name="Picture 6" descr="review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32644"/>
            <a:ext cx="5577840" cy="21699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32120"/>
            <a:ext cx="11292840" cy="1051560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/>
            <a:r>
              <a:rPr sz="1900" b="1">
                <a:solidFill>
                  <a:srgbClr val="B5793A"/>
                </a:solidFill>
                <a:latin typeface="Apple SD Gothic Neo"/>
              </a:rPr>
              <a:t>다른 점   </a:t>
            </a:r>
            <a:r>
              <a:rPr sz="1900" b="1">
                <a:solidFill>
                  <a:srgbClr val="1A1A1A"/>
                </a:solidFill>
                <a:latin typeface="Apple SD Gothic Neo"/>
              </a:rPr>
              <a:t>지급 심사가 의료뿐 아니라 자동차 사고까지 맡도록 넓혔다.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사고이력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5B5BD6"/>
                </a:solidFill>
                <a:latin typeface="Apple SD Gothic Neo"/>
              </a:rPr>
              <a:t>내가 그린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78308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30">
                <a:solidFill>
                  <a:srgbClr val="B5793A"/>
                </a:solidFill>
                <a:latin typeface="Apple SD Gothic Neo"/>
              </a:rPr>
              <a:t>실제 코드</a:t>
            </a:r>
          </a:p>
        </p:txBody>
      </p:sp>
      <p:pic>
        <p:nvPicPr>
          <p:cNvPr id="6" name="Picture 5" descr="accident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338" y="2286000"/>
            <a:ext cx="1623562" cy="3063240"/>
          </a:xfrm>
          <a:prstGeom prst="rect">
            <a:avLst/>
          </a:prstGeom>
        </p:spPr>
      </p:pic>
      <p:pic>
        <p:nvPicPr>
          <p:cNvPr id="7" name="Picture 6" descr="accident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020" y="2286000"/>
            <a:ext cx="2766198" cy="3063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32120"/>
            <a:ext cx="11292840" cy="1051560"/>
          </a:xfrm>
          <a:prstGeom prst="roundRect">
            <a:avLst>
              <a:gd name="adj" fmla="val 12000"/>
            </a:avLst>
          </a:prstGeom>
          <a:solidFill>
            <a:srgbClr val="F7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/>
            <a:r>
              <a:rPr sz="1900" b="1">
                <a:solidFill>
                  <a:srgbClr val="B5793A"/>
                </a:solidFill>
                <a:latin typeface="Apple SD Gothic Neo"/>
              </a:rPr>
              <a:t>다른 점   </a:t>
            </a:r>
            <a:r>
              <a:rPr sz="1900" b="1">
                <a:solidFill>
                  <a:srgbClr val="1A1A1A"/>
                </a:solidFill>
                <a:latin typeface="Apple SD Gothic Neo"/>
              </a:rPr>
              <a:t>외부 연동이 아직 가짜라, 사고 한 건 클래스는 빼고 단순화했다.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 dirty="0" err="1">
                <a:solidFill>
                  <a:srgbClr val="1A1A1A"/>
                </a:solidFill>
                <a:latin typeface="Apple SD Gothic Neo"/>
              </a:rPr>
              <a:t>전체</a:t>
            </a:r>
            <a:r>
              <a:rPr sz="5200" b="1" spc="-100" dirty="0">
                <a:solidFill>
                  <a:srgbClr val="1A1A1A"/>
                </a:solidFill>
                <a:latin typeface="Apple SD Gothic Neo"/>
              </a:rPr>
              <a:t> </a:t>
            </a:r>
            <a:r>
              <a:rPr sz="5200" b="1" spc="-100" dirty="0" err="1">
                <a:solidFill>
                  <a:srgbClr val="1A1A1A"/>
                </a:solidFill>
                <a:latin typeface="Apple SD Gothic Neo"/>
              </a:rPr>
              <a:t>중</a:t>
            </a:r>
            <a:r>
              <a:rPr lang="ko-KR" altLang="en-US" sz="5200" b="1" spc="-100" dirty="0">
                <a:solidFill>
                  <a:srgbClr val="1A1A1A"/>
                </a:solidFill>
                <a:latin typeface="Apple SD Gothic Neo"/>
              </a:rPr>
              <a:t> </a:t>
            </a:r>
            <a:r>
              <a:rPr sz="5200" b="1" spc="-100" dirty="0" err="1">
                <a:solidFill>
                  <a:srgbClr val="1A1A1A"/>
                </a:solidFill>
                <a:latin typeface="Apple SD Gothic Neo"/>
              </a:rPr>
              <a:t>시연하는</a:t>
            </a:r>
            <a:r>
              <a:rPr sz="5200" b="1" spc="-100" dirty="0">
                <a:solidFill>
                  <a:srgbClr val="1A1A1A"/>
                </a:solidFill>
                <a:latin typeface="Apple SD Gothic Neo"/>
              </a:rPr>
              <a:t> </a:t>
            </a:r>
            <a:r>
              <a:rPr sz="5200" b="1" spc="-100" dirty="0" err="1">
                <a:solidFill>
                  <a:srgbClr val="1A1A1A"/>
                </a:solidFill>
                <a:latin typeface="Apple SD Gothic Neo"/>
              </a:rPr>
              <a:t>부분</a:t>
            </a:r>
            <a:endParaRPr sz="5200" b="1" spc="-100" dirty="0">
              <a:solidFill>
                <a:srgbClr val="1A1A1A"/>
              </a:solidFill>
              <a:latin typeface="Apple SD Gothic Neo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c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867" y="1828800"/>
            <a:ext cx="3119784" cy="37490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2103120"/>
            <a:ext cx="3108960" cy="73152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</a:rPr>
              <a:t>파란 박스 = 직접 시연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17520"/>
            <a:ext cx="3108960" cy="731520"/>
          </a:xfrm>
          <a:prstGeom prst="roundRect">
            <a:avLst>
              <a:gd name="adj" fmla="val 16000"/>
            </a:avLst>
          </a:prstGeom>
          <a:solidFill>
            <a:srgbClr val="F1F1F3"/>
          </a:solidFill>
          <a:ln w="15240">
            <a:solidFill>
              <a:srgbClr val="C9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77800" tIns="76200" rIns="177800" bIns="76200" rtlCol="0" anchor="ctr"/>
          <a:lstStyle/>
          <a:p>
            <a:pPr algn="ctr"/>
            <a:r>
              <a:rPr sz="1700" b="1">
                <a:solidFill>
                  <a:srgbClr val="6B7280"/>
                </a:solidFill>
                <a:latin typeface="Apple SD Gothic Neo"/>
              </a:rPr>
              <a:t>회색 = 시연 외(코드엔 있음)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spc="-40">
                <a:solidFill>
                  <a:srgbClr val="1A1A1A"/>
                </a:solidFill>
                <a:latin typeface="Apple SD Gothic Neo"/>
              </a:rPr>
              <a:t>전체 흐름 중 파란 부분만 라이브로 시연한다.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프로젝트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spc="-30">
                <a:solidFill>
                  <a:srgbClr val="5B5BD6"/>
                </a:solidFill>
                <a:latin typeface="Apple SD Gothic Neo"/>
              </a:rPr>
              <a:t>백엔드 · Spring</a:t>
            </a:r>
          </a:p>
          <a:p>
            <a:pPr algn="l"/>
            <a:r>
              <a:rPr sz="1500" b="0" spc="-30">
                <a:solidFill>
                  <a:srgbClr val="6B7280"/>
                </a:solidFill>
                <a:latin typeface="Apple SD Gothic Neo"/>
              </a:rPr>
              <a:t>계층형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97480"/>
            <a:ext cx="3154680" cy="54864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778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none"/>
          <a:lstStyle/>
          <a:p>
            <a:pPr algn="l"/>
            <a:r>
              <a:rPr sz="1700" b="1">
                <a:solidFill>
                  <a:srgbClr val="1A1A1A"/>
                </a:solidFill>
                <a:latin typeface="Menlo"/>
              </a:rPr>
              <a:t>controller</a:t>
            </a:r>
            <a:r>
              <a:rPr sz="1200" b="0">
                <a:solidFill>
                  <a:srgbClr val="6B7280"/>
                </a:solidFill>
                <a:latin typeface="Apple SD Gothic Neo"/>
              </a:rPr>
              <a:t>   요청 받기·응답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320040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Apple SD Gothic Neo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10712"/>
            <a:ext cx="3154680" cy="54864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778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none"/>
          <a:lstStyle/>
          <a:p>
            <a:pPr algn="l"/>
            <a:r>
              <a:rPr sz="1700" b="1">
                <a:solidFill>
                  <a:srgbClr val="1A1A1A"/>
                </a:solidFill>
                <a:latin typeface="Menlo"/>
              </a:rPr>
              <a:t>service</a:t>
            </a:r>
            <a:r>
              <a:rPr sz="1200" b="0">
                <a:solidFill>
                  <a:srgbClr val="6B7280"/>
                </a:solidFill>
                <a:latin typeface="Apple SD Gothic Neo"/>
              </a:rPr>
              <a:t>   업무 흐름·규칙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3913632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Apple SD Gothic Neo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23944"/>
            <a:ext cx="3154680" cy="54864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778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none"/>
          <a:lstStyle/>
          <a:p>
            <a:pPr algn="l"/>
            <a:r>
              <a:rPr sz="1700" b="1">
                <a:solidFill>
                  <a:srgbClr val="1A1A1A"/>
                </a:solidFill>
                <a:latin typeface="Menlo"/>
              </a:rPr>
              <a:t>domain</a:t>
            </a:r>
            <a:r>
              <a:rPr sz="1200" b="0">
                <a:solidFill>
                  <a:srgbClr val="6B7280"/>
                </a:solidFill>
                <a:latin typeface="Apple SD Gothic Neo"/>
              </a:rPr>
              <a:t>   엔티티·도메인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462686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Apple SD Gothic Neo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37176"/>
            <a:ext cx="3154680" cy="54864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778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none"/>
          <a:lstStyle/>
          <a:p>
            <a:pPr algn="l"/>
            <a:r>
              <a:rPr sz="1700" b="1">
                <a:solidFill>
                  <a:srgbClr val="1A1A1A"/>
                </a:solidFill>
                <a:latin typeface="Menlo"/>
              </a:rPr>
              <a:t>repository</a:t>
            </a:r>
            <a:r>
              <a:rPr sz="1200" b="0">
                <a:solidFill>
                  <a:srgbClr val="6B7280"/>
                </a:solidFill>
                <a:latin typeface="Apple SD Gothic Neo"/>
              </a:rPr>
              <a:t>   JPA 저장·조회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34009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Apple SD Gothic Neo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550408"/>
            <a:ext cx="3154680" cy="548640"/>
          </a:xfrm>
          <a:prstGeom prst="roundRect">
            <a:avLst>
              <a:gd name="adj" fmla="val 16000"/>
            </a:avLst>
          </a:prstGeom>
          <a:solidFill>
            <a:srgbClr val="5B5BD6"/>
          </a:solidFill>
          <a:ln w="1778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Menlo"/>
              </a:rPr>
              <a:t>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28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spc="-30">
                <a:solidFill>
                  <a:srgbClr val="B5793A"/>
                </a:solidFill>
                <a:latin typeface="Apple SD Gothic Neo"/>
              </a:rPr>
              <a:t>프론트 · React</a:t>
            </a:r>
          </a:p>
          <a:p>
            <a:pPr algn="l"/>
            <a:r>
              <a:rPr sz="1500" b="0" spc="-30">
                <a:solidFill>
                  <a:srgbClr val="6B7280"/>
                </a:solidFill>
                <a:latin typeface="Apple SD Gothic Neo"/>
              </a:rPr>
              <a:t>기능형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697480"/>
            <a:ext cx="3154680" cy="713232"/>
          </a:xfrm>
          <a:prstGeom prst="roundRect">
            <a:avLst>
              <a:gd name="adj" fmla="val 16000"/>
            </a:avLst>
          </a:prstGeom>
          <a:solidFill>
            <a:srgbClr val="F7EDE6"/>
          </a:solidFill>
          <a:ln w="1778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none"/>
          <a:lstStyle/>
          <a:p>
            <a:pPr algn="l"/>
            <a:r>
              <a:rPr sz="1700" b="1">
                <a:solidFill>
                  <a:srgbClr val="1A1A1A"/>
                </a:solidFill>
                <a:latin typeface="Menlo"/>
              </a:rPr>
              <a:t>화면   </a:t>
            </a:r>
            <a:r>
              <a:rPr sz="1300" b="0">
                <a:solidFill>
                  <a:srgbClr val="6B7280"/>
                </a:solidFill>
                <a:latin typeface="Apple SD Gothic Neo"/>
              </a:rPr>
              <a:t>components — 보이는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5584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Apple SD Gothic Neo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575304"/>
            <a:ext cx="3154680" cy="713232"/>
          </a:xfrm>
          <a:prstGeom prst="roundRect">
            <a:avLst>
              <a:gd name="adj" fmla="val 16000"/>
            </a:avLst>
          </a:prstGeom>
          <a:solidFill>
            <a:srgbClr val="F7EDE6"/>
          </a:solidFill>
          <a:ln w="1778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none"/>
          <a:lstStyle/>
          <a:p>
            <a:pPr algn="l"/>
            <a:r>
              <a:rPr sz="1700" b="1">
                <a:solidFill>
                  <a:srgbClr val="1A1A1A"/>
                </a:solidFill>
                <a:latin typeface="Menlo"/>
              </a:rPr>
              <a:t>hook   </a:t>
            </a:r>
            <a:r>
              <a:rPr sz="1300" b="0">
                <a:solidFill>
                  <a:srgbClr val="6B7280"/>
                </a:solidFill>
                <a:latin typeface="Apple SD Gothic Neo"/>
              </a:rPr>
              <a:t>상태 관리·호출 트리거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233672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Apple SD Gothic Neo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453128"/>
            <a:ext cx="3154680" cy="713232"/>
          </a:xfrm>
          <a:prstGeom prst="roundRect">
            <a:avLst>
              <a:gd name="adj" fmla="val 16000"/>
            </a:avLst>
          </a:prstGeom>
          <a:solidFill>
            <a:srgbClr val="F7EDE6"/>
          </a:solidFill>
          <a:ln w="1778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none"/>
          <a:lstStyle/>
          <a:p>
            <a:pPr algn="l"/>
            <a:r>
              <a:rPr sz="1700" b="1">
                <a:solidFill>
                  <a:srgbClr val="1A1A1A"/>
                </a:solidFill>
                <a:latin typeface="Menlo"/>
              </a:rPr>
              <a:t>api   </a:t>
            </a:r>
            <a:r>
              <a:rPr sz="1300" b="0">
                <a:solidFill>
                  <a:srgbClr val="6B7280"/>
                </a:solidFill>
                <a:latin typeface="Apple SD Gothic Neo"/>
              </a:rPr>
              <a:t>서버에 요청 보냄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330952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spc="-20">
                <a:solidFill>
                  <a:srgbClr val="1A1A1A"/>
                </a:solidFill>
                <a:latin typeface="Apple SD Gothic Neo"/>
              </a:rPr>
              <a:t>한 기능 = 이 셋이 한 폴더</a:t>
            </a:r>
          </a:p>
          <a:p>
            <a:pPr algn="l"/>
            <a:r>
              <a:rPr sz="1200" b="0" spc="-20">
                <a:solidFill>
                  <a:srgbClr val="6B7280"/>
                </a:solidFill>
                <a:latin typeface="Menlo"/>
              </a:rPr>
              <a:t>features/ : auth·contracts·claims</a:t>
            </a:r>
          </a:p>
          <a:p>
            <a:pPr algn="l"/>
            <a:r>
              <a:rPr sz="1200" b="0" spc="-20">
                <a:solidFill>
                  <a:srgbClr val="6B7280"/>
                </a:solidFill>
                <a:latin typeface="Menlo"/>
              </a:rPr>
              <a:t>benefit-review·profile …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269748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3500" bIns="63500" lIns="152400" rIns="15240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Menlo"/>
              </a:rPr>
              <a:t>DTO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화면(api)과 서버(controller)가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주고받는 데이터 형식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Apple SD Gothic Neo"/>
              </a:rPr>
              <a:t/>
            </a:r>
          </a:p>
          <a:p>
            <a:pPr algn="l"/>
            <a:r>
              <a:rPr sz="1400" b="0">
                <a:solidFill>
                  <a:srgbClr val="CDBFF7"/>
                </a:solidFill>
                <a:latin typeface="Apple SD Gothic Neo"/>
              </a:rPr>
              <a:t>요청 DTO  →  서버로 보낼 값</a:t>
            </a:r>
          </a:p>
          <a:p>
            <a:pPr algn="l"/>
            <a:r>
              <a:rPr sz="1400" b="0">
                <a:solidFill>
                  <a:srgbClr val="CDBFF7"/>
                </a:solidFill>
                <a:latin typeface="Apple SD Gothic Neo"/>
              </a:rPr>
              <a:t>응답 DTO  ←  화면에 뿌릴 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1206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spc="-20">
                <a:solidFill>
                  <a:srgbClr val="6B7280"/>
                </a:solidFill>
                <a:latin typeface="Apple SD Gothic Neo"/>
              </a:rPr>
              <a:t>엔티티를 그대로 노출 안 하고 DTO로 변환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89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40">
                <a:solidFill>
                  <a:srgbClr val="1A1A1A"/>
                </a:solidFill>
                <a:latin typeface="Apple SD Gothic Neo"/>
              </a:rPr>
              <a:t>백엔드는 계층, 프론트는 기능 단위 — 둘 사이는 DTO로 주고받는다.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따라가 볼 한 번의 클릭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spc="-30">
                <a:solidFill>
                  <a:srgbClr val="1A1A1A"/>
                </a:solidFill>
                <a:latin typeface="Apple SD Gothic Neo"/>
              </a:rPr>
              <a:t>고객이 상품 목록에서 </a:t>
            </a:r>
            <a:r>
              <a:rPr sz="2000" b="1" spc="-30">
                <a:solidFill>
                  <a:srgbClr val="5B5BD6"/>
                </a:solidFill>
                <a:latin typeface="Apple SD Gothic Neo"/>
              </a:rPr>
              <a:t>'실손기본'</a:t>
            </a:r>
            <a:r>
              <a:rPr sz="2000" b="1" spc="-30">
                <a:solidFill>
                  <a:srgbClr val="1A1A1A"/>
                </a:solidFill>
                <a:latin typeface="Apple SD Gothic Neo"/>
              </a:rPr>
              <a:t>을 클릭한다.</a:t>
            </a:r>
          </a:p>
        </p:txBody>
      </p:sp>
      <p:pic>
        <p:nvPicPr>
          <p:cNvPr id="5" name="Picture 4" descr="product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39" y="2286000"/>
            <a:ext cx="51206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66928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40">
                <a:solidFill>
                  <a:srgbClr val="1A1A1A"/>
                </a:solidFill>
                <a:latin typeface="Apple SD Gothic Neo"/>
              </a:rPr>
              <a:t>이 클릭 하나가 코드로 어떻게 흘러 화면까지 오는지 따라가 본다.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프론트 — 버튼 클릭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spc="-20">
                <a:solidFill>
                  <a:srgbClr val="5B5BD6"/>
                </a:solidFill>
                <a:latin typeface="Apple SD Gothic Neo"/>
              </a:rPr>
              <a:t>①   </a:t>
            </a:r>
            <a:r>
              <a:rPr sz="1600" b="0" spc="-20">
                <a:solidFill>
                  <a:srgbClr val="6B7280"/>
                </a:solidFill>
                <a:latin typeface="Menlo"/>
              </a:rPr>
              <a:t>features/contracts/ProductsView.tsx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61320" cy="3154680"/>
          </a:xfrm>
          <a:prstGeom prst="roundRect">
            <a:avLst>
              <a:gd name="adj" fmla="val 4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96696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C83B0"/>
                </a:solidFill>
                <a:latin typeface="Menlo"/>
              </a:rPr>
              <a:t>// 상품 목록의 각 카드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&lt;button onClick={() =&gt; selectProduct(product.id)}&gt;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{product.productName}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&lt;/button&gt;</a:t>
            </a:r>
          </a:p>
          <a:p>
            <a:pPr algn="l"/>
            <a:endParaRPr sz="1500" b="0">
              <a:solidFill>
                <a:srgbClr val="FFFFFF"/>
              </a:solidFill>
              <a:latin typeface="Menlo"/>
            </a:endParaRPr>
          </a:p>
          <a:p>
            <a:pPr algn="l"/>
            <a:r>
              <a:rPr sz="1500" b="0">
                <a:solidFill>
                  <a:srgbClr val="7C83B0"/>
                </a:solidFill>
                <a:latin typeface="Menlo"/>
              </a:rPr>
              <a:t>// 클릭하면 실행되는 함수</a:t>
            </a: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async function selectProduct(id) {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setSelectedProduct(await contractsApi.getProduct(id))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40">
                <a:solidFill>
                  <a:srgbClr val="1A1A1A"/>
                </a:solidFill>
                <a:latin typeface="Apple SD Gothic Neo"/>
              </a:rPr>
              <a:t>카드를 누르면 그 상품 id로 selectProduct가 실행된다.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프론트 — API 호출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spc="-20">
                <a:solidFill>
                  <a:srgbClr val="5B5BD6"/>
                </a:solidFill>
                <a:latin typeface="Apple SD Gothic Neo"/>
              </a:rPr>
              <a:t>②   </a:t>
            </a:r>
            <a:r>
              <a:rPr sz="1600" b="0" spc="-20">
                <a:solidFill>
                  <a:srgbClr val="6B7280"/>
                </a:solidFill>
                <a:latin typeface="Menlo"/>
              </a:rPr>
              <a:t>contracts/api.ts · lib/api/httpClient.ts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61320" cy="3154680"/>
          </a:xfrm>
          <a:prstGeom prst="roundRect">
            <a:avLst>
              <a:gd name="adj" fmla="val 4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96696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C83B0"/>
                </a:solidFill>
                <a:latin typeface="Menlo"/>
              </a:rPr>
              <a:t>// api.ts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getProduct(id) {</a:t>
            </a: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  return request(`/products/${id}`)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}</a:t>
            </a:r>
          </a:p>
          <a:p>
            <a:pPr algn="l"/>
            <a:endParaRPr sz="1500" b="0">
              <a:solidFill>
                <a:srgbClr val="FFFFFF"/>
              </a:solidFill>
              <a:latin typeface="Menlo"/>
            </a:endParaRPr>
          </a:p>
          <a:p>
            <a:pPr algn="l"/>
            <a:r>
              <a:rPr sz="1500" b="0">
                <a:solidFill>
                  <a:srgbClr val="7C83B0"/>
                </a:solidFill>
                <a:latin typeface="Menlo"/>
              </a:rPr>
              <a:t>// httpClient.ts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fetch(`${baseUrl}${path}`)  // baseUrl = http://localhost:8080</a:t>
            </a:r>
          </a:p>
          <a:p>
            <a:pPr algn="l"/>
            <a:r>
              <a:rPr sz="1500" b="0">
                <a:solidFill>
                  <a:srgbClr val="7C83B0"/>
                </a:solidFill>
                <a:latin typeface="Menlo"/>
              </a:rPr>
              <a:t>// → GET http://localhost:8080/products/2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40">
                <a:solidFill>
                  <a:srgbClr val="1A1A1A"/>
                </a:solidFill>
                <a:latin typeface="Apple SD Gothic Neo"/>
              </a:rPr>
              <a:t>프론트가 백엔드의 /products/2 로 GET 요청을 보낸다.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백엔드 — 컨트롤러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spc="-20">
                <a:solidFill>
                  <a:srgbClr val="5B5BD6"/>
                </a:solidFill>
                <a:latin typeface="Apple SD Gothic Neo"/>
              </a:rPr>
              <a:t>③   </a:t>
            </a:r>
            <a:r>
              <a:rPr sz="1600" b="0" spc="-20">
                <a:solidFill>
                  <a:srgbClr val="6B7280"/>
                </a:solidFill>
                <a:latin typeface="Menlo"/>
              </a:rPr>
              <a:t>web/controller/ProductController.java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61320" cy="3154680"/>
          </a:xfrm>
          <a:prstGeom prst="roundRect">
            <a:avLst>
              <a:gd name="adj" fmla="val 4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96696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@RestController</a:t>
            </a: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class ProductController {</a:t>
            </a:r>
          </a:p>
          <a:p>
            <a:pPr algn="l"/>
            <a:endParaRPr sz="1500" b="0">
              <a:solidFill>
                <a:srgbClr val="CDBFF7"/>
              </a:solidFill>
              <a:latin typeface="Menlo"/>
            </a:endParaRP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  @GetMapping("/products/{id}")</a:t>
            </a: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  ProductDetailResponse detail(@PathVariable Long id) {</a:t>
            </a: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    return productService.detail(id);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}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40">
                <a:solidFill>
                  <a:srgbClr val="1A1A1A"/>
                </a:solidFill>
                <a:latin typeface="Apple SD Gothic Neo"/>
              </a:rPr>
              <a:t>컨트롤러가 요청을 받아 서비스로 넘긴다.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백엔드 — 서비스 · 저장소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spc="-20">
                <a:solidFill>
                  <a:srgbClr val="5B5BD6"/>
                </a:solidFill>
                <a:latin typeface="Apple SD Gothic Neo"/>
              </a:rPr>
              <a:t>④   </a:t>
            </a:r>
            <a:r>
              <a:rPr sz="1600" b="0" spc="-20">
                <a:solidFill>
                  <a:srgbClr val="6B7280"/>
                </a:solidFill>
                <a:latin typeface="Menlo"/>
              </a:rPr>
              <a:t>service/ProductService.java · repository/ProductRepository.java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61320" cy="3154680"/>
          </a:xfrm>
          <a:prstGeom prst="roundRect">
            <a:avLst>
              <a:gd name="adj" fmla="val 4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96696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@Transactional(readOnly = true)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ProductDetailResponse detail(Long id) {</a:t>
            </a: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  return productRepository.findById(id)        // DB 조회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    .map(ProductDetailResponse::from)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    .orElseThrow(() -&gt; new IllegalArgumentException("상품을 찾을 수 없습니다."));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}</a:t>
            </a:r>
          </a:p>
          <a:p>
            <a:pPr algn="l"/>
            <a:endParaRPr sz="1500" b="0">
              <a:solidFill>
                <a:srgbClr val="FFFFFF"/>
              </a:solidFill>
              <a:latin typeface="Menlo"/>
            </a:endParaRPr>
          </a:p>
          <a:p>
            <a:pPr algn="l"/>
            <a:r>
              <a:rPr sz="1500" b="0">
                <a:solidFill>
                  <a:srgbClr val="7C83B0"/>
                </a:solidFill>
                <a:latin typeface="Menlo"/>
              </a:rPr>
              <a:t>// ProductRepository extends JpaRepository&lt;InsuranceProduct, Long&gt;</a:t>
            </a:r>
          </a:p>
          <a:p>
            <a:pPr algn="l"/>
            <a:r>
              <a:rPr sz="1500" b="0">
                <a:solidFill>
                  <a:srgbClr val="7C83B0"/>
                </a:solidFill>
                <a:latin typeface="Menlo"/>
              </a:rPr>
              <a:t>// findById → SELECT * FROM insurance_product WHERE id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40">
                <a:solidFill>
                  <a:srgbClr val="1A1A1A"/>
                </a:solidFill>
                <a:latin typeface="Apple SD Gothic Neo"/>
              </a:rPr>
              <a:t>서비스가 저장소로 DB에서 상품을 꺼낸다.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백엔드 — 엔티티 → 응답 DTO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spc="-20">
                <a:solidFill>
                  <a:srgbClr val="5B5BD6"/>
                </a:solidFill>
                <a:latin typeface="Apple SD Gothic Neo"/>
              </a:rPr>
              <a:t>⑤   </a:t>
            </a:r>
            <a:r>
              <a:rPr sz="1600" b="0" spc="-20">
                <a:solidFill>
                  <a:srgbClr val="6B7280"/>
                </a:solidFill>
                <a:latin typeface="Menlo"/>
              </a:rPr>
              <a:t>web/dto/ProductDetailResponse.java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0561320" cy="3154680"/>
          </a:xfrm>
          <a:prstGeom prst="roundRect">
            <a:avLst>
              <a:gd name="adj" fmla="val 4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966960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C83B0"/>
                </a:solidFill>
                <a:latin typeface="Menlo"/>
              </a:rPr>
              <a:t>// DB 엔티티를 화면용 데이터로 변환</a:t>
            </a: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static ProductDetailResponse from(InsuranceProduct product) {</a:t>
            </a:r>
          </a:p>
          <a:p>
            <a:pPr algn="l"/>
            <a:r>
              <a:rPr sz="1500" b="0">
                <a:solidFill>
                  <a:srgbClr val="CDBFF7"/>
                </a:solidFill>
                <a:latin typeface="Menlo"/>
              </a:rPr>
              <a:t>  return new ProductDetailResponse(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  product.getId(), product.getProductName(),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  product.getBasePremium(),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  product.getCoverageItems().stream()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        .map(CoverageItemResponse::from).toList());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40">
                <a:solidFill>
                  <a:srgbClr val="1A1A1A"/>
                </a:solidFill>
                <a:latin typeface="Apple SD Gothic Neo"/>
              </a:rPr>
              <a:t>DB 엔티티를 그대로 노출하지 않고 응답 DTO로 변환한다.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⑥  응답이 화면에 표시된다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1F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5029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C83B0"/>
                </a:solidFill>
                <a:latin typeface="Menlo"/>
              </a:rPr>
              <a:t>// 백엔드 응답 (JSON)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enlo"/>
              </a:rPr>
              <a:t>{ "productName": "실손기본",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enlo"/>
              </a:rPr>
              <a:t>  "monthlyPremium": 12000,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enlo"/>
              </a:rPr>
              <a:t>  "coverageItems": [</a:t>
            </a:r>
          </a:p>
          <a:p>
            <a:pPr algn="l"/>
            <a:r>
              <a:rPr sz="1300" b="0">
                <a:solidFill>
                  <a:srgbClr val="CDBFF7"/>
                </a:solidFill>
                <a:latin typeface="Menlo"/>
              </a:rPr>
              <a:t>    {"itemName":"통원치료비" …},</a:t>
            </a:r>
          </a:p>
          <a:p>
            <a:pPr algn="l"/>
            <a:r>
              <a:rPr sz="1300" b="0">
                <a:solidFill>
                  <a:srgbClr val="CDBFF7"/>
                </a:solidFill>
                <a:latin typeface="Menlo"/>
              </a:rPr>
              <a:t>    {"itemName":"입원치료비" …} ]}</a:t>
            </a:r>
          </a:p>
        </p:txBody>
      </p:sp>
      <p:pic>
        <p:nvPicPr>
          <p:cNvPr id="6" name="Picture 5" descr="products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94535"/>
            <a:ext cx="5029200" cy="3143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617720"/>
            <a:ext cx="5532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Apple SD Gothic Neo"/>
              </a:rPr>
              <a:t>받은 데이터를 그대로 화면에</a:t>
            </a:r>
          </a:p>
          <a:p>
            <a:pPr algn="l"/>
            <a:r>
              <a:rPr sz="1700" b="1">
                <a:solidFill>
                  <a:srgbClr val="1A1A1A"/>
                </a:solidFill>
                <a:latin typeface="Apple SD Gothic Neo"/>
              </a:rPr>
              <a:t>상세·보장항목으로 렌더한다.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spc="-40">
                <a:solidFill>
                  <a:srgbClr val="1A1A1A"/>
                </a:solidFill>
                <a:latin typeface="Apple SD Gothic Neo"/>
              </a:rPr>
              <a:t>클릭 → 컨트롤러 → 서비스 → DB → DTO → 화면, 한 줄기로 흐른다.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AI를 어떻게 썼나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212080" cy="1554480"/>
          </a:xfrm>
          <a:prstGeom prst="roundRect">
            <a:avLst>
              <a:gd name="adj" fmla="val 12000"/>
            </a:avLst>
          </a:prstGeom>
          <a:solidFill>
            <a:srgbClr val="EC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663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5B5BD6"/>
                </a:solidFill>
                <a:latin typeface="Apple SD Gothic Neo"/>
              </a:rPr>
              <a:t>사람</a:t>
            </a:r>
          </a:p>
          <a:p>
            <a:pPr algn="l"/>
            <a:r>
              <a:rPr sz="2200" b="1">
                <a:solidFill>
                  <a:srgbClr val="1A1A1A"/>
                </a:solidFill>
                <a:latin typeface="Apple SD Gothic Neo"/>
              </a:rPr>
              <a:t>설계 · 결정 · 검토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12080" cy="1554480"/>
          </a:xfrm>
          <a:prstGeom prst="roundRect">
            <a:avLst>
              <a:gd name="adj" fmla="val 12000"/>
            </a:avLst>
          </a:prstGeom>
          <a:solidFill>
            <a:srgbClr val="F4F4F6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663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pple SD Gothic Neo"/>
              </a:rPr>
              <a:t>AI</a:t>
            </a:r>
          </a:p>
          <a:p>
            <a:pPr algn="l"/>
            <a:r>
              <a:rPr sz="2200" b="1">
                <a:solidFill>
                  <a:srgbClr val="1A1A1A"/>
                </a:solidFill>
                <a:latin typeface="Apple SD Gothic Neo"/>
              </a:rPr>
              <a:t>구현 · 테스트 ·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2851" y="3977639"/>
            <a:ext cx="1965960" cy="10972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/>
            <a:r>
              <a:rPr sz="2100" b="1">
                <a:solidFill>
                  <a:srgbClr val="1A1A1A"/>
                </a:solidFill>
                <a:latin typeface="Apple SD Gothic Neo"/>
              </a:rPr>
              <a:t>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8811" y="42062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2859" y="3977639"/>
            <a:ext cx="1965960" cy="10972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/>
            <a:r>
              <a:rPr sz="2100" b="1">
                <a:solidFill>
                  <a:srgbClr val="1A1A1A"/>
                </a:solidFill>
                <a:latin typeface="Apple SD Gothic Neo"/>
              </a:rPr>
              <a:t>따져묻기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8819" y="42062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2867" y="3977639"/>
            <a:ext cx="1965960" cy="10972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/>
            <a:r>
              <a:rPr sz="2100" b="1">
                <a:solidFill>
                  <a:srgbClr val="1A1A1A"/>
                </a:solidFill>
                <a:latin typeface="Apple SD Gothic Neo"/>
              </a:rPr>
              <a:t>계획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8827" y="42062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2875" y="3977639"/>
            <a:ext cx="1965960" cy="1097280"/>
          </a:xfrm>
          <a:prstGeom prst="roundRect">
            <a:avLst>
              <a:gd name="adj" fmla="val 16000"/>
            </a:avLst>
          </a:prstGeom>
          <a:solidFill>
            <a:srgbClr val="ECEBFB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/>
            <a:r>
              <a:rPr sz="2100" b="1">
                <a:solidFill>
                  <a:srgbClr val="1A1A1A"/>
                </a:solidFill>
                <a:latin typeface="Apple SD Gothic Neo"/>
              </a:rPr>
              <a:t>테스트 먼저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8835" y="42062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5B5BD6"/>
                </a:solidFill>
                <a:latin typeface="Apple SD Gothic Ne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2883" y="3977639"/>
            <a:ext cx="1965960" cy="1097280"/>
          </a:xfrm>
          <a:prstGeom prst="roundRect">
            <a:avLst>
              <a:gd name="adj" fmla="val 16000"/>
            </a:avLst>
          </a:prstGeom>
          <a:solidFill>
            <a:srgbClr val="F4F4F6"/>
          </a:solidFill>
          <a:ln w="1524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/>
            <a:r>
              <a:rPr sz="2100" b="1">
                <a:solidFill>
                  <a:srgbClr val="1A1A1A"/>
                </a:solidFill>
                <a:latin typeface="Apple SD Gothic Neo"/>
              </a:rPr>
              <a:t>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spc="-40">
                <a:solidFill>
                  <a:srgbClr val="1A1A1A"/>
                </a:solidFill>
                <a:latin typeface="Apple SD Gothic Neo"/>
              </a:rPr>
              <a:t>설계와 결정은 사람이, 구현은 AI가 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spc="-100">
                <a:solidFill>
                  <a:srgbClr val="1A1A1A"/>
                </a:solidFill>
                <a:latin typeface="Apple SD Gothic Neo"/>
              </a:rPr>
              <a:t>AI가 삑사리 난 곳, 어떻게 잡았나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27632"/>
            <a:ext cx="868680" cy="82296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5212080" cy="155448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109728" cy="109728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258568"/>
            <a:ext cx="4572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spc="-30">
                <a:solidFill>
                  <a:srgbClr val="1A1A1A"/>
                </a:solidFill>
                <a:latin typeface="Apple SD Gothic Neo"/>
              </a:rPr>
              <a:t>성급하게 쪼갬</a:t>
            </a:r>
          </a:p>
          <a:p>
            <a:pPr algn="l"/>
            <a:r>
              <a:rPr sz="1900" b="1" spc="-30">
                <a:solidFill>
                  <a:srgbClr val="6B7280"/>
                </a:solidFill>
                <a:latin typeface="Apple SD Gothic Neo"/>
              </a:rPr>
              <a:t>쓸모없는 계층 분리 → 되돌림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057400"/>
            <a:ext cx="5212080" cy="155448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2286000"/>
            <a:ext cx="109728" cy="109728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258568"/>
            <a:ext cx="4572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spc="-30">
                <a:solidFill>
                  <a:srgbClr val="1A1A1A"/>
                </a:solidFill>
                <a:latin typeface="Apple SD Gothic Neo"/>
              </a:rPr>
              <a:t>시킨 것과 다름</a:t>
            </a:r>
          </a:p>
          <a:p>
            <a:pPr algn="l"/>
            <a:r>
              <a:rPr sz="1900" b="1" spc="-30">
                <a:solidFill>
                  <a:srgbClr val="6B7280"/>
                </a:solidFill>
                <a:latin typeface="Apple SD Gothic Neo"/>
              </a:rPr>
              <a:t>자동 배정 → 수동 배정으로 정정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94760"/>
            <a:ext cx="5212080" cy="155448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4023360"/>
            <a:ext cx="109728" cy="109728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995928"/>
            <a:ext cx="4572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spc="-30">
                <a:solidFill>
                  <a:srgbClr val="1A1A1A"/>
                </a:solidFill>
                <a:latin typeface="Apple SD Gothic Neo"/>
              </a:rPr>
              <a:t>정해둔 틀에서 이탈</a:t>
            </a:r>
          </a:p>
          <a:p>
            <a:pPr algn="l"/>
            <a:r>
              <a:rPr sz="1900" b="1" spc="-30">
                <a:solidFill>
                  <a:srgbClr val="6B7280"/>
                </a:solidFill>
                <a:latin typeface="Apple SD Gothic Neo"/>
              </a:rPr>
              <a:t>점검으로 찾아내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5212080" cy="155448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4023360"/>
            <a:ext cx="109728" cy="109728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3995928"/>
            <a:ext cx="4572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spc="-30">
                <a:solidFill>
                  <a:srgbClr val="1A1A1A"/>
                </a:solidFill>
                <a:latin typeface="Apple SD Gothic Neo"/>
              </a:rPr>
              <a:t>용어를 섞어 씀</a:t>
            </a:r>
          </a:p>
          <a:p>
            <a:pPr algn="l"/>
            <a:r>
              <a:rPr sz="1900" b="1" spc="-30">
                <a:solidFill>
                  <a:srgbClr val="6B7280"/>
                </a:solidFill>
                <a:latin typeface="Apple SD Gothic Neo"/>
              </a:rPr>
              <a:t>용어집으로 미리 차단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spc="-40">
                <a:solidFill>
                  <a:srgbClr val="1A1A1A"/>
                </a:solidFill>
                <a:latin typeface="Apple SD Gothic Neo"/>
              </a:rPr>
              <a:t>AI는 빠르지만, 방향은 사람이 잡았다.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51460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spc="-100">
                <a:solidFill>
                  <a:srgbClr val="FFFFFF"/>
                </a:solidFill>
                <a:latin typeface="Apple SD Gothic Neo"/>
              </a:rPr>
              <a:t>설계한 그대로 구현했고,</a:t>
            </a:r>
          </a:p>
          <a:p>
            <a:pPr algn="l"/>
            <a:r>
              <a:rPr sz="4800" b="1" spc="-100">
                <a:solidFill>
                  <a:srgbClr val="FFFFFF"/>
                </a:solidFill>
                <a:latin typeface="Apple SD Gothic Neo"/>
              </a:rPr>
              <a:t>그 과정에서 AI를 통제했다.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964</Words>
  <Application>Microsoft Macintosh PowerPoint</Application>
  <PresentationFormat>와이드스크린</PresentationFormat>
  <Paragraphs>218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Apple SD Gothic Neo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김희윤</cp:lastModifiedBy>
  <cp:revision>4</cp:revision>
  <dcterms:created xsi:type="dcterms:W3CDTF">2013-01-27T09:14:16Z</dcterms:created>
  <dcterms:modified xsi:type="dcterms:W3CDTF">2026-06-08T15:08:42Z</dcterms:modified>
  <cp:category/>
</cp:coreProperties>
</file>